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146" d="100"/>
          <a:sy n="146" d="100"/>
        </p:scale>
        <p:origin x="51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3000" y="0"/>
            <a:ext cx="6858000" cy="5143500"/>
          </a:xfrm>
          <a:prstGeom prst="rect">
            <a:avLst/>
          </a:prstGeom>
          <a:solidFill>
            <a:srgbClr val="333333"/>
          </a:solidFill>
          <a:ln w="12700">
            <a:solidFill>
              <a:srgbClr val="FFFFFF">
                <a:alpha val="0"/>
              </a:srgbClr>
            </a:solidFill>
            <a:prstDash val="solid"/>
          </a:ln>
        </p:spPr>
        <p:txBody>
          <a:bodyPr/>
          <a:lstStyle/>
          <a:p>
            <a:endParaRPr lang="en-US"/>
          </a:p>
        </p:txBody>
      </p:sp>
      <p:sp>
        <p:nvSpPr>
          <p:cNvPr id="3" name="Shape 1"/>
          <p:cNvSpPr/>
          <p:nvPr/>
        </p:nvSpPr>
        <p:spPr>
          <a:xfrm>
            <a:off x="1143000" y="0"/>
            <a:ext cx="6858000" cy="51435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0" y="-22860"/>
            <a:ext cx="9144635" cy="2057400"/>
          </a:xfrm>
          <a:prstGeom prst="rect">
            <a:avLst/>
          </a:prstGeom>
          <a:solidFill>
            <a:srgbClr val="69B3E7"/>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a:srcRect t="-33" b="-33"/>
          <a:stretch>
            <a:fillRect/>
          </a:stretch>
        </p:blipFill>
        <p:spPr>
          <a:xfrm>
            <a:off x="0" y="1965960"/>
            <a:ext cx="9144635" cy="91440"/>
          </a:xfrm>
          <a:prstGeom prst="rect">
            <a:avLst/>
          </a:prstGeom>
        </p:spPr>
      </p:pic>
      <p:sp>
        <p:nvSpPr>
          <p:cNvPr id="10" name="Text 5"/>
          <p:cNvSpPr txBox="1"/>
          <p:nvPr/>
        </p:nvSpPr>
        <p:spPr>
          <a:xfrm>
            <a:off x="197485" y="515239"/>
            <a:ext cx="5113325" cy="664541"/>
          </a:xfrm>
          <a:prstGeom prst="rect">
            <a:avLst/>
          </a:prstGeom>
          <a:noFill/>
        </p:spPr>
        <p:txBody>
          <a:bodyPr wrap="square" lIns="0" tIns="0" rIns="0" bIns="0" rtlCol="0" anchor="ctr"/>
          <a:lstStyle/>
          <a:p>
            <a:pPr marL="0" indent="0" algn="l">
              <a:buNone/>
            </a:pPr>
            <a:r>
              <a:rPr lang="en-US" sz="2325" b="1" dirty="0">
                <a:solidFill>
                  <a:srgbClr val="FFFFFF"/>
                </a:solidFill>
                <a:latin typeface="Roboto" pitchFamily="34" charset="0"/>
                <a:ea typeface="Roboto" pitchFamily="34" charset="-122"/>
                <a:cs typeface="Roboto" pitchFamily="34" charset="-120"/>
              </a:rPr>
              <a:t>GENE EXPRESSION-BASED CANCER TYPE CLASSIFICATION</a:t>
            </a:r>
            <a:endParaRPr lang="en-US" sz="2325" dirty="0"/>
          </a:p>
        </p:txBody>
      </p:sp>
      <p:sp>
        <p:nvSpPr>
          <p:cNvPr id="11" name="Text 6"/>
          <p:cNvSpPr txBox="1"/>
          <p:nvPr/>
        </p:nvSpPr>
        <p:spPr>
          <a:xfrm>
            <a:off x="245110" y="1307414"/>
            <a:ext cx="5065319" cy="414909"/>
          </a:xfrm>
          <a:prstGeom prst="rect">
            <a:avLst/>
          </a:prstGeom>
          <a:noFill/>
        </p:spPr>
        <p:txBody>
          <a:bodyPr wrap="square" lIns="0" tIns="0" rIns="0" bIns="0" rtlCol="0" anchor="ctr"/>
          <a:lstStyle/>
          <a:p>
            <a:pPr marL="0" indent="0" algn="l">
              <a:buNone/>
            </a:pPr>
            <a:r>
              <a:rPr lang="en-US" sz="1350" dirty="0">
                <a:solidFill>
                  <a:srgbClr val="FFFFFF"/>
                </a:solidFill>
                <a:latin typeface="Roboto" pitchFamily="34" charset="0"/>
                <a:ea typeface="Roboto" pitchFamily="34" charset="-122"/>
                <a:cs typeface="Roboto" pitchFamily="34" charset="-120"/>
              </a:rPr>
              <a:t>TCGA Pan-Cancer Analysis &amp; Prediction Model</a:t>
            </a:r>
            <a:endParaRPr lang="en-US" sz="1350" dirty="0"/>
          </a:p>
          <a:p>
            <a:pPr marL="0" indent="0" algn="l">
              <a:buNone/>
            </a:pPr>
            <a:r>
              <a:rPr lang="en-US" sz="1125" dirty="0">
                <a:solidFill>
                  <a:srgbClr val="FFFFFF"/>
                </a:solidFill>
                <a:latin typeface="Roboto" pitchFamily="34" charset="0"/>
                <a:ea typeface="Roboto" pitchFamily="34" charset="-122"/>
                <a:cs typeface="Roboto" pitchFamily="34" charset="-120"/>
              </a:rPr>
              <a:t>Using Deep Learning (1D-CNN)</a:t>
            </a:r>
            <a:endParaRPr lang="en-US" sz="1350" dirty="0"/>
          </a:p>
        </p:txBody>
      </p:sp>
      <p:sp>
        <p:nvSpPr>
          <p:cNvPr id="16" name="Text 11"/>
          <p:cNvSpPr txBox="1"/>
          <p:nvPr/>
        </p:nvSpPr>
        <p:spPr>
          <a:xfrm>
            <a:off x="2571521" y="2728799"/>
            <a:ext cx="4086683" cy="17899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endParaRPr lang="en-US" sz="1200" dirty="0"/>
          </a:p>
        </p:txBody>
      </p:sp>
      <p:sp>
        <p:nvSpPr>
          <p:cNvPr id="17" name="Text 12"/>
          <p:cNvSpPr txBox="1"/>
          <p:nvPr/>
        </p:nvSpPr>
        <p:spPr>
          <a:xfrm>
            <a:off x="2571521" y="3121762"/>
            <a:ext cx="229058" cy="200254"/>
          </a:xfrm>
          <a:prstGeom prst="rect">
            <a:avLst/>
          </a:prstGeom>
          <a:noFill/>
        </p:spPr>
        <p:txBody>
          <a:bodyPr wrap="square" lIns="0" tIns="0" rIns="0" bIns="0" rtlCol="0" anchor="ctr"/>
          <a:lstStyle/>
          <a:p>
            <a:pPr marL="0" indent="0" algn="l">
              <a:buNone/>
            </a:pPr>
            <a:endParaRPr lang="en-US" sz="1350" dirty="0"/>
          </a:p>
        </p:txBody>
      </p:sp>
      <p:sp>
        <p:nvSpPr>
          <p:cNvPr id="20" name="Text 15"/>
          <p:cNvSpPr txBox="1"/>
          <p:nvPr/>
        </p:nvSpPr>
        <p:spPr>
          <a:xfrm>
            <a:off x="4625492" y="3121762"/>
            <a:ext cx="229058" cy="200254"/>
          </a:xfrm>
          <a:prstGeom prst="rect">
            <a:avLst/>
          </a:prstGeom>
          <a:noFill/>
        </p:spPr>
        <p:txBody>
          <a:bodyPr wrap="square" lIns="0" tIns="0" rIns="0" bIns="0" rtlCol="0" anchor="ctr"/>
          <a:lstStyle/>
          <a:p>
            <a:pPr marL="0" indent="0" algn="l">
              <a:buNone/>
            </a:pPr>
            <a:endParaRPr lang="en-US" sz="1350" dirty="0"/>
          </a:p>
        </p:txBody>
      </p:sp>
      <p:sp>
        <p:nvSpPr>
          <p:cNvPr id="21" name="Text 16"/>
          <p:cNvSpPr txBox="1"/>
          <p:nvPr/>
        </p:nvSpPr>
        <p:spPr>
          <a:xfrm>
            <a:off x="4868266" y="3136163"/>
            <a:ext cx="442341" cy="171450"/>
          </a:xfrm>
          <a:prstGeom prst="rect">
            <a:avLst/>
          </a:prstGeom>
          <a:noFill/>
        </p:spPr>
        <p:txBody>
          <a:bodyPr wrap="square" lIns="0" tIns="0" rIns="0" bIns="0" rtlCol="0" anchor="ctr"/>
          <a:lstStyle/>
          <a:p>
            <a:pPr marL="0" indent="0" algn="l">
              <a:buNone/>
            </a:pPr>
            <a:endParaRPr lang="en-US" sz="1125" dirty="0"/>
          </a:p>
        </p:txBody>
      </p:sp>
      <p:sp>
        <p:nvSpPr>
          <p:cNvPr id="22" name="Text 17"/>
          <p:cNvSpPr txBox="1"/>
          <p:nvPr/>
        </p:nvSpPr>
        <p:spPr>
          <a:xfrm>
            <a:off x="5294834" y="3147137"/>
            <a:ext cx="1080135" cy="150191"/>
          </a:xfrm>
          <a:prstGeom prst="rect">
            <a:avLst/>
          </a:prstGeom>
          <a:noFill/>
        </p:spPr>
        <p:txBody>
          <a:bodyPr wrap="square" lIns="0" tIns="0" rIns="0" bIns="0" rtlCol="0" anchor="ctr"/>
          <a:lstStyle/>
          <a:p>
            <a:pPr marL="0" indent="0" algn="l">
              <a:buNone/>
            </a:pPr>
            <a:endParaRPr lang="en-US" sz="975" dirty="0"/>
          </a:p>
        </p:txBody>
      </p:sp>
      <p:sp>
        <p:nvSpPr>
          <p:cNvPr id="23" name="Text 18"/>
          <p:cNvSpPr txBox="1"/>
          <p:nvPr/>
        </p:nvSpPr>
        <p:spPr>
          <a:xfrm>
            <a:off x="2571521" y="3429000"/>
            <a:ext cx="229058" cy="200254"/>
          </a:xfrm>
          <a:prstGeom prst="rect">
            <a:avLst/>
          </a:prstGeom>
          <a:noFill/>
        </p:spPr>
        <p:txBody>
          <a:bodyPr wrap="square" lIns="0" tIns="0" rIns="0" bIns="0" rtlCol="0" anchor="ctr"/>
          <a:lstStyle/>
          <a:p>
            <a:pPr marL="0" indent="0" algn="l">
              <a:buNone/>
            </a:pPr>
            <a:endParaRPr lang="en-US" sz="1350" dirty="0"/>
          </a:p>
        </p:txBody>
      </p:sp>
      <p:sp>
        <p:nvSpPr>
          <p:cNvPr id="24" name="Text 19"/>
          <p:cNvSpPr txBox="1"/>
          <p:nvPr/>
        </p:nvSpPr>
        <p:spPr>
          <a:xfrm>
            <a:off x="2814980" y="3443402"/>
            <a:ext cx="689229" cy="171450"/>
          </a:xfrm>
          <a:prstGeom prst="rect">
            <a:avLst/>
          </a:prstGeom>
          <a:noFill/>
        </p:spPr>
        <p:txBody>
          <a:bodyPr wrap="square" lIns="0" tIns="0" rIns="0" bIns="0" rtlCol="0" anchor="ctr"/>
          <a:lstStyle/>
          <a:p>
            <a:pPr marL="0" indent="0" algn="l">
              <a:buNone/>
            </a:pPr>
            <a:endParaRPr lang="en-US" sz="1125" dirty="0"/>
          </a:p>
        </p:txBody>
      </p:sp>
      <p:sp>
        <p:nvSpPr>
          <p:cNvPr id="25" name="Text 20"/>
          <p:cNvSpPr txBox="1"/>
          <p:nvPr/>
        </p:nvSpPr>
        <p:spPr>
          <a:xfrm>
            <a:off x="3446603" y="3453689"/>
            <a:ext cx="927202" cy="150191"/>
          </a:xfrm>
          <a:prstGeom prst="rect">
            <a:avLst/>
          </a:prstGeom>
          <a:noFill/>
        </p:spPr>
        <p:txBody>
          <a:bodyPr wrap="square" lIns="0" tIns="0" rIns="0" bIns="0" rtlCol="0" anchor="ctr"/>
          <a:lstStyle/>
          <a:p>
            <a:pPr marL="0" indent="0" algn="l">
              <a:buNone/>
            </a:pPr>
            <a:endParaRPr lang="en-US" sz="975" dirty="0"/>
          </a:p>
        </p:txBody>
      </p:sp>
      <p:sp>
        <p:nvSpPr>
          <p:cNvPr id="26" name="Text 21"/>
          <p:cNvSpPr txBox="1"/>
          <p:nvPr/>
        </p:nvSpPr>
        <p:spPr>
          <a:xfrm>
            <a:off x="4625492" y="3429000"/>
            <a:ext cx="229058" cy="200254"/>
          </a:xfrm>
          <a:prstGeom prst="rect">
            <a:avLst/>
          </a:prstGeom>
          <a:noFill/>
        </p:spPr>
        <p:txBody>
          <a:bodyPr wrap="square" lIns="0" tIns="0" rIns="0" bIns="0" rtlCol="0" anchor="ctr"/>
          <a:lstStyle/>
          <a:p>
            <a:pPr marL="0" indent="0" algn="l">
              <a:buNone/>
            </a:pPr>
            <a:endParaRPr lang="en-US" sz="1350" dirty="0"/>
          </a:p>
        </p:txBody>
      </p:sp>
      <p:sp>
        <p:nvSpPr>
          <p:cNvPr id="27" name="Text 22"/>
          <p:cNvSpPr txBox="1"/>
          <p:nvPr/>
        </p:nvSpPr>
        <p:spPr>
          <a:xfrm>
            <a:off x="4868266" y="3453689"/>
            <a:ext cx="1844802" cy="150191"/>
          </a:xfrm>
          <a:prstGeom prst="rect">
            <a:avLst/>
          </a:prstGeom>
          <a:noFill/>
        </p:spPr>
        <p:txBody>
          <a:bodyPr wrap="square" lIns="0" tIns="0" rIns="0" bIns="0" rtlCol="0" anchor="ctr"/>
          <a:lstStyle/>
          <a:p>
            <a:pPr marL="0" indent="0" algn="l">
              <a:buNone/>
            </a:pPr>
            <a:endParaRPr lang="en-US" sz="975" dirty="0"/>
          </a:p>
        </p:txBody>
      </p:sp>
      <p:sp>
        <p:nvSpPr>
          <p:cNvPr id="34" name="TextBox 33"/>
          <p:cNvSpPr txBox="1"/>
          <p:nvPr/>
        </p:nvSpPr>
        <p:spPr>
          <a:xfrm>
            <a:off x="197485" y="3823772"/>
            <a:ext cx="2120036" cy="1319530"/>
          </a:xfrm>
          <a:prstGeom prst="rect">
            <a:avLst/>
          </a:prstGeom>
          <a:noFill/>
        </p:spPr>
        <p:txBody>
          <a:bodyPr wrap="square" rtlCol="0">
            <a:spAutoFit/>
          </a:bodyPr>
          <a:lstStyle/>
          <a:p>
            <a:r>
              <a:rPr lang="en-US" sz="825" b="1" dirty="0">
                <a:solidFill>
                  <a:schemeClr val="bg1"/>
                </a:solidFill>
                <a:latin typeface="Roboto" pitchFamily="34" charset="0"/>
                <a:ea typeface="Roboto" pitchFamily="34" charset="-122"/>
                <a:cs typeface="Roboto" pitchFamily="34" charset="-120"/>
              </a:rPr>
              <a:t>By: Likitha </a:t>
            </a:r>
            <a:r>
              <a:rPr lang="en-US" sz="825" b="1" dirty="0" err="1">
                <a:solidFill>
                  <a:schemeClr val="bg1"/>
                </a:solidFill>
                <a:latin typeface="Roboto" pitchFamily="34" charset="0"/>
                <a:ea typeface="Roboto" pitchFamily="34" charset="-122"/>
                <a:cs typeface="Roboto" pitchFamily="34" charset="-120"/>
              </a:rPr>
              <a:t>Pulugari</a:t>
            </a:r>
            <a:endParaRPr lang="en-US" sz="825" b="1" dirty="0">
              <a:solidFill>
                <a:schemeClr val="bg1"/>
              </a:solidFill>
              <a:latin typeface="Roboto" pitchFamily="34" charset="0"/>
              <a:ea typeface="Roboto" pitchFamily="34" charset="-122"/>
              <a:cs typeface="Roboto" pitchFamily="34" charset="-120"/>
            </a:endParaRPr>
          </a:p>
          <a:p>
            <a:r>
              <a:rPr lang="en-US" sz="825" b="1" dirty="0">
                <a:solidFill>
                  <a:schemeClr val="bg1"/>
                </a:solidFill>
                <a:latin typeface="Roboto" pitchFamily="34" charset="0"/>
                <a:ea typeface="Roboto" pitchFamily="34" charset="-122"/>
                <a:cs typeface="Roboto" pitchFamily="34" charset="-120"/>
              </a:rPr>
              <a:t>      Nihanth Naidu K</a:t>
            </a:r>
          </a:p>
          <a:p>
            <a:r>
              <a:rPr lang="en-US" sz="825" b="1" dirty="0">
                <a:solidFill>
                  <a:schemeClr val="bg1"/>
                </a:solidFill>
                <a:latin typeface="Roboto" pitchFamily="34" charset="0"/>
                <a:ea typeface="Roboto" pitchFamily="34" charset="-122"/>
                <a:cs typeface="Roboto" pitchFamily="34" charset="-120"/>
              </a:rPr>
              <a:t>      Shreya Vaghela</a:t>
            </a:r>
          </a:p>
          <a:p>
            <a:r>
              <a:rPr lang="en-US" sz="825" dirty="0">
                <a:solidFill>
                  <a:schemeClr val="bg1"/>
                </a:solidFill>
                <a:latin typeface="Roboto" pitchFamily="34" charset="0"/>
                <a:ea typeface="Roboto" pitchFamily="34" charset="-122"/>
                <a:cs typeface="Roboto" pitchFamily="34" charset="-120"/>
              </a:rPr>
              <a:t>Course: CS 697 / AI 687-001 BK</a:t>
            </a:r>
            <a:endParaRPr lang="en-US" sz="825" dirty="0">
              <a:solidFill>
                <a:schemeClr val="bg1"/>
              </a:solidFill>
            </a:endParaRPr>
          </a:p>
          <a:p>
            <a:r>
              <a:rPr lang="en-US" sz="825" dirty="0">
                <a:solidFill>
                  <a:schemeClr val="bg1"/>
                </a:solidFill>
                <a:latin typeface="Roboto" pitchFamily="34" charset="0"/>
                <a:ea typeface="Roboto" pitchFamily="34" charset="-122"/>
                <a:cs typeface="Roboto" pitchFamily="34" charset="-120"/>
              </a:rPr>
              <a:t>Spring 2026 - Final Presentation</a:t>
            </a:r>
          </a:p>
          <a:p>
            <a:endParaRPr lang="en-US" sz="825" dirty="0">
              <a:solidFill>
                <a:schemeClr val="bg1"/>
              </a:solidFill>
              <a:latin typeface="Roboto" pitchFamily="34" charset="0"/>
              <a:ea typeface="Roboto" pitchFamily="34" charset="-122"/>
              <a:cs typeface="Roboto" pitchFamily="34" charset="-120"/>
            </a:endParaRPr>
          </a:p>
          <a:p>
            <a:r>
              <a:rPr lang="en-US" sz="825" dirty="0">
                <a:solidFill>
                  <a:schemeClr val="bg1"/>
                </a:solidFill>
                <a:latin typeface="Roboto" pitchFamily="34" charset="0"/>
                <a:ea typeface="Roboto" pitchFamily="34" charset="-122"/>
                <a:cs typeface="Roboto" pitchFamily="34" charset="-120"/>
              </a:rPr>
              <a:t>Date: April 28, 2026</a:t>
            </a:r>
            <a:endParaRPr lang="en-US" sz="825" dirty="0">
              <a:solidFill>
                <a:schemeClr val="bg1"/>
              </a:solidFill>
            </a:endParaRPr>
          </a:p>
          <a:p>
            <a:endParaRPr lang="en-IN" sz="1350" dirty="0"/>
          </a:p>
        </p:txBody>
      </p:sp>
      <p:pic>
        <p:nvPicPr>
          <p:cNvPr id="36" name="Image 2" descr="preencoded.png"/>
          <p:cNvPicPr>
            <a:picLocks noChangeAspect="1"/>
          </p:cNvPicPr>
          <p:nvPr/>
        </p:nvPicPr>
        <p:blipFill>
          <a:blip/>
          <a:srcRect l="992" r="992"/>
          <a:stretch>
            <a:fillRect/>
          </a:stretch>
        </p:blipFill>
        <p:spPr>
          <a:xfrm>
            <a:off x="6762266" y="4762867"/>
            <a:ext cx="2057400" cy="1858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69B3E7"/>
          </a:solidFill>
          <a:ln w="12700">
            <a:solidFill>
              <a:srgbClr val="69B3E7"/>
            </a:solidFill>
            <a:prstDash val="solid"/>
          </a:ln>
        </p:spPr>
        <p:txBody>
          <a:bodyPr/>
          <a:lstStyle/>
          <a:p>
            <a:endParaRPr lang="en-US"/>
          </a:p>
        </p:txBody>
      </p:sp>
      <p:sp>
        <p:nvSpPr>
          <p:cNvPr id="3" name="Text 1"/>
          <p:cNvSpPr/>
          <p:nvPr/>
        </p:nvSpPr>
        <p:spPr>
          <a:xfrm>
            <a:off x="164592" y="0"/>
            <a:ext cx="8046720" cy="45720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OUTLINES</a:t>
            </a:r>
            <a:endParaRPr lang="en-US" sz="1400" dirty="0"/>
          </a:p>
        </p:txBody>
      </p:sp>
      <p:sp>
        <p:nvSpPr>
          <p:cNvPr id="4" name="Text 2"/>
          <p:cNvSpPr/>
          <p:nvPr/>
        </p:nvSpPr>
        <p:spPr>
          <a:xfrm>
            <a:off x="8321040" y="0"/>
            <a:ext cx="731520" cy="457200"/>
          </a:xfrm>
          <a:prstGeom prst="rect">
            <a:avLst/>
          </a:prstGeom>
          <a:noFill/>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LIU</a:t>
            </a:r>
            <a:endParaRPr lang="en-US" sz="1300" dirty="0"/>
          </a:p>
        </p:txBody>
      </p:sp>
      <p:sp>
        <p:nvSpPr>
          <p:cNvPr id="5" name="Shape 3"/>
          <p:cNvSpPr/>
          <p:nvPr/>
        </p:nvSpPr>
        <p:spPr>
          <a:xfrm>
            <a:off x="0" y="4892040"/>
            <a:ext cx="9144000" cy="251460"/>
          </a:xfrm>
          <a:prstGeom prst="rect">
            <a:avLst/>
          </a:prstGeom>
          <a:solidFill>
            <a:srgbClr val="FFC72C"/>
          </a:solidFill>
          <a:ln w="12700">
            <a:solidFill>
              <a:srgbClr val="FFC72C"/>
            </a:solidFill>
            <a:prstDash val="solid"/>
          </a:ln>
        </p:spPr>
        <p:txBody>
          <a:bodyPr/>
          <a:lstStyle/>
          <a:p>
            <a:endParaRPr lang="en-US"/>
          </a:p>
        </p:txBody>
      </p:sp>
      <p:sp>
        <p:nvSpPr>
          <p:cNvPr id="6" name="Text 4"/>
          <p:cNvSpPr/>
          <p:nvPr/>
        </p:nvSpPr>
        <p:spPr>
          <a:xfrm>
            <a:off x="8686800" y="4901184"/>
            <a:ext cx="365760" cy="219456"/>
          </a:xfrm>
          <a:prstGeom prst="rect">
            <a:avLst/>
          </a:prstGeom>
          <a:noFill/>
        </p:spPr>
        <p:txBody>
          <a:bodyPr wrap="square" lIns="0" tIns="0" rIns="0" bIns="0" rtlCol="0" anchor="ctr"/>
          <a:lstStyle/>
          <a:p>
            <a:pPr marL="0" indent="0" algn="ctr">
              <a:buNone/>
            </a:pPr>
            <a:r>
              <a:rPr lang="en-US" sz="900" b="1" dirty="0">
                <a:solidFill>
                  <a:srgbClr val="1F3864"/>
                </a:solidFill>
                <a:latin typeface="Calibri" pitchFamily="34" charset="0"/>
                <a:ea typeface="Calibri" pitchFamily="34" charset="-122"/>
                <a:cs typeface="Calibri" pitchFamily="34" charset="-120"/>
              </a:rPr>
              <a:t>2</a:t>
            </a:r>
            <a:endParaRPr lang="en-US" sz="900" dirty="0"/>
          </a:p>
        </p:txBody>
      </p:sp>
      <p:sp>
        <p:nvSpPr>
          <p:cNvPr id="7" name="TextBox 6"/>
          <p:cNvSpPr txBox="1"/>
          <p:nvPr/>
        </p:nvSpPr>
        <p:spPr>
          <a:xfrm>
            <a:off x="274320" y="512064"/>
            <a:ext cx="4023360" cy="256032"/>
          </a:xfrm>
          <a:prstGeom prst="rect">
            <a:avLst/>
          </a:prstGeom>
          <a:noFill/>
        </p:spPr>
        <p:txBody>
          <a:bodyPr wrap="square">
            <a:spAutoFit/>
          </a:bodyPr>
          <a:lstStyle/>
          <a:p>
            <a:pPr algn="l"/>
            <a:r>
              <a:rPr sz="1000" b="1" i="0">
                <a:solidFill>
                  <a:srgbClr val="FFC72C"/>
                </a:solidFill>
              </a:rPr>
              <a:t>PART 1</a:t>
            </a:r>
          </a:p>
        </p:txBody>
      </p:sp>
      <p:sp>
        <p:nvSpPr>
          <p:cNvPr id="8" name="TextBox 7"/>
          <p:cNvSpPr txBox="1"/>
          <p:nvPr/>
        </p:nvSpPr>
        <p:spPr>
          <a:xfrm>
            <a:off x="274320" y="822960"/>
            <a:ext cx="420624" cy="219456"/>
          </a:xfrm>
          <a:prstGeom prst="rect">
            <a:avLst/>
          </a:prstGeom>
          <a:noFill/>
        </p:spPr>
        <p:txBody>
          <a:bodyPr wrap="square">
            <a:spAutoFit/>
          </a:bodyPr>
          <a:lstStyle/>
          <a:p>
            <a:pPr algn="l"/>
            <a:r>
              <a:rPr sz="900" b="1" i="0">
                <a:solidFill>
                  <a:srgbClr val="69B3E7"/>
                </a:solidFill>
              </a:rPr>
              <a:t>1</a:t>
            </a:r>
          </a:p>
        </p:txBody>
      </p:sp>
      <p:sp>
        <p:nvSpPr>
          <p:cNvPr id="9" name="TextBox 8"/>
          <p:cNvSpPr txBox="1"/>
          <p:nvPr/>
        </p:nvSpPr>
        <p:spPr>
          <a:xfrm>
            <a:off x="713232" y="822960"/>
            <a:ext cx="3602736" cy="219456"/>
          </a:xfrm>
          <a:prstGeom prst="rect">
            <a:avLst/>
          </a:prstGeom>
          <a:noFill/>
        </p:spPr>
        <p:txBody>
          <a:bodyPr wrap="square">
            <a:spAutoFit/>
          </a:bodyPr>
          <a:lstStyle/>
          <a:p>
            <a:pPr algn="l"/>
            <a:r>
              <a:rPr sz="900" b="0" i="0">
                <a:solidFill>
                  <a:srgbClr val="2C3E50"/>
                </a:solidFill>
              </a:rPr>
              <a:t>Introduction &amp; Problem Statement</a:t>
            </a:r>
          </a:p>
        </p:txBody>
      </p:sp>
      <p:sp>
        <p:nvSpPr>
          <p:cNvPr id="10" name="TextBox 9"/>
          <p:cNvSpPr txBox="1"/>
          <p:nvPr/>
        </p:nvSpPr>
        <p:spPr>
          <a:xfrm>
            <a:off x="274320" y="1161288"/>
            <a:ext cx="420624" cy="219456"/>
          </a:xfrm>
          <a:prstGeom prst="rect">
            <a:avLst/>
          </a:prstGeom>
          <a:noFill/>
        </p:spPr>
        <p:txBody>
          <a:bodyPr wrap="square">
            <a:spAutoFit/>
          </a:bodyPr>
          <a:lstStyle/>
          <a:p>
            <a:pPr algn="l"/>
            <a:r>
              <a:rPr sz="900" b="1" i="0">
                <a:solidFill>
                  <a:srgbClr val="69B3E7"/>
                </a:solidFill>
              </a:rPr>
              <a:t>2</a:t>
            </a:r>
          </a:p>
        </p:txBody>
      </p:sp>
      <p:sp>
        <p:nvSpPr>
          <p:cNvPr id="11" name="TextBox 10"/>
          <p:cNvSpPr txBox="1"/>
          <p:nvPr/>
        </p:nvSpPr>
        <p:spPr>
          <a:xfrm>
            <a:off x="713232" y="1161288"/>
            <a:ext cx="3602736" cy="219456"/>
          </a:xfrm>
          <a:prstGeom prst="rect">
            <a:avLst/>
          </a:prstGeom>
          <a:noFill/>
        </p:spPr>
        <p:txBody>
          <a:bodyPr wrap="square">
            <a:spAutoFit/>
          </a:bodyPr>
          <a:lstStyle/>
          <a:p>
            <a:pPr algn="l"/>
            <a:r>
              <a:rPr sz="900" b="0" i="0">
                <a:solidFill>
                  <a:srgbClr val="2C3E50"/>
                </a:solidFill>
              </a:rPr>
              <a:t>Dataset Overview (TCGA)</a:t>
            </a:r>
          </a:p>
        </p:txBody>
      </p:sp>
      <p:sp>
        <p:nvSpPr>
          <p:cNvPr id="12" name="TextBox 11"/>
          <p:cNvSpPr txBox="1"/>
          <p:nvPr/>
        </p:nvSpPr>
        <p:spPr>
          <a:xfrm>
            <a:off x="274320" y="1499616"/>
            <a:ext cx="420624" cy="219456"/>
          </a:xfrm>
          <a:prstGeom prst="rect">
            <a:avLst/>
          </a:prstGeom>
          <a:noFill/>
        </p:spPr>
        <p:txBody>
          <a:bodyPr wrap="square">
            <a:spAutoFit/>
          </a:bodyPr>
          <a:lstStyle/>
          <a:p>
            <a:pPr algn="l"/>
            <a:r>
              <a:rPr sz="900" b="1" i="0">
                <a:solidFill>
                  <a:srgbClr val="69B3E7"/>
                </a:solidFill>
              </a:rPr>
              <a:t>3</a:t>
            </a:r>
          </a:p>
        </p:txBody>
      </p:sp>
      <p:sp>
        <p:nvSpPr>
          <p:cNvPr id="13" name="TextBox 12"/>
          <p:cNvSpPr txBox="1"/>
          <p:nvPr/>
        </p:nvSpPr>
        <p:spPr>
          <a:xfrm>
            <a:off x="713232" y="1499616"/>
            <a:ext cx="3602736" cy="219456"/>
          </a:xfrm>
          <a:prstGeom prst="rect">
            <a:avLst/>
          </a:prstGeom>
          <a:noFill/>
        </p:spPr>
        <p:txBody>
          <a:bodyPr wrap="square">
            <a:spAutoFit/>
          </a:bodyPr>
          <a:lstStyle/>
          <a:p>
            <a:pPr algn="l"/>
            <a:r>
              <a:rPr sz="900" b="0" i="0">
                <a:solidFill>
                  <a:srgbClr val="2C3E50"/>
                </a:solidFill>
              </a:rPr>
              <a:t>Class Distribution &amp; Imbalance</a:t>
            </a:r>
          </a:p>
        </p:txBody>
      </p:sp>
      <p:sp>
        <p:nvSpPr>
          <p:cNvPr id="14" name="TextBox 13"/>
          <p:cNvSpPr txBox="1"/>
          <p:nvPr/>
        </p:nvSpPr>
        <p:spPr>
          <a:xfrm>
            <a:off x="274320" y="1837944"/>
            <a:ext cx="420624" cy="219456"/>
          </a:xfrm>
          <a:prstGeom prst="rect">
            <a:avLst/>
          </a:prstGeom>
          <a:noFill/>
        </p:spPr>
        <p:txBody>
          <a:bodyPr wrap="square">
            <a:spAutoFit/>
          </a:bodyPr>
          <a:lstStyle/>
          <a:p>
            <a:pPr algn="l"/>
            <a:r>
              <a:rPr sz="900" b="1" i="0">
                <a:solidFill>
                  <a:srgbClr val="69B3E7"/>
                </a:solidFill>
              </a:rPr>
              <a:t>4</a:t>
            </a:r>
          </a:p>
        </p:txBody>
      </p:sp>
      <p:sp>
        <p:nvSpPr>
          <p:cNvPr id="15" name="TextBox 14"/>
          <p:cNvSpPr txBox="1"/>
          <p:nvPr/>
        </p:nvSpPr>
        <p:spPr>
          <a:xfrm>
            <a:off x="713232" y="1837944"/>
            <a:ext cx="3602736" cy="219456"/>
          </a:xfrm>
          <a:prstGeom prst="rect">
            <a:avLst/>
          </a:prstGeom>
          <a:noFill/>
        </p:spPr>
        <p:txBody>
          <a:bodyPr wrap="square">
            <a:spAutoFit/>
          </a:bodyPr>
          <a:lstStyle/>
          <a:p>
            <a:pPr algn="l"/>
            <a:r>
              <a:rPr sz="900" b="0" i="0">
                <a:solidFill>
                  <a:srgbClr val="2C3E50"/>
                </a:solidFill>
              </a:rPr>
              <a:t>Literature Review — Mostavi et al.</a:t>
            </a:r>
          </a:p>
        </p:txBody>
      </p:sp>
      <p:sp>
        <p:nvSpPr>
          <p:cNvPr id="16" name="TextBox 15"/>
          <p:cNvSpPr txBox="1"/>
          <p:nvPr/>
        </p:nvSpPr>
        <p:spPr>
          <a:xfrm>
            <a:off x="274320" y="2176272"/>
            <a:ext cx="420624" cy="219456"/>
          </a:xfrm>
          <a:prstGeom prst="rect">
            <a:avLst/>
          </a:prstGeom>
          <a:noFill/>
        </p:spPr>
        <p:txBody>
          <a:bodyPr wrap="square">
            <a:spAutoFit/>
          </a:bodyPr>
          <a:lstStyle/>
          <a:p>
            <a:pPr algn="l"/>
            <a:r>
              <a:rPr sz="900" b="1" i="0">
                <a:solidFill>
                  <a:srgbClr val="69B3E7"/>
                </a:solidFill>
              </a:rPr>
              <a:t>5</a:t>
            </a:r>
          </a:p>
        </p:txBody>
      </p:sp>
      <p:sp>
        <p:nvSpPr>
          <p:cNvPr id="17" name="TextBox 16"/>
          <p:cNvSpPr txBox="1"/>
          <p:nvPr/>
        </p:nvSpPr>
        <p:spPr>
          <a:xfrm>
            <a:off x="713232" y="2176272"/>
            <a:ext cx="3602736" cy="219456"/>
          </a:xfrm>
          <a:prstGeom prst="rect">
            <a:avLst/>
          </a:prstGeom>
          <a:noFill/>
        </p:spPr>
        <p:txBody>
          <a:bodyPr wrap="square">
            <a:spAutoFit/>
          </a:bodyPr>
          <a:lstStyle/>
          <a:p>
            <a:pPr algn="l"/>
            <a:r>
              <a:rPr sz="900" b="0" i="0">
                <a:solidFill>
                  <a:srgbClr val="2C3E50"/>
                </a:solidFill>
              </a:rPr>
              <a:t>Literature Review — Ramirez et al.</a:t>
            </a:r>
          </a:p>
        </p:txBody>
      </p:sp>
      <p:sp>
        <p:nvSpPr>
          <p:cNvPr id="18" name="TextBox 17"/>
          <p:cNvSpPr txBox="1"/>
          <p:nvPr/>
        </p:nvSpPr>
        <p:spPr>
          <a:xfrm>
            <a:off x="274320" y="2514600"/>
            <a:ext cx="420624" cy="219456"/>
          </a:xfrm>
          <a:prstGeom prst="rect">
            <a:avLst/>
          </a:prstGeom>
          <a:noFill/>
        </p:spPr>
        <p:txBody>
          <a:bodyPr wrap="square">
            <a:spAutoFit/>
          </a:bodyPr>
          <a:lstStyle/>
          <a:p>
            <a:pPr algn="l"/>
            <a:r>
              <a:rPr sz="900" b="1" i="0">
                <a:solidFill>
                  <a:srgbClr val="69B3E7"/>
                </a:solidFill>
              </a:rPr>
              <a:t>6</a:t>
            </a:r>
          </a:p>
        </p:txBody>
      </p:sp>
      <p:sp>
        <p:nvSpPr>
          <p:cNvPr id="19" name="TextBox 18"/>
          <p:cNvSpPr txBox="1"/>
          <p:nvPr/>
        </p:nvSpPr>
        <p:spPr>
          <a:xfrm>
            <a:off x="713232" y="2514600"/>
            <a:ext cx="3602736" cy="219456"/>
          </a:xfrm>
          <a:prstGeom prst="rect">
            <a:avLst/>
          </a:prstGeom>
          <a:noFill/>
        </p:spPr>
        <p:txBody>
          <a:bodyPr wrap="square">
            <a:spAutoFit/>
          </a:bodyPr>
          <a:lstStyle/>
          <a:p>
            <a:pPr algn="l"/>
            <a:r>
              <a:rPr sz="900" b="0" i="0">
                <a:solidFill>
                  <a:srgbClr val="2C3E50"/>
                </a:solidFill>
              </a:rPr>
              <a:t>READ/COAD Merge Decision</a:t>
            </a:r>
          </a:p>
        </p:txBody>
      </p:sp>
      <p:sp>
        <p:nvSpPr>
          <p:cNvPr id="20" name="TextBox 19"/>
          <p:cNvSpPr txBox="1"/>
          <p:nvPr/>
        </p:nvSpPr>
        <p:spPr>
          <a:xfrm>
            <a:off x="274320" y="2852928"/>
            <a:ext cx="420624" cy="219456"/>
          </a:xfrm>
          <a:prstGeom prst="rect">
            <a:avLst/>
          </a:prstGeom>
          <a:noFill/>
        </p:spPr>
        <p:txBody>
          <a:bodyPr wrap="square">
            <a:spAutoFit/>
          </a:bodyPr>
          <a:lstStyle/>
          <a:p>
            <a:pPr algn="l"/>
            <a:r>
              <a:rPr sz="900" b="1" i="0">
                <a:solidFill>
                  <a:srgbClr val="69B3E7"/>
                </a:solidFill>
              </a:rPr>
              <a:t>7</a:t>
            </a:r>
          </a:p>
        </p:txBody>
      </p:sp>
      <p:sp>
        <p:nvSpPr>
          <p:cNvPr id="21" name="TextBox 20"/>
          <p:cNvSpPr txBox="1"/>
          <p:nvPr/>
        </p:nvSpPr>
        <p:spPr>
          <a:xfrm>
            <a:off x="713232" y="2852928"/>
            <a:ext cx="3602736" cy="219456"/>
          </a:xfrm>
          <a:prstGeom prst="rect">
            <a:avLst/>
          </a:prstGeom>
          <a:noFill/>
        </p:spPr>
        <p:txBody>
          <a:bodyPr wrap="square">
            <a:spAutoFit/>
          </a:bodyPr>
          <a:lstStyle/>
          <a:p>
            <a:pPr algn="l"/>
            <a:r>
              <a:rPr sz="900" b="0" i="0">
                <a:solidFill>
                  <a:srgbClr val="2C3E50"/>
                </a:solidFill>
              </a:rPr>
              <a:t>Data Preprocessing Pipeline</a:t>
            </a:r>
          </a:p>
        </p:txBody>
      </p:sp>
      <p:sp>
        <p:nvSpPr>
          <p:cNvPr id="22" name="TextBox 21"/>
          <p:cNvSpPr txBox="1"/>
          <p:nvPr/>
        </p:nvSpPr>
        <p:spPr>
          <a:xfrm>
            <a:off x="274320" y="3191256"/>
            <a:ext cx="420624" cy="219456"/>
          </a:xfrm>
          <a:prstGeom prst="rect">
            <a:avLst/>
          </a:prstGeom>
          <a:noFill/>
        </p:spPr>
        <p:txBody>
          <a:bodyPr wrap="square">
            <a:spAutoFit/>
          </a:bodyPr>
          <a:lstStyle/>
          <a:p>
            <a:pPr algn="l"/>
            <a:r>
              <a:rPr sz="900" b="1" i="0">
                <a:solidFill>
                  <a:srgbClr val="69B3E7"/>
                </a:solidFill>
              </a:rPr>
              <a:t>8</a:t>
            </a:r>
          </a:p>
        </p:txBody>
      </p:sp>
      <p:sp>
        <p:nvSpPr>
          <p:cNvPr id="23" name="TextBox 22"/>
          <p:cNvSpPr txBox="1"/>
          <p:nvPr/>
        </p:nvSpPr>
        <p:spPr>
          <a:xfrm>
            <a:off x="713232" y="3191256"/>
            <a:ext cx="3602736" cy="219456"/>
          </a:xfrm>
          <a:prstGeom prst="rect">
            <a:avLst/>
          </a:prstGeom>
          <a:noFill/>
        </p:spPr>
        <p:txBody>
          <a:bodyPr wrap="square">
            <a:spAutoFit/>
          </a:bodyPr>
          <a:lstStyle/>
          <a:p>
            <a:pPr algn="l"/>
            <a:r>
              <a:rPr sz="900" b="0" i="0">
                <a:solidFill>
                  <a:srgbClr val="2C3E50"/>
                </a:solidFill>
              </a:rPr>
              <a:t>Model Architecture (1D-CNN + SE)</a:t>
            </a:r>
          </a:p>
        </p:txBody>
      </p:sp>
      <p:sp>
        <p:nvSpPr>
          <p:cNvPr id="24" name="TextBox 23"/>
          <p:cNvSpPr txBox="1"/>
          <p:nvPr/>
        </p:nvSpPr>
        <p:spPr>
          <a:xfrm>
            <a:off x="274320" y="3529584"/>
            <a:ext cx="420624" cy="219456"/>
          </a:xfrm>
          <a:prstGeom prst="rect">
            <a:avLst/>
          </a:prstGeom>
          <a:noFill/>
        </p:spPr>
        <p:txBody>
          <a:bodyPr wrap="square">
            <a:spAutoFit/>
          </a:bodyPr>
          <a:lstStyle/>
          <a:p>
            <a:pPr algn="l"/>
            <a:r>
              <a:rPr sz="900" b="1" i="0">
                <a:solidFill>
                  <a:srgbClr val="69B3E7"/>
                </a:solidFill>
              </a:rPr>
              <a:t>9</a:t>
            </a:r>
          </a:p>
        </p:txBody>
      </p:sp>
      <p:sp>
        <p:nvSpPr>
          <p:cNvPr id="25" name="TextBox 24"/>
          <p:cNvSpPr txBox="1"/>
          <p:nvPr/>
        </p:nvSpPr>
        <p:spPr>
          <a:xfrm>
            <a:off x="713232" y="3529584"/>
            <a:ext cx="3602736" cy="219456"/>
          </a:xfrm>
          <a:prstGeom prst="rect">
            <a:avLst/>
          </a:prstGeom>
          <a:noFill/>
        </p:spPr>
        <p:txBody>
          <a:bodyPr wrap="square">
            <a:spAutoFit/>
          </a:bodyPr>
          <a:lstStyle/>
          <a:p>
            <a:pPr algn="l"/>
            <a:r>
              <a:rPr sz="900" b="0" i="0">
                <a:solidFill>
                  <a:srgbClr val="2C3E50"/>
                </a:solidFill>
              </a:rPr>
              <a:t>SE-Attention Block</a:t>
            </a:r>
          </a:p>
        </p:txBody>
      </p:sp>
      <p:sp>
        <p:nvSpPr>
          <p:cNvPr id="26" name="TextBox 25"/>
          <p:cNvSpPr txBox="1"/>
          <p:nvPr/>
        </p:nvSpPr>
        <p:spPr>
          <a:xfrm>
            <a:off x="274320" y="3867912"/>
            <a:ext cx="420624" cy="219456"/>
          </a:xfrm>
          <a:prstGeom prst="rect">
            <a:avLst/>
          </a:prstGeom>
          <a:noFill/>
        </p:spPr>
        <p:txBody>
          <a:bodyPr wrap="square">
            <a:spAutoFit/>
          </a:bodyPr>
          <a:lstStyle/>
          <a:p>
            <a:pPr algn="l"/>
            <a:r>
              <a:rPr sz="900" b="1" i="0">
                <a:solidFill>
                  <a:srgbClr val="69B3E7"/>
                </a:solidFill>
              </a:rPr>
              <a:t>10</a:t>
            </a:r>
          </a:p>
        </p:txBody>
      </p:sp>
      <p:sp>
        <p:nvSpPr>
          <p:cNvPr id="27" name="TextBox 26"/>
          <p:cNvSpPr txBox="1"/>
          <p:nvPr/>
        </p:nvSpPr>
        <p:spPr>
          <a:xfrm>
            <a:off x="713232" y="3867912"/>
            <a:ext cx="3602736" cy="219456"/>
          </a:xfrm>
          <a:prstGeom prst="rect">
            <a:avLst/>
          </a:prstGeom>
          <a:noFill/>
        </p:spPr>
        <p:txBody>
          <a:bodyPr wrap="square">
            <a:spAutoFit/>
          </a:bodyPr>
          <a:lstStyle/>
          <a:p>
            <a:pPr algn="l"/>
            <a:r>
              <a:rPr sz="900" b="0" i="0">
                <a:solidFill>
                  <a:srgbClr val="2C3E50"/>
                </a:solidFill>
              </a:rPr>
              <a:t>Training Strategy</a:t>
            </a:r>
          </a:p>
        </p:txBody>
      </p:sp>
      <p:sp>
        <p:nvSpPr>
          <p:cNvPr id="28" name="TextBox 27"/>
          <p:cNvSpPr txBox="1"/>
          <p:nvPr/>
        </p:nvSpPr>
        <p:spPr>
          <a:xfrm>
            <a:off x="274320" y="4206240"/>
            <a:ext cx="420624" cy="219456"/>
          </a:xfrm>
          <a:prstGeom prst="rect">
            <a:avLst/>
          </a:prstGeom>
          <a:noFill/>
        </p:spPr>
        <p:txBody>
          <a:bodyPr wrap="square">
            <a:spAutoFit/>
          </a:bodyPr>
          <a:lstStyle/>
          <a:p>
            <a:pPr algn="l"/>
            <a:r>
              <a:rPr sz="900" b="1" i="0">
                <a:solidFill>
                  <a:srgbClr val="69B3E7"/>
                </a:solidFill>
              </a:rPr>
              <a:t>11</a:t>
            </a:r>
          </a:p>
        </p:txBody>
      </p:sp>
      <p:sp>
        <p:nvSpPr>
          <p:cNvPr id="29" name="TextBox 28"/>
          <p:cNvSpPr txBox="1"/>
          <p:nvPr/>
        </p:nvSpPr>
        <p:spPr>
          <a:xfrm>
            <a:off x="713232" y="4206240"/>
            <a:ext cx="3602736" cy="219456"/>
          </a:xfrm>
          <a:prstGeom prst="rect">
            <a:avLst/>
          </a:prstGeom>
          <a:noFill/>
        </p:spPr>
        <p:txBody>
          <a:bodyPr wrap="square">
            <a:spAutoFit/>
          </a:bodyPr>
          <a:lstStyle/>
          <a:p>
            <a:pPr algn="l"/>
            <a:r>
              <a:rPr sz="900" b="0" i="0">
                <a:solidFill>
                  <a:srgbClr val="2C3E50"/>
                </a:solidFill>
              </a:rPr>
              <a:t>Ensemble &amp; TTA Pipeline</a:t>
            </a:r>
          </a:p>
        </p:txBody>
      </p:sp>
      <p:sp>
        <p:nvSpPr>
          <p:cNvPr id="30" name="TextBox 29"/>
          <p:cNvSpPr txBox="1"/>
          <p:nvPr/>
        </p:nvSpPr>
        <p:spPr>
          <a:xfrm>
            <a:off x="4754880" y="512064"/>
            <a:ext cx="4023360" cy="256032"/>
          </a:xfrm>
          <a:prstGeom prst="rect">
            <a:avLst/>
          </a:prstGeom>
          <a:noFill/>
        </p:spPr>
        <p:txBody>
          <a:bodyPr wrap="square">
            <a:spAutoFit/>
          </a:bodyPr>
          <a:lstStyle/>
          <a:p>
            <a:pPr algn="l"/>
            <a:r>
              <a:rPr sz="1000" b="1" i="0">
                <a:solidFill>
                  <a:srgbClr val="FFC72C"/>
                </a:solidFill>
              </a:rPr>
              <a:t>PART 2</a:t>
            </a:r>
          </a:p>
        </p:txBody>
      </p:sp>
      <p:sp>
        <p:nvSpPr>
          <p:cNvPr id="31" name="TextBox 30"/>
          <p:cNvSpPr txBox="1"/>
          <p:nvPr/>
        </p:nvSpPr>
        <p:spPr>
          <a:xfrm>
            <a:off x="4754880" y="822960"/>
            <a:ext cx="420624" cy="219456"/>
          </a:xfrm>
          <a:prstGeom prst="rect">
            <a:avLst/>
          </a:prstGeom>
          <a:noFill/>
        </p:spPr>
        <p:txBody>
          <a:bodyPr wrap="square">
            <a:spAutoFit/>
          </a:bodyPr>
          <a:lstStyle/>
          <a:p>
            <a:pPr algn="l"/>
            <a:r>
              <a:rPr sz="900" b="1" i="0">
                <a:solidFill>
                  <a:srgbClr val="69B3E7"/>
                </a:solidFill>
              </a:rPr>
              <a:t>12</a:t>
            </a:r>
          </a:p>
        </p:txBody>
      </p:sp>
      <p:sp>
        <p:nvSpPr>
          <p:cNvPr id="32" name="TextBox 31"/>
          <p:cNvSpPr txBox="1"/>
          <p:nvPr/>
        </p:nvSpPr>
        <p:spPr>
          <a:xfrm>
            <a:off x="5193792" y="822960"/>
            <a:ext cx="3602736" cy="219456"/>
          </a:xfrm>
          <a:prstGeom prst="rect">
            <a:avLst/>
          </a:prstGeom>
          <a:noFill/>
        </p:spPr>
        <p:txBody>
          <a:bodyPr wrap="square">
            <a:spAutoFit/>
          </a:bodyPr>
          <a:lstStyle/>
          <a:p>
            <a:pPr algn="l"/>
            <a:r>
              <a:rPr sz="900" b="0" i="0">
                <a:solidFill>
                  <a:srgbClr val="2C3E50"/>
                </a:solidFill>
              </a:rPr>
              <a:t>Training Convergence</a:t>
            </a:r>
          </a:p>
        </p:txBody>
      </p:sp>
      <p:sp>
        <p:nvSpPr>
          <p:cNvPr id="33" name="TextBox 32"/>
          <p:cNvSpPr txBox="1"/>
          <p:nvPr/>
        </p:nvSpPr>
        <p:spPr>
          <a:xfrm>
            <a:off x="4754880" y="1161288"/>
            <a:ext cx="420624" cy="219456"/>
          </a:xfrm>
          <a:prstGeom prst="rect">
            <a:avLst/>
          </a:prstGeom>
          <a:noFill/>
        </p:spPr>
        <p:txBody>
          <a:bodyPr wrap="square">
            <a:spAutoFit/>
          </a:bodyPr>
          <a:lstStyle/>
          <a:p>
            <a:pPr algn="l"/>
            <a:r>
              <a:rPr sz="900" b="1" i="0">
                <a:solidFill>
                  <a:srgbClr val="69B3E7"/>
                </a:solidFill>
              </a:rPr>
              <a:t>13</a:t>
            </a:r>
          </a:p>
        </p:txBody>
      </p:sp>
      <p:sp>
        <p:nvSpPr>
          <p:cNvPr id="34" name="TextBox 33"/>
          <p:cNvSpPr txBox="1"/>
          <p:nvPr/>
        </p:nvSpPr>
        <p:spPr>
          <a:xfrm>
            <a:off x="5193792" y="1161288"/>
            <a:ext cx="3602736" cy="219456"/>
          </a:xfrm>
          <a:prstGeom prst="rect">
            <a:avLst/>
          </a:prstGeom>
          <a:noFill/>
        </p:spPr>
        <p:txBody>
          <a:bodyPr wrap="square">
            <a:spAutoFit/>
          </a:bodyPr>
          <a:lstStyle/>
          <a:p>
            <a:pPr algn="l"/>
            <a:r>
              <a:rPr sz="900" b="0" i="0">
                <a:solidFill>
                  <a:srgbClr val="2C3E50"/>
                </a:solidFill>
              </a:rPr>
              <a:t>Final Results — Accuracy, F1, AUC</a:t>
            </a:r>
          </a:p>
        </p:txBody>
      </p:sp>
      <p:sp>
        <p:nvSpPr>
          <p:cNvPr id="35" name="TextBox 34"/>
          <p:cNvSpPr txBox="1"/>
          <p:nvPr/>
        </p:nvSpPr>
        <p:spPr>
          <a:xfrm>
            <a:off x="4754880" y="1499616"/>
            <a:ext cx="420624" cy="219456"/>
          </a:xfrm>
          <a:prstGeom prst="rect">
            <a:avLst/>
          </a:prstGeom>
          <a:noFill/>
        </p:spPr>
        <p:txBody>
          <a:bodyPr wrap="square">
            <a:spAutoFit/>
          </a:bodyPr>
          <a:lstStyle/>
          <a:p>
            <a:pPr algn="l"/>
            <a:r>
              <a:rPr sz="900" b="1" i="0">
                <a:solidFill>
                  <a:srgbClr val="69B3E7"/>
                </a:solidFill>
              </a:rPr>
              <a:t>14</a:t>
            </a:r>
          </a:p>
        </p:txBody>
      </p:sp>
      <p:sp>
        <p:nvSpPr>
          <p:cNvPr id="36" name="TextBox 35"/>
          <p:cNvSpPr txBox="1"/>
          <p:nvPr/>
        </p:nvSpPr>
        <p:spPr>
          <a:xfrm>
            <a:off x="5193792" y="1499616"/>
            <a:ext cx="3602736" cy="219456"/>
          </a:xfrm>
          <a:prstGeom prst="rect">
            <a:avLst/>
          </a:prstGeom>
          <a:noFill/>
        </p:spPr>
        <p:txBody>
          <a:bodyPr wrap="square">
            <a:spAutoFit/>
          </a:bodyPr>
          <a:lstStyle/>
          <a:p>
            <a:pPr algn="l"/>
            <a:r>
              <a:rPr sz="900" b="0" i="0">
                <a:solidFill>
                  <a:srgbClr val="2C3E50"/>
                </a:solidFill>
              </a:rPr>
              <a:t>Per-Class F1 Analysis</a:t>
            </a:r>
          </a:p>
        </p:txBody>
      </p:sp>
      <p:sp>
        <p:nvSpPr>
          <p:cNvPr id="37" name="TextBox 36"/>
          <p:cNvSpPr txBox="1"/>
          <p:nvPr/>
        </p:nvSpPr>
        <p:spPr>
          <a:xfrm>
            <a:off x="4754880" y="1837944"/>
            <a:ext cx="420624" cy="219456"/>
          </a:xfrm>
          <a:prstGeom prst="rect">
            <a:avLst/>
          </a:prstGeom>
          <a:noFill/>
        </p:spPr>
        <p:txBody>
          <a:bodyPr wrap="square">
            <a:spAutoFit/>
          </a:bodyPr>
          <a:lstStyle/>
          <a:p>
            <a:pPr algn="l"/>
            <a:r>
              <a:rPr sz="900" b="1" i="0">
                <a:solidFill>
                  <a:srgbClr val="69B3E7"/>
                </a:solidFill>
              </a:rPr>
              <a:t>15</a:t>
            </a:r>
          </a:p>
        </p:txBody>
      </p:sp>
      <p:sp>
        <p:nvSpPr>
          <p:cNvPr id="38" name="TextBox 37"/>
          <p:cNvSpPr txBox="1"/>
          <p:nvPr/>
        </p:nvSpPr>
        <p:spPr>
          <a:xfrm>
            <a:off x="5193792" y="1837944"/>
            <a:ext cx="3602736" cy="219456"/>
          </a:xfrm>
          <a:prstGeom prst="rect">
            <a:avLst/>
          </a:prstGeom>
          <a:noFill/>
        </p:spPr>
        <p:txBody>
          <a:bodyPr wrap="square">
            <a:spAutoFit/>
          </a:bodyPr>
          <a:lstStyle/>
          <a:p>
            <a:pPr algn="l"/>
            <a:r>
              <a:rPr sz="900" b="0" i="0">
                <a:solidFill>
                  <a:srgbClr val="2C3E50"/>
                </a:solidFill>
              </a:rPr>
              <a:t>Confusion Matrix</a:t>
            </a:r>
          </a:p>
        </p:txBody>
      </p:sp>
      <p:sp>
        <p:nvSpPr>
          <p:cNvPr id="39" name="TextBox 38"/>
          <p:cNvSpPr txBox="1"/>
          <p:nvPr/>
        </p:nvSpPr>
        <p:spPr>
          <a:xfrm>
            <a:off x="4754880" y="2176272"/>
            <a:ext cx="420624" cy="219456"/>
          </a:xfrm>
          <a:prstGeom prst="rect">
            <a:avLst/>
          </a:prstGeom>
          <a:noFill/>
        </p:spPr>
        <p:txBody>
          <a:bodyPr wrap="square">
            <a:spAutoFit/>
          </a:bodyPr>
          <a:lstStyle/>
          <a:p>
            <a:pPr algn="l"/>
            <a:r>
              <a:rPr sz="900" b="1" i="0">
                <a:solidFill>
                  <a:srgbClr val="69B3E7"/>
                </a:solidFill>
              </a:rPr>
              <a:t>16</a:t>
            </a:r>
          </a:p>
        </p:txBody>
      </p:sp>
      <p:sp>
        <p:nvSpPr>
          <p:cNvPr id="40" name="TextBox 39"/>
          <p:cNvSpPr txBox="1"/>
          <p:nvPr/>
        </p:nvSpPr>
        <p:spPr>
          <a:xfrm>
            <a:off x="5193792" y="2176272"/>
            <a:ext cx="3602736" cy="219456"/>
          </a:xfrm>
          <a:prstGeom prst="rect">
            <a:avLst/>
          </a:prstGeom>
          <a:noFill/>
        </p:spPr>
        <p:txBody>
          <a:bodyPr wrap="square">
            <a:spAutoFit/>
          </a:bodyPr>
          <a:lstStyle/>
          <a:p>
            <a:pPr algn="l"/>
            <a:r>
              <a:rPr sz="900" b="0" i="0">
                <a:solidFill>
                  <a:srgbClr val="2C3E50"/>
                </a:solidFill>
              </a:rPr>
              <a:t>ROC-AUC Curves</a:t>
            </a:r>
          </a:p>
        </p:txBody>
      </p:sp>
      <p:sp>
        <p:nvSpPr>
          <p:cNvPr id="41" name="TextBox 40"/>
          <p:cNvSpPr txBox="1"/>
          <p:nvPr/>
        </p:nvSpPr>
        <p:spPr>
          <a:xfrm>
            <a:off x="4754880" y="2514600"/>
            <a:ext cx="420624" cy="219456"/>
          </a:xfrm>
          <a:prstGeom prst="rect">
            <a:avLst/>
          </a:prstGeom>
          <a:noFill/>
        </p:spPr>
        <p:txBody>
          <a:bodyPr wrap="square">
            <a:spAutoFit/>
          </a:bodyPr>
          <a:lstStyle/>
          <a:p>
            <a:pPr algn="l"/>
            <a:r>
              <a:rPr sz="900" b="1" i="0">
                <a:solidFill>
                  <a:srgbClr val="69B3E7"/>
                </a:solidFill>
              </a:rPr>
              <a:t>17</a:t>
            </a:r>
          </a:p>
        </p:txBody>
      </p:sp>
      <p:sp>
        <p:nvSpPr>
          <p:cNvPr id="42" name="TextBox 41"/>
          <p:cNvSpPr txBox="1"/>
          <p:nvPr/>
        </p:nvSpPr>
        <p:spPr>
          <a:xfrm>
            <a:off x="5193792" y="2514600"/>
            <a:ext cx="3602736" cy="219456"/>
          </a:xfrm>
          <a:prstGeom prst="rect">
            <a:avLst/>
          </a:prstGeom>
          <a:noFill/>
        </p:spPr>
        <p:txBody>
          <a:bodyPr wrap="square">
            <a:spAutoFit/>
          </a:bodyPr>
          <a:lstStyle/>
          <a:p>
            <a:pPr algn="l"/>
            <a:r>
              <a:rPr sz="900" b="0" i="0">
                <a:solidFill>
                  <a:srgbClr val="2C3E50"/>
                </a:solidFill>
              </a:rPr>
              <a:t>Comparison with Mostavi</a:t>
            </a:r>
          </a:p>
        </p:txBody>
      </p:sp>
      <p:sp>
        <p:nvSpPr>
          <p:cNvPr id="43" name="TextBox 42"/>
          <p:cNvSpPr txBox="1"/>
          <p:nvPr/>
        </p:nvSpPr>
        <p:spPr>
          <a:xfrm>
            <a:off x="4754880" y="2852928"/>
            <a:ext cx="420624" cy="219456"/>
          </a:xfrm>
          <a:prstGeom prst="rect">
            <a:avLst/>
          </a:prstGeom>
          <a:noFill/>
        </p:spPr>
        <p:txBody>
          <a:bodyPr wrap="square">
            <a:spAutoFit/>
          </a:bodyPr>
          <a:lstStyle/>
          <a:p>
            <a:pPr algn="l"/>
            <a:r>
              <a:rPr sz="900" b="1" i="0">
                <a:solidFill>
                  <a:srgbClr val="69B3E7"/>
                </a:solidFill>
              </a:rPr>
              <a:t>18</a:t>
            </a:r>
          </a:p>
        </p:txBody>
      </p:sp>
      <p:sp>
        <p:nvSpPr>
          <p:cNvPr id="44" name="TextBox 43"/>
          <p:cNvSpPr txBox="1"/>
          <p:nvPr/>
        </p:nvSpPr>
        <p:spPr>
          <a:xfrm>
            <a:off x="5193792" y="2852928"/>
            <a:ext cx="3602736" cy="219456"/>
          </a:xfrm>
          <a:prstGeom prst="rect">
            <a:avLst/>
          </a:prstGeom>
          <a:noFill/>
        </p:spPr>
        <p:txBody>
          <a:bodyPr wrap="square">
            <a:spAutoFit/>
          </a:bodyPr>
          <a:lstStyle/>
          <a:p>
            <a:pPr algn="l"/>
            <a:r>
              <a:rPr sz="900" b="0" i="0">
                <a:solidFill>
                  <a:srgbClr val="2C3E50"/>
                </a:solidFill>
              </a:rPr>
              <a:t>Biomarker &amp; Gene Importance</a:t>
            </a:r>
          </a:p>
        </p:txBody>
      </p:sp>
      <p:sp>
        <p:nvSpPr>
          <p:cNvPr id="45" name="TextBox 44"/>
          <p:cNvSpPr txBox="1"/>
          <p:nvPr/>
        </p:nvSpPr>
        <p:spPr>
          <a:xfrm>
            <a:off x="4754880" y="3191256"/>
            <a:ext cx="420624" cy="219456"/>
          </a:xfrm>
          <a:prstGeom prst="rect">
            <a:avLst/>
          </a:prstGeom>
          <a:noFill/>
        </p:spPr>
        <p:txBody>
          <a:bodyPr wrap="square">
            <a:spAutoFit/>
          </a:bodyPr>
          <a:lstStyle/>
          <a:p>
            <a:pPr algn="l"/>
            <a:r>
              <a:rPr sz="900" b="1" i="0">
                <a:solidFill>
                  <a:srgbClr val="69B3E7"/>
                </a:solidFill>
              </a:rPr>
              <a:t>19</a:t>
            </a:r>
          </a:p>
        </p:txBody>
      </p:sp>
      <p:sp>
        <p:nvSpPr>
          <p:cNvPr id="46" name="TextBox 45"/>
          <p:cNvSpPr txBox="1"/>
          <p:nvPr/>
        </p:nvSpPr>
        <p:spPr>
          <a:xfrm>
            <a:off x="5193792" y="3191256"/>
            <a:ext cx="3602736" cy="219456"/>
          </a:xfrm>
          <a:prstGeom prst="rect">
            <a:avLst/>
          </a:prstGeom>
          <a:noFill/>
        </p:spPr>
        <p:txBody>
          <a:bodyPr wrap="square">
            <a:spAutoFit/>
          </a:bodyPr>
          <a:lstStyle/>
          <a:p>
            <a:pPr algn="l"/>
            <a:r>
              <a:rPr sz="900" b="0" i="0">
                <a:solidFill>
                  <a:srgbClr val="2C3E50"/>
                </a:solidFill>
              </a:rPr>
              <a:t>Limitations &amp; Future Work</a:t>
            </a:r>
          </a:p>
        </p:txBody>
      </p:sp>
      <p:sp>
        <p:nvSpPr>
          <p:cNvPr id="47" name="TextBox 46"/>
          <p:cNvSpPr txBox="1"/>
          <p:nvPr/>
        </p:nvSpPr>
        <p:spPr>
          <a:xfrm>
            <a:off x="4754880" y="3529584"/>
            <a:ext cx="420624" cy="219456"/>
          </a:xfrm>
          <a:prstGeom prst="rect">
            <a:avLst/>
          </a:prstGeom>
          <a:noFill/>
        </p:spPr>
        <p:txBody>
          <a:bodyPr wrap="square">
            <a:spAutoFit/>
          </a:bodyPr>
          <a:lstStyle/>
          <a:p>
            <a:pPr algn="l"/>
            <a:r>
              <a:rPr sz="900" b="1" i="0">
                <a:solidFill>
                  <a:srgbClr val="69B3E7"/>
                </a:solidFill>
              </a:rPr>
              <a:t>20</a:t>
            </a:r>
          </a:p>
        </p:txBody>
      </p:sp>
      <p:sp>
        <p:nvSpPr>
          <p:cNvPr id="48" name="TextBox 47"/>
          <p:cNvSpPr txBox="1"/>
          <p:nvPr/>
        </p:nvSpPr>
        <p:spPr>
          <a:xfrm>
            <a:off x="5193792" y="3529584"/>
            <a:ext cx="3602736" cy="219456"/>
          </a:xfrm>
          <a:prstGeom prst="rect">
            <a:avLst/>
          </a:prstGeom>
          <a:noFill/>
        </p:spPr>
        <p:txBody>
          <a:bodyPr wrap="square">
            <a:spAutoFit/>
          </a:bodyPr>
          <a:lstStyle/>
          <a:p>
            <a:pPr algn="l"/>
            <a:r>
              <a:rPr sz="900" b="0" i="0">
                <a:solidFill>
                  <a:srgbClr val="2C3E50"/>
                </a:solidFill>
              </a:rPr>
              <a:t>Conclusion</a:t>
            </a:r>
          </a:p>
        </p:txBody>
      </p:sp>
      <p:sp>
        <p:nvSpPr>
          <p:cNvPr id="49" name="TextBox 48"/>
          <p:cNvSpPr txBox="1"/>
          <p:nvPr/>
        </p:nvSpPr>
        <p:spPr>
          <a:xfrm>
            <a:off x="4754880" y="3867912"/>
            <a:ext cx="420624" cy="219456"/>
          </a:xfrm>
          <a:prstGeom prst="rect">
            <a:avLst/>
          </a:prstGeom>
          <a:noFill/>
        </p:spPr>
        <p:txBody>
          <a:bodyPr wrap="square">
            <a:spAutoFit/>
          </a:bodyPr>
          <a:lstStyle/>
          <a:p>
            <a:pPr algn="l"/>
            <a:r>
              <a:rPr sz="900" b="1" i="0">
                <a:solidFill>
                  <a:srgbClr val="69B3E7"/>
                </a:solidFill>
              </a:rPr>
              <a:t>21</a:t>
            </a:r>
          </a:p>
        </p:txBody>
      </p:sp>
      <p:sp>
        <p:nvSpPr>
          <p:cNvPr id="50" name="TextBox 49"/>
          <p:cNvSpPr txBox="1"/>
          <p:nvPr/>
        </p:nvSpPr>
        <p:spPr>
          <a:xfrm>
            <a:off x="5193792" y="3867912"/>
            <a:ext cx="3602736" cy="219456"/>
          </a:xfrm>
          <a:prstGeom prst="rect">
            <a:avLst/>
          </a:prstGeom>
          <a:noFill/>
        </p:spPr>
        <p:txBody>
          <a:bodyPr wrap="square">
            <a:spAutoFit/>
          </a:bodyPr>
          <a:lstStyle/>
          <a:p>
            <a:pPr algn="l"/>
            <a:r>
              <a:rPr sz="900" b="0" i="0">
                <a:solidFill>
                  <a:srgbClr val="2C3E50"/>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INTRODUCTION</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3</a:t>
            </a:r>
          </a:p>
        </p:txBody>
      </p:sp>
      <p:sp>
        <p:nvSpPr>
          <p:cNvPr id="7" name="TextBox 6"/>
          <p:cNvSpPr txBox="1"/>
          <p:nvPr/>
        </p:nvSpPr>
        <p:spPr>
          <a:xfrm>
            <a:off x="274320" y="566928"/>
            <a:ext cx="4114800" cy="256032"/>
          </a:xfrm>
          <a:prstGeom prst="rect">
            <a:avLst/>
          </a:prstGeom>
          <a:noFill/>
        </p:spPr>
        <p:txBody>
          <a:bodyPr wrap="square">
            <a:spAutoFit/>
          </a:bodyPr>
          <a:lstStyle/>
          <a:p>
            <a:pPr algn="l"/>
            <a:r>
              <a:rPr sz="1050" b="1" i="0">
                <a:solidFill>
                  <a:srgbClr val="1A5276"/>
                </a:solidFill>
              </a:rPr>
              <a:t>The Problem</a:t>
            </a:r>
          </a:p>
        </p:txBody>
      </p:sp>
      <p:sp>
        <p:nvSpPr>
          <p:cNvPr id="8" name="Rectangle 7"/>
          <p:cNvSpPr/>
          <p:nvPr/>
        </p:nvSpPr>
        <p:spPr>
          <a:xfrm>
            <a:off x="274320" y="822960"/>
            <a:ext cx="411480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877824"/>
            <a:ext cx="4114800" cy="457200"/>
          </a:xfrm>
          <a:prstGeom prst="rect">
            <a:avLst/>
          </a:prstGeom>
          <a:noFill/>
        </p:spPr>
        <p:txBody>
          <a:bodyPr wrap="square">
            <a:spAutoFit/>
          </a:bodyPr>
          <a:lstStyle/>
          <a:p>
            <a:r>
              <a:rPr sz="950" b="0" i="0">
                <a:solidFill>
                  <a:srgbClr val="2C3E50"/>
                </a:solidFill>
              </a:rPr>
              <a:t>Cancer is 200+ distinct diseases — each one has different drivers, treatments, and outcomes.</a:t>
            </a:r>
          </a:p>
        </p:txBody>
      </p:sp>
      <p:sp>
        <p:nvSpPr>
          <p:cNvPr id="10" name="TextBox 9"/>
          <p:cNvSpPr txBox="1"/>
          <p:nvPr/>
        </p:nvSpPr>
        <p:spPr>
          <a:xfrm>
            <a:off x="274320" y="1389888"/>
            <a:ext cx="4114800" cy="256032"/>
          </a:xfrm>
          <a:prstGeom prst="rect">
            <a:avLst/>
          </a:prstGeom>
          <a:noFill/>
        </p:spPr>
        <p:txBody>
          <a:bodyPr wrap="square">
            <a:spAutoFit/>
          </a:bodyPr>
          <a:lstStyle/>
          <a:p>
            <a:pPr algn="l"/>
            <a:r>
              <a:rPr sz="1050" b="1" i="0">
                <a:solidFill>
                  <a:srgbClr val="1A5276"/>
                </a:solidFill>
              </a:rPr>
              <a:t>Current Diagnostic Approach</a:t>
            </a:r>
          </a:p>
        </p:txBody>
      </p:sp>
      <p:sp>
        <p:nvSpPr>
          <p:cNvPr id="11" name="Rectangle 10"/>
          <p:cNvSpPr/>
          <p:nvPr/>
        </p:nvSpPr>
        <p:spPr>
          <a:xfrm>
            <a:off x="274320" y="1645920"/>
            <a:ext cx="411480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700784"/>
            <a:ext cx="3931920" cy="219456"/>
          </a:xfrm>
          <a:prstGeom prst="rect">
            <a:avLst/>
          </a:prstGeom>
          <a:noFill/>
        </p:spPr>
        <p:txBody>
          <a:bodyPr wrap="square">
            <a:spAutoFit/>
          </a:bodyPr>
          <a:lstStyle/>
          <a:p>
            <a:pPr algn="l"/>
            <a:r>
              <a:rPr sz="900" b="0" i="0">
                <a:solidFill>
                  <a:srgbClr val="2C3E50"/>
                </a:solidFill>
              </a:rPr>
              <a:t>  Tissue biopsy → pathologist review under a microscope</a:t>
            </a:r>
          </a:p>
        </p:txBody>
      </p:sp>
      <p:sp>
        <p:nvSpPr>
          <p:cNvPr id="13" name="TextBox 12"/>
          <p:cNvSpPr txBox="1"/>
          <p:nvPr/>
        </p:nvSpPr>
        <p:spPr>
          <a:xfrm>
            <a:off x="384048" y="1975104"/>
            <a:ext cx="3931920" cy="219456"/>
          </a:xfrm>
          <a:prstGeom prst="rect">
            <a:avLst/>
          </a:prstGeom>
          <a:noFill/>
        </p:spPr>
        <p:txBody>
          <a:bodyPr wrap="square">
            <a:spAutoFit/>
          </a:bodyPr>
          <a:lstStyle/>
          <a:p>
            <a:pPr algn="l"/>
            <a:r>
              <a:rPr sz="900" b="0" i="0">
                <a:solidFill>
                  <a:srgbClr val="2C3E50"/>
                </a:solidFill>
              </a:rPr>
              <a:t>  2–4 hours per sample, $200K+ pathologist cost per year</a:t>
            </a:r>
          </a:p>
        </p:txBody>
      </p:sp>
      <p:sp>
        <p:nvSpPr>
          <p:cNvPr id="14" name="TextBox 13"/>
          <p:cNvSpPr txBox="1"/>
          <p:nvPr/>
        </p:nvSpPr>
        <p:spPr>
          <a:xfrm>
            <a:off x="384048" y="2249424"/>
            <a:ext cx="3931920" cy="219456"/>
          </a:xfrm>
          <a:prstGeom prst="rect">
            <a:avLst/>
          </a:prstGeom>
          <a:noFill/>
        </p:spPr>
        <p:txBody>
          <a:bodyPr wrap="square">
            <a:spAutoFit/>
          </a:bodyPr>
          <a:lstStyle/>
          <a:p>
            <a:pPr algn="l"/>
            <a:r>
              <a:rPr sz="900" b="0" i="0">
                <a:solidFill>
                  <a:srgbClr val="2C3E50"/>
                </a:solidFill>
              </a:rPr>
              <a:t>  5–15% inter-observer disagreement between pathologists</a:t>
            </a:r>
          </a:p>
        </p:txBody>
      </p:sp>
      <p:sp>
        <p:nvSpPr>
          <p:cNvPr id="15" name="TextBox 14"/>
          <p:cNvSpPr txBox="1"/>
          <p:nvPr/>
        </p:nvSpPr>
        <p:spPr>
          <a:xfrm>
            <a:off x="384048" y="2523744"/>
            <a:ext cx="3931920" cy="219456"/>
          </a:xfrm>
          <a:prstGeom prst="rect">
            <a:avLst/>
          </a:prstGeom>
          <a:noFill/>
        </p:spPr>
        <p:txBody>
          <a:bodyPr wrap="square">
            <a:spAutoFit/>
          </a:bodyPr>
          <a:lstStyle/>
          <a:p>
            <a:pPr algn="l"/>
            <a:r>
              <a:rPr sz="900" b="0" i="0">
                <a:solidFill>
                  <a:srgbClr val="2C3E50"/>
                </a:solidFill>
              </a:rPr>
              <a:t>  Some cancers look identical under a microscope but differ at the gene level</a:t>
            </a:r>
          </a:p>
        </p:txBody>
      </p:sp>
      <p:sp>
        <p:nvSpPr>
          <p:cNvPr id="16" name="TextBox 15"/>
          <p:cNvSpPr txBox="1"/>
          <p:nvPr/>
        </p:nvSpPr>
        <p:spPr>
          <a:xfrm>
            <a:off x="384048" y="2798063"/>
            <a:ext cx="3931920" cy="219456"/>
          </a:xfrm>
          <a:prstGeom prst="rect">
            <a:avLst/>
          </a:prstGeom>
          <a:noFill/>
        </p:spPr>
        <p:txBody>
          <a:bodyPr wrap="square">
            <a:spAutoFit/>
          </a:bodyPr>
          <a:lstStyle/>
          <a:p>
            <a:pPr algn="l"/>
            <a:r>
              <a:rPr sz="900" b="0" i="0">
                <a:solidFill>
                  <a:srgbClr val="2C3E50"/>
                </a:solidFill>
              </a:rPr>
              <a:t>  Only ~10,000 pathologists in the USA — bottleneck at scale</a:t>
            </a:r>
          </a:p>
        </p:txBody>
      </p:sp>
      <p:sp>
        <p:nvSpPr>
          <p:cNvPr id="17" name="TextBox 16"/>
          <p:cNvSpPr txBox="1"/>
          <p:nvPr/>
        </p:nvSpPr>
        <p:spPr>
          <a:xfrm>
            <a:off x="274320" y="3127248"/>
            <a:ext cx="4114800" cy="256032"/>
          </a:xfrm>
          <a:prstGeom prst="rect">
            <a:avLst/>
          </a:prstGeom>
          <a:noFill/>
        </p:spPr>
        <p:txBody>
          <a:bodyPr wrap="square">
            <a:spAutoFit/>
          </a:bodyPr>
          <a:lstStyle/>
          <a:p>
            <a:pPr algn="l"/>
            <a:r>
              <a:rPr sz="1050" b="1" i="0">
                <a:solidFill>
                  <a:srgbClr val="1A5276"/>
                </a:solidFill>
              </a:rPr>
              <a:t>Our Solution</a:t>
            </a:r>
          </a:p>
        </p:txBody>
      </p:sp>
      <p:sp>
        <p:nvSpPr>
          <p:cNvPr id="18" name="Rectangle 17"/>
          <p:cNvSpPr/>
          <p:nvPr/>
        </p:nvSpPr>
        <p:spPr>
          <a:xfrm>
            <a:off x="274320" y="3383280"/>
            <a:ext cx="411480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 y="3438144"/>
            <a:ext cx="4114800" cy="548640"/>
          </a:xfrm>
          <a:prstGeom prst="rect">
            <a:avLst/>
          </a:prstGeom>
          <a:noFill/>
        </p:spPr>
        <p:txBody>
          <a:bodyPr wrap="square">
            <a:spAutoFit/>
          </a:bodyPr>
          <a:lstStyle/>
          <a:p>
            <a:r>
              <a:rPr sz="950" b="0" i="0">
                <a:solidFill>
                  <a:srgbClr val="1A5276"/>
                </a:solidFill>
              </a:rPr>
              <a:t>Patient Tissue → RNA-Seq (20,530 genes) → SE-CNN Ensemble → Cancer Type</a:t>
            </a:r>
          </a:p>
        </p:txBody>
      </p:sp>
      <p:sp>
        <p:nvSpPr>
          <p:cNvPr id="20" name="TextBox 19"/>
          <p:cNvSpPr txBox="1"/>
          <p:nvPr/>
        </p:nvSpPr>
        <p:spPr>
          <a:xfrm>
            <a:off x="274320" y="4005072"/>
            <a:ext cx="4114800" cy="219456"/>
          </a:xfrm>
          <a:prstGeom prst="rect">
            <a:avLst/>
          </a:prstGeom>
          <a:noFill/>
        </p:spPr>
        <p:txBody>
          <a:bodyPr wrap="square">
            <a:spAutoFit/>
          </a:bodyPr>
          <a:lstStyle/>
          <a:p>
            <a:r>
              <a:rPr sz="900" b="0" i="0">
                <a:solidFill>
                  <a:srgbClr val="566573"/>
                </a:solidFill>
              </a:rPr>
              <a:t>Under 5 seconds per sample. 94.33% accuracy across 32 cancer types.</a:t>
            </a:r>
          </a:p>
        </p:txBody>
      </p:sp>
      <p:sp>
        <p:nvSpPr>
          <p:cNvPr id="21" name="TextBox 20"/>
          <p:cNvSpPr txBox="1"/>
          <p:nvPr/>
        </p:nvSpPr>
        <p:spPr>
          <a:xfrm>
            <a:off x="4663440" y="566928"/>
            <a:ext cx="4206240" cy="256032"/>
          </a:xfrm>
          <a:prstGeom prst="rect">
            <a:avLst/>
          </a:prstGeom>
          <a:noFill/>
        </p:spPr>
        <p:txBody>
          <a:bodyPr wrap="square">
            <a:spAutoFit/>
          </a:bodyPr>
          <a:lstStyle/>
          <a:p>
            <a:pPr algn="ctr"/>
            <a:r>
              <a:rPr sz="1000" b="1" i="0">
                <a:solidFill>
                  <a:srgbClr val="FFC72C"/>
                </a:solidFill>
              </a:rPr>
              <a:t>FINAL RESULTS</a:t>
            </a:r>
          </a:p>
        </p:txBody>
      </p:sp>
      <p:sp>
        <p:nvSpPr>
          <p:cNvPr id="22" name="Rectangle 21"/>
          <p:cNvSpPr/>
          <p:nvPr/>
        </p:nvSpPr>
        <p:spPr>
          <a:xfrm>
            <a:off x="4663440" y="822960"/>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663440" y="877824"/>
            <a:ext cx="1965960" cy="731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63440" y="932688"/>
            <a:ext cx="1965960" cy="402336"/>
          </a:xfrm>
          <a:prstGeom prst="rect">
            <a:avLst/>
          </a:prstGeom>
          <a:noFill/>
        </p:spPr>
        <p:txBody>
          <a:bodyPr wrap="square">
            <a:spAutoFit/>
          </a:bodyPr>
          <a:lstStyle/>
          <a:p>
            <a:pPr algn="ctr"/>
            <a:r>
              <a:rPr sz="2200" b="1" i="0" dirty="0">
                <a:solidFill>
                  <a:srgbClr val="1A5276"/>
                </a:solidFill>
              </a:rPr>
              <a:t>94.33%</a:t>
            </a:r>
          </a:p>
        </p:txBody>
      </p:sp>
      <p:sp>
        <p:nvSpPr>
          <p:cNvPr id="25" name="TextBox 24"/>
          <p:cNvSpPr txBox="1"/>
          <p:nvPr/>
        </p:nvSpPr>
        <p:spPr>
          <a:xfrm>
            <a:off x="4663440" y="1331366"/>
            <a:ext cx="1965960" cy="256031"/>
          </a:xfrm>
          <a:prstGeom prst="rect">
            <a:avLst/>
          </a:prstGeom>
          <a:noFill/>
        </p:spPr>
        <p:txBody>
          <a:bodyPr wrap="square">
            <a:spAutoFit/>
          </a:bodyPr>
          <a:lstStyle/>
          <a:p>
            <a:pPr algn="ctr"/>
            <a:r>
              <a:rPr sz="900" b="0" i="0">
                <a:solidFill>
                  <a:srgbClr val="566573"/>
                </a:solidFill>
              </a:rPr>
              <a:t>Test Accuracy</a:t>
            </a:r>
          </a:p>
        </p:txBody>
      </p:sp>
      <p:sp>
        <p:nvSpPr>
          <p:cNvPr id="26" name="Rectangle 25"/>
          <p:cNvSpPr/>
          <p:nvPr/>
        </p:nvSpPr>
        <p:spPr>
          <a:xfrm>
            <a:off x="6766560" y="877824"/>
            <a:ext cx="1965960" cy="731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0" y="932688"/>
            <a:ext cx="1965960" cy="402336"/>
          </a:xfrm>
          <a:prstGeom prst="rect">
            <a:avLst/>
          </a:prstGeom>
          <a:noFill/>
        </p:spPr>
        <p:txBody>
          <a:bodyPr wrap="square">
            <a:spAutoFit/>
          </a:bodyPr>
          <a:lstStyle/>
          <a:p>
            <a:pPr algn="ctr"/>
            <a:r>
              <a:rPr sz="2200" b="1" i="0">
                <a:solidFill>
                  <a:srgbClr val="1A5276"/>
                </a:solidFill>
              </a:rPr>
              <a:t>0.9250</a:t>
            </a:r>
          </a:p>
        </p:txBody>
      </p:sp>
      <p:sp>
        <p:nvSpPr>
          <p:cNvPr id="28" name="TextBox 27"/>
          <p:cNvSpPr txBox="1"/>
          <p:nvPr/>
        </p:nvSpPr>
        <p:spPr>
          <a:xfrm>
            <a:off x="6766560" y="1331366"/>
            <a:ext cx="1965960" cy="256031"/>
          </a:xfrm>
          <a:prstGeom prst="rect">
            <a:avLst/>
          </a:prstGeom>
          <a:noFill/>
        </p:spPr>
        <p:txBody>
          <a:bodyPr wrap="square">
            <a:spAutoFit/>
          </a:bodyPr>
          <a:lstStyle/>
          <a:p>
            <a:pPr algn="ctr"/>
            <a:r>
              <a:rPr sz="900" b="0" i="0">
                <a:solidFill>
                  <a:srgbClr val="566573"/>
                </a:solidFill>
              </a:rPr>
              <a:t>Macro F1-Score</a:t>
            </a:r>
          </a:p>
        </p:txBody>
      </p:sp>
      <p:sp>
        <p:nvSpPr>
          <p:cNvPr id="29" name="Rectangle 28"/>
          <p:cNvSpPr/>
          <p:nvPr/>
        </p:nvSpPr>
        <p:spPr>
          <a:xfrm>
            <a:off x="4663440" y="1737360"/>
            <a:ext cx="1965960" cy="731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663440" y="1792224"/>
            <a:ext cx="1965960" cy="402336"/>
          </a:xfrm>
          <a:prstGeom prst="rect">
            <a:avLst/>
          </a:prstGeom>
          <a:noFill/>
        </p:spPr>
        <p:txBody>
          <a:bodyPr wrap="square">
            <a:spAutoFit/>
          </a:bodyPr>
          <a:lstStyle/>
          <a:p>
            <a:pPr algn="ctr"/>
            <a:r>
              <a:rPr sz="2200" b="1" i="0">
                <a:solidFill>
                  <a:srgbClr val="1A5276"/>
                </a:solidFill>
              </a:rPr>
              <a:t>32</a:t>
            </a:r>
          </a:p>
        </p:txBody>
      </p:sp>
      <p:sp>
        <p:nvSpPr>
          <p:cNvPr id="31" name="TextBox 30"/>
          <p:cNvSpPr txBox="1"/>
          <p:nvPr/>
        </p:nvSpPr>
        <p:spPr>
          <a:xfrm>
            <a:off x="4663440" y="2190902"/>
            <a:ext cx="1965960" cy="256031"/>
          </a:xfrm>
          <a:prstGeom prst="rect">
            <a:avLst/>
          </a:prstGeom>
          <a:noFill/>
        </p:spPr>
        <p:txBody>
          <a:bodyPr wrap="square">
            <a:spAutoFit/>
          </a:bodyPr>
          <a:lstStyle/>
          <a:p>
            <a:pPr algn="ctr"/>
            <a:r>
              <a:rPr sz="900" b="0" i="0">
                <a:solidFill>
                  <a:srgbClr val="566573"/>
                </a:solidFill>
              </a:rPr>
              <a:t>Cancer Types</a:t>
            </a:r>
          </a:p>
        </p:txBody>
      </p:sp>
      <p:sp>
        <p:nvSpPr>
          <p:cNvPr id="32" name="Rectangle 31"/>
          <p:cNvSpPr/>
          <p:nvPr/>
        </p:nvSpPr>
        <p:spPr>
          <a:xfrm>
            <a:off x="6766560" y="1737360"/>
            <a:ext cx="1965960" cy="731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66560" y="1792224"/>
            <a:ext cx="1965960" cy="402336"/>
          </a:xfrm>
          <a:prstGeom prst="rect">
            <a:avLst/>
          </a:prstGeom>
          <a:noFill/>
        </p:spPr>
        <p:txBody>
          <a:bodyPr wrap="square">
            <a:spAutoFit/>
          </a:bodyPr>
          <a:lstStyle/>
          <a:p>
            <a:pPr algn="ctr"/>
            <a:r>
              <a:rPr sz="2200" b="1" i="0">
                <a:solidFill>
                  <a:srgbClr val="1A5276"/>
                </a:solidFill>
              </a:rPr>
              <a:t>0.9957</a:t>
            </a:r>
          </a:p>
        </p:txBody>
      </p:sp>
      <p:sp>
        <p:nvSpPr>
          <p:cNvPr id="34" name="TextBox 33"/>
          <p:cNvSpPr txBox="1"/>
          <p:nvPr/>
        </p:nvSpPr>
        <p:spPr>
          <a:xfrm>
            <a:off x="6766560" y="2190902"/>
            <a:ext cx="1965960" cy="256031"/>
          </a:xfrm>
          <a:prstGeom prst="rect">
            <a:avLst/>
          </a:prstGeom>
          <a:noFill/>
        </p:spPr>
        <p:txBody>
          <a:bodyPr wrap="square">
            <a:spAutoFit/>
          </a:bodyPr>
          <a:lstStyle/>
          <a:p>
            <a:pPr algn="ctr"/>
            <a:r>
              <a:rPr sz="900" b="0" i="0">
                <a:solidFill>
                  <a:srgbClr val="566573"/>
                </a:solidFill>
              </a:rPr>
              <a:t>Mean ROC-AUC</a:t>
            </a:r>
          </a:p>
        </p:txBody>
      </p:sp>
      <p:sp>
        <p:nvSpPr>
          <p:cNvPr id="35" name="TextBox 34"/>
          <p:cNvSpPr txBox="1"/>
          <p:nvPr/>
        </p:nvSpPr>
        <p:spPr>
          <a:xfrm>
            <a:off x="4663440" y="2633472"/>
            <a:ext cx="4206240" cy="256032"/>
          </a:xfrm>
          <a:prstGeom prst="rect">
            <a:avLst/>
          </a:prstGeom>
          <a:noFill/>
        </p:spPr>
        <p:txBody>
          <a:bodyPr wrap="square">
            <a:spAutoFit/>
          </a:bodyPr>
          <a:lstStyle/>
          <a:p>
            <a:pPr algn="l"/>
            <a:r>
              <a:rPr sz="1050" b="1" i="0">
                <a:solidFill>
                  <a:srgbClr val="1A5276"/>
                </a:solidFill>
              </a:rPr>
              <a:t>Research Goals</a:t>
            </a:r>
          </a:p>
        </p:txBody>
      </p:sp>
      <p:sp>
        <p:nvSpPr>
          <p:cNvPr id="36" name="Rectangle 35"/>
          <p:cNvSpPr/>
          <p:nvPr/>
        </p:nvSpPr>
        <p:spPr>
          <a:xfrm>
            <a:off x="4663440" y="2889504"/>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773168" y="2944368"/>
            <a:ext cx="4023360" cy="219456"/>
          </a:xfrm>
          <a:prstGeom prst="rect">
            <a:avLst/>
          </a:prstGeom>
          <a:noFill/>
        </p:spPr>
        <p:txBody>
          <a:bodyPr wrap="square">
            <a:spAutoFit/>
          </a:bodyPr>
          <a:lstStyle/>
          <a:p>
            <a:pPr algn="l"/>
            <a:r>
              <a:rPr sz="900" b="0" i="0">
                <a:solidFill>
                  <a:srgbClr val="2C3E50"/>
                </a:solidFill>
              </a:rPr>
              <a:t>✓  Classify 32 cancer types from RNA-Seq gene expression data</a:t>
            </a:r>
          </a:p>
        </p:txBody>
      </p:sp>
      <p:sp>
        <p:nvSpPr>
          <p:cNvPr id="38" name="TextBox 37"/>
          <p:cNvSpPr txBox="1"/>
          <p:nvPr/>
        </p:nvSpPr>
        <p:spPr>
          <a:xfrm>
            <a:off x="4773168" y="3218688"/>
            <a:ext cx="4023360" cy="219456"/>
          </a:xfrm>
          <a:prstGeom prst="rect">
            <a:avLst/>
          </a:prstGeom>
          <a:noFill/>
        </p:spPr>
        <p:txBody>
          <a:bodyPr wrap="square">
            <a:spAutoFit/>
          </a:bodyPr>
          <a:lstStyle/>
          <a:p>
            <a:pPr algn="l"/>
            <a:r>
              <a:rPr sz="900" b="0" i="0">
                <a:solidFill>
                  <a:srgbClr val="2C3E50"/>
                </a:solidFill>
              </a:rPr>
              <a:t>✓  Match or exceed Mostavi et al. 95% accuracy baseline</a:t>
            </a:r>
          </a:p>
        </p:txBody>
      </p:sp>
      <p:sp>
        <p:nvSpPr>
          <p:cNvPr id="39" name="TextBox 38"/>
          <p:cNvSpPr txBox="1"/>
          <p:nvPr/>
        </p:nvSpPr>
        <p:spPr>
          <a:xfrm>
            <a:off x="4773168" y="3493008"/>
            <a:ext cx="4023360" cy="219456"/>
          </a:xfrm>
          <a:prstGeom prst="rect">
            <a:avLst/>
          </a:prstGeom>
          <a:noFill/>
        </p:spPr>
        <p:txBody>
          <a:bodyPr wrap="square">
            <a:spAutoFit/>
          </a:bodyPr>
          <a:lstStyle/>
          <a:p>
            <a:pPr algn="l"/>
            <a:r>
              <a:rPr sz="900" b="0" i="0">
                <a:solidFill>
                  <a:srgbClr val="2C3E50"/>
                </a:solidFill>
              </a:rPr>
              <a:t>✓  Build an interpretable model — extract gene-level biomarkers</a:t>
            </a:r>
          </a:p>
        </p:txBody>
      </p:sp>
      <p:sp>
        <p:nvSpPr>
          <p:cNvPr id="40" name="TextBox 39"/>
          <p:cNvSpPr txBox="1"/>
          <p:nvPr/>
        </p:nvSpPr>
        <p:spPr>
          <a:xfrm>
            <a:off x="4773168" y="3767328"/>
            <a:ext cx="4023360" cy="219456"/>
          </a:xfrm>
          <a:prstGeom prst="rect">
            <a:avLst/>
          </a:prstGeom>
          <a:noFill/>
        </p:spPr>
        <p:txBody>
          <a:bodyPr wrap="square">
            <a:spAutoFit/>
          </a:bodyPr>
          <a:lstStyle/>
          <a:p>
            <a:pPr algn="l"/>
            <a:r>
              <a:rPr sz="900" b="0" i="0">
                <a:solidFill>
                  <a:srgbClr val="2C3E50"/>
                </a:solidFill>
              </a:rPr>
              <a:t>✓  Handle 27:1 class imbalance without losing samples</a:t>
            </a:r>
          </a:p>
        </p:txBody>
      </p:sp>
      <p:sp>
        <p:nvSpPr>
          <p:cNvPr id="41" name="TextBox 40"/>
          <p:cNvSpPr txBox="1"/>
          <p:nvPr/>
        </p:nvSpPr>
        <p:spPr>
          <a:xfrm>
            <a:off x="4773168" y="4041648"/>
            <a:ext cx="4023360" cy="219456"/>
          </a:xfrm>
          <a:prstGeom prst="rect">
            <a:avLst/>
          </a:prstGeom>
          <a:noFill/>
        </p:spPr>
        <p:txBody>
          <a:bodyPr wrap="square">
            <a:spAutoFit/>
          </a:bodyPr>
          <a:lstStyle/>
          <a:p>
            <a:pPr algn="l"/>
            <a:r>
              <a:rPr sz="900" b="0" i="0">
                <a:solidFill>
                  <a:srgbClr val="2C3E50"/>
                </a:solidFill>
              </a:rPr>
              <a:t>✓  Release a reproducible, well-documented training pipeline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DATASET OVERVIEW</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4</a:t>
            </a:r>
          </a:p>
        </p:txBody>
      </p:sp>
      <p:sp>
        <p:nvSpPr>
          <p:cNvPr id="7" name="TextBox 6"/>
          <p:cNvSpPr txBox="1"/>
          <p:nvPr/>
        </p:nvSpPr>
        <p:spPr>
          <a:xfrm>
            <a:off x="274320" y="548640"/>
            <a:ext cx="4206240" cy="256032"/>
          </a:xfrm>
          <a:prstGeom prst="rect">
            <a:avLst/>
          </a:prstGeom>
          <a:noFill/>
        </p:spPr>
        <p:txBody>
          <a:bodyPr wrap="square">
            <a:spAutoFit/>
          </a:bodyPr>
          <a:lstStyle/>
          <a:p>
            <a:pPr algn="l"/>
            <a:r>
              <a:rPr sz="1050" b="1" i="0">
                <a:solidFill>
                  <a:srgbClr val="1A5276"/>
                </a:solidFill>
              </a:rPr>
              <a:t>TCGA Pan-Cancer Dataset</a:t>
            </a:r>
          </a:p>
        </p:txBody>
      </p:sp>
      <p:sp>
        <p:nvSpPr>
          <p:cNvPr id="8" name="Rectangle 7"/>
          <p:cNvSpPr/>
          <p:nvPr/>
        </p:nvSpPr>
        <p:spPr>
          <a:xfrm>
            <a:off x="274320" y="804672"/>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4048" y="859536"/>
            <a:ext cx="4023360" cy="219456"/>
          </a:xfrm>
          <a:prstGeom prst="rect">
            <a:avLst/>
          </a:prstGeom>
          <a:noFill/>
        </p:spPr>
        <p:txBody>
          <a:bodyPr wrap="square">
            <a:spAutoFit/>
          </a:bodyPr>
          <a:lstStyle/>
          <a:p>
            <a:pPr algn="l"/>
            <a:r>
              <a:rPr sz="950" b="0" i="0">
                <a:solidFill>
                  <a:srgbClr val="2C3E50"/>
                </a:solidFill>
              </a:rPr>
              <a:t>▶  Source: The Cancer Genome Atlas (TCGA), NCI + NHGRI, launched 2006</a:t>
            </a:r>
          </a:p>
        </p:txBody>
      </p:sp>
      <p:sp>
        <p:nvSpPr>
          <p:cNvPr id="10" name="TextBox 9"/>
          <p:cNvSpPr txBox="1"/>
          <p:nvPr/>
        </p:nvSpPr>
        <p:spPr>
          <a:xfrm>
            <a:off x="384048" y="1152144"/>
            <a:ext cx="4023360" cy="219456"/>
          </a:xfrm>
          <a:prstGeom prst="rect">
            <a:avLst/>
          </a:prstGeom>
          <a:noFill/>
        </p:spPr>
        <p:txBody>
          <a:bodyPr wrap="square">
            <a:spAutoFit/>
          </a:bodyPr>
          <a:lstStyle/>
          <a:p>
            <a:pPr algn="l"/>
            <a:r>
              <a:rPr sz="950" b="0" i="0">
                <a:solidFill>
                  <a:srgbClr val="2C3E50"/>
                </a:solidFill>
              </a:rPr>
              <a:t>▶  Platform: Illumina HiSeq RNA-Seq (HiSeqV2)</a:t>
            </a:r>
          </a:p>
        </p:txBody>
      </p:sp>
      <p:sp>
        <p:nvSpPr>
          <p:cNvPr id="11" name="TextBox 10"/>
          <p:cNvSpPr txBox="1"/>
          <p:nvPr/>
        </p:nvSpPr>
        <p:spPr>
          <a:xfrm>
            <a:off x="384048" y="1444752"/>
            <a:ext cx="4023360" cy="219456"/>
          </a:xfrm>
          <a:prstGeom prst="rect">
            <a:avLst/>
          </a:prstGeom>
          <a:noFill/>
        </p:spPr>
        <p:txBody>
          <a:bodyPr wrap="square">
            <a:spAutoFit/>
          </a:bodyPr>
          <a:lstStyle/>
          <a:p>
            <a:pPr algn="l"/>
            <a:r>
              <a:rPr sz="950" b="0" i="0">
                <a:solidFill>
                  <a:srgbClr val="2C3E50"/>
                </a:solidFill>
              </a:rPr>
              <a:t>▶  Format: HDF5 file — 10,459 samples × 20,530 genes</a:t>
            </a:r>
          </a:p>
        </p:txBody>
      </p:sp>
      <p:sp>
        <p:nvSpPr>
          <p:cNvPr id="12" name="TextBox 11"/>
          <p:cNvSpPr txBox="1"/>
          <p:nvPr/>
        </p:nvSpPr>
        <p:spPr>
          <a:xfrm>
            <a:off x="384048" y="1737360"/>
            <a:ext cx="4023360" cy="219456"/>
          </a:xfrm>
          <a:prstGeom prst="rect">
            <a:avLst/>
          </a:prstGeom>
          <a:noFill/>
        </p:spPr>
        <p:txBody>
          <a:bodyPr wrap="square">
            <a:spAutoFit/>
          </a:bodyPr>
          <a:lstStyle/>
          <a:p>
            <a:pPr algn="l"/>
            <a:r>
              <a:rPr sz="950" b="0" i="0">
                <a:solidFill>
                  <a:srgbClr val="2C3E50"/>
                </a:solidFill>
              </a:rPr>
              <a:t>▶  Task: 32-class multi-class classification</a:t>
            </a:r>
          </a:p>
        </p:txBody>
      </p:sp>
      <p:sp>
        <p:nvSpPr>
          <p:cNvPr id="13" name="TextBox 12"/>
          <p:cNvSpPr txBox="1"/>
          <p:nvPr/>
        </p:nvSpPr>
        <p:spPr>
          <a:xfrm>
            <a:off x="384048" y="2029968"/>
            <a:ext cx="4023360" cy="219456"/>
          </a:xfrm>
          <a:prstGeom prst="rect">
            <a:avLst/>
          </a:prstGeom>
          <a:noFill/>
        </p:spPr>
        <p:txBody>
          <a:bodyPr wrap="square">
            <a:spAutoFit/>
          </a:bodyPr>
          <a:lstStyle/>
          <a:p>
            <a:pPr algn="l"/>
            <a:r>
              <a:rPr sz="950" b="0" i="0">
                <a:solidFill>
                  <a:srgbClr val="2C3E50"/>
                </a:solidFill>
              </a:rPr>
              <a:t>▶  Split: 70% train / 15% validation / 15% test (stratified)</a:t>
            </a:r>
          </a:p>
        </p:txBody>
      </p:sp>
      <p:sp>
        <p:nvSpPr>
          <p:cNvPr id="14" name="TextBox 13"/>
          <p:cNvSpPr txBox="1"/>
          <p:nvPr/>
        </p:nvSpPr>
        <p:spPr>
          <a:xfrm>
            <a:off x="384048" y="2322576"/>
            <a:ext cx="4023360" cy="219456"/>
          </a:xfrm>
          <a:prstGeom prst="rect">
            <a:avLst/>
          </a:prstGeom>
          <a:noFill/>
        </p:spPr>
        <p:txBody>
          <a:bodyPr wrap="square">
            <a:spAutoFit/>
          </a:bodyPr>
          <a:lstStyle/>
          <a:p>
            <a:pPr algn="l"/>
            <a:r>
              <a:rPr sz="950" b="0" i="0">
                <a:solidFill>
                  <a:srgbClr val="2C3E50"/>
                </a:solidFill>
              </a:rPr>
              <a:t>▶  Label: READ merged into COAD → 32 final cancer classes</a:t>
            </a:r>
          </a:p>
        </p:txBody>
      </p:sp>
      <p:sp>
        <p:nvSpPr>
          <p:cNvPr id="15" name="TextBox 14"/>
          <p:cNvSpPr txBox="1"/>
          <p:nvPr/>
        </p:nvSpPr>
        <p:spPr>
          <a:xfrm>
            <a:off x="274320" y="2880360"/>
            <a:ext cx="4206240" cy="256032"/>
          </a:xfrm>
          <a:prstGeom prst="rect">
            <a:avLst/>
          </a:prstGeom>
          <a:noFill/>
        </p:spPr>
        <p:txBody>
          <a:bodyPr wrap="square">
            <a:spAutoFit/>
          </a:bodyPr>
          <a:lstStyle/>
          <a:p>
            <a:pPr algn="l"/>
            <a:r>
              <a:rPr sz="1050" b="1" i="0">
                <a:solidFill>
                  <a:srgbClr val="1A5276"/>
                </a:solidFill>
              </a:rPr>
              <a:t>Key Statistics</a:t>
            </a:r>
          </a:p>
        </p:txBody>
      </p:sp>
      <p:sp>
        <p:nvSpPr>
          <p:cNvPr id="16" name="Rectangle 15"/>
          <p:cNvSpPr/>
          <p:nvPr/>
        </p:nvSpPr>
        <p:spPr>
          <a:xfrm>
            <a:off x="274320" y="3136392"/>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74320" y="3200400"/>
            <a:ext cx="1920240" cy="731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4320" y="3255264"/>
            <a:ext cx="1920240" cy="402336"/>
          </a:xfrm>
          <a:prstGeom prst="rect">
            <a:avLst/>
          </a:prstGeom>
          <a:noFill/>
        </p:spPr>
        <p:txBody>
          <a:bodyPr wrap="square">
            <a:spAutoFit/>
          </a:bodyPr>
          <a:lstStyle/>
          <a:p>
            <a:pPr algn="ctr"/>
            <a:r>
              <a:rPr sz="1800" b="1" i="0">
                <a:solidFill>
                  <a:srgbClr val="1A5276"/>
                </a:solidFill>
              </a:rPr>
              <a:t>10,459</a:t>
            </a:r>
          </a:p>
        </p:txBody>
      </p:sp>
      <p:sp>
        <p:nvSpPr>
          <p:cNvPr id="19" name="TextBox 18"/>
          <p:cNvSpPr txBox="1"/>
          <p:nvPr/>
        </p:nvSpPr>
        <p:spPr>
          <a:xfrm>
            <a:off x="274320" y="3653942"/>
            <a:ext cx="1920240" cy="256031"/>
          </a:xfrm>
          <a:prstGeom prst="rect">
            <a:avLst/>
          </a:prstGeom>
          <a:noFill/>
        </p:spPr>
        <p:txBody>
          <a:bodyPr wrap="square">
            <a:spAutoFit/>
          </a:bodyPr>
          <a:lstStyle/>
          <a:p>
            <a:pPr algn="ctr"/>
            <a:r>
              <a:rPr sz="900" b="0" i="0">
                <a:solidFill>
                  <a:srgbClr val="566573"/>
                </a:solidFill>
              </a:rPr>
              <a:t>Patient Samples</a:t>
            </a:r>
          </a:p>
        </p:txBody>
      </p:sp>
      <p:sp>
        <p:nvSpPr>
          <p:cNvPr id="20" name="Rectangle 19"/>
          <p:cNvSpPr/>
          <p:nvPr/>
        </p:nvSpPr>
        <p:spPr>
          <a:xfrm>
            <a:off x="2331720" y="3200400"/>
            <a:ext cx="1920240" cy="73152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331720" y="3255264"/>
            <a:ext cx="1920240" cy="402336"/>
          </a:xfrm>
          <a:prstGeom prst="rect">
            <a:avLst/>
          </a:prstGeom>
          <a:noFill/>
        </p:spPr>
        <p:txBody>
          <a:bodyPr wrap="square">
            <a:spAutoFit/>
          </a:bodyPr>
          <a:lstStyle/>
          <a:p>
            <a:pPr algn="ctr"/>
            <a:r>
              <a:rPr sz="1800" b="1" i="0">
                <a:solidFill>
                  <a:srgbClr val="1A5276"/>
                </a:solidFill>
              </a:rPr>
              <a:t>20,530</a:t>
            </a:r>
          </a:p>
        </p:txBody>
      </p:sp>
      <p:sp>
        <p:nvSpPr>
          <p:cNvPr id="22" name="TextBox 21"/>
          <p:cNvSpPr txBox="1"/>
          <p:nvPr/>
        </p:nvSpPr>
        <p:spPr>
          <a:xfrm>
            <a:off x="2331720" y="3653942"/>
            <a:ext cx="1920240" cy="256031"/>
          </a:xfrm>
          <a:prstGeom prst="rect">
            <a:avLst/>
          </a:prstGeom>
          <a:noFill/>
        </p:spPr>
        <p:txBody>
          <a:bodyPr wrap="square">
            <a:spAutoFit/>
          </a:bodyPr>
          <a:lstStyle/>
          <a:p>
            <a:pPr algn="ctr"/>
            <a:r>
              <a:rPr sz="900" b="0" i="0">
                <a:solidFill>
                  <a:srgbClr val="566573"/>
                </a:solidFill>
              </a:rPr>
              <a:t>Genes per Sample</a:t>
            </a:r>
          </a:p>
        </p:txBody>
      </p:sp>
      <p:sp>
        <p:nvSpPr>
          <p:cNvPr id="23" name="Rectangle 22"/>
          <p:cNvSpPr/>
          <p:nvPr/>
        </p:nvSpPr>
        <p:spPr>
          <a:xfrm>
            <a:off x="274320" y="4069080"/>
            <a:ext cx="1920240" cy="6400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4320" y="4123944"/>
            <a:ext cx="1920240" cy="352044"/>
          </a:xfrm>
          <a:prstGeom prst="rect">
            <a:avLst/>
          </a:prstGeom>
          <a:noFill/>
        </p:spPr>
        <p:txBody>
          <a:bodyPr wrap="square">
            <a:spAutoFit/>
          </a:bodyPr>
          <a:lstStyle/>
          <a:p>
            <a:pPr algn="ctr"/>
            <a:r>
              <a:rPr sz="1800" b="1" i="0">
                <a:solidFill>
                  <a:srgbClr val="1A5276"/>
                </a:solidFill>
              </a:rPr>
              <a:t>32</a:t>
            </a:r>
          </a:p>
        </p:txBody>
      </p:sp>
      <p:sp>
        <p:nvSpPr>
          <p:cNvPr id="25" name="TextBox 24"/>
          <p:cNvSpPr txBox="1"/>
          <p:nvPr/>
        </p:nvSpPr>
        <p:spPr>
          <a:xfrm>
            <a:off x="274320" y="4465929"/>
            <a:ext cx="1920240" cy="224027"/>
          </a:xfrm>
          <a:prstGeom prst="rect">
            <a:avLst/>
          </a:prstGeom>
          <a:noFill/>
        </p:spPr>
        <p:txBody>
          <a:bodyPr wrap="square">
            <a:spAutoFit/>
          </a:bodyPr>
          <a:lstStyle/>
          <a:p>
            <a:pPr algn="ctr"/>
            <a:r>
              <a:rPr sz="900" b="0" i="0">
                <a:solidFill>
                  <a:srgbClr val="566573"/>
                </a:solidFill>
              </a:rPr>
              <a:t>Cancer Types</a:t>
            </a:r>
          </a:p>
        </p:txBody>
      </p:sp>
      <p:sp>
        <p:nvSpPr>
          <p:cNvPr id="26" name="Rectangle 25"/>
          <p:cNvSpPr/>
          <p:nvPr/>
        </p:nvSpPr>
        <p:spPr>
          <a:xfrm>
            <a:off x="2331720" y="4069080"/>
            <a:ext cx="1920240" cy="6400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331720" y="4123944"/>
            <a:ext cx="1920240" cy="352044"/>
          </a:xfrm>
          <a:prstGeom prst="rect">
            <a:avLst/>
          </a:prstGeom>
          <a:noFill/>
        </p:spPr>
        <p:txBody>
          <a:bodyPr wrap="square">
            <a:spAutoFit/>
          </a:bodyPr>
          <a:lstStyle/>
          <a:p>
            <a:pPr algn="ctr"/>
            <a:r>
              <a:rPr sz="1800" b="1" i="0">
                <a:solidFill>
                  <a:srgbClr val="1A5276"/>
                </a:solidFill>
              </a:rPr>
              <a:t>27:1</a:t>
            </a:r>
          </a:p>
        </p:txBody>
      </p:sp>
      <p:sp>
        <p:nvSpPr>
          <p:cNvPr id="28" name="TextBox 27"/>
          <p:cNvSpPr txBox="1"/>
          <p:nvPr/>
        </p:nvSpPr>
        <p:spPr>
          <a:xfrm>
            <a:off x="2331720" y="4465929"/>
            <a:ext cx="1920240" cy="224027"/>
          </a:xfrm>
          <a:prstGeom prst="rect">
            <a:avLst/>
          </a:prstGeom>
          <a:noFill/>
        </p:spPr>
        <p:txBody>
          <a:bodyPr wrap="square">
            <a:spAutoFit/>
          </a:bodyPr>
          <a:lstStyle/>
          <a:p>
            <a:pPr algn="ctr"/>
            <a:r>
              <a:rPr sz="900" b="0" i="0">
                <a:solidFill>
                  <a:srgbClr val="566573"/>
                </a:solidFill>
              </a:rPr>
              <a:t>Max Imbalance Ratio</a:t>
            </a:r>
          </a:p>
        </p:txBody>
      </p:sp>
      <p:sp>
        <p:nvSpPr>
          <p:cNvPr id="29" name="TextBox 28"/>
          <p:cNvSpPr txBox="1"/>
          <p:nvPr/>
        </p:nvSpPr>
        <p:spPr>
          <a:xfrm>
            <a:off x="4663440" y="548640"/>
            <a:ext cx="4206240" cy="256032"/>
          </a:xfrm>
          <a:prstGeom prst="rect">
            <a:avLst/>
          </a:prstGeom>
          <a:noFill/>
        </p:spPr>
        <p:txBody>
          <a:bodyPr wrap="square">
            <a:spAutoFit/>
          </a:bodyPr>
          <a:lstStyle/>
          <a:p>
            <a:pPr algn="l"/>
            <a:r>
              <a:rPr sz="1050" b="1" i="0">
                <a:solidFill>
                  <a:srgbClr val="1A5276"/>
                </a:solidFill>
              </a:rPr>
              <a:t>Class Size Extremes</a:t>
            </a:r>
          </a:p>
        </p:txBody>
      </p:sp>
      <p:sp>
        <p:nvSpPr>
          <p:cNvPr id="30" name="Rectangle 29"/>
          <p:cNvSpPr/>
          <p:nvPr/>
        </p:nvSpPr>
        <p:spPr>
          <a:xfrm>
            <a:off x="4663440" y="804672"/>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63440" y="859536"/>
            <a:ext cx="1005840" cy="219456"/>
          </a:xfrm>
          <a:prstGeom prst="rect">
            <a:avLst/>
          </a:prstGeom>
          <a:noFill/>
        </p:spPr>
        <p:txBody>
          <a:bodyPr wrap="square">
            <a:spAutoFit/>
          </a:bodyPr>
          <a:lstStyle/>
          <a:p>
            <a:pPr algn="l"/>
            <a:r>
              <a:rPr sz="900" b="1" i="0">
                <a:solidFill>
                  <a:srgbClr val="1A5276"/>
                </a:solidFill>
              </a:rPr>
              <a:t>Largest:</a:t>
            </a:r>
          </a:p>
        </p:txBody>
      </p:sp>
      <p:sp>
        <p:nvSpPr>
          <p:cNvPr id="32" name="TextBox 31"/>
          <p:cNvSpPr txBox="1"/>
          <p:nvPr/>
        </p:nvSpPr>
        <p:spPr>
          <a:xfrm>
            <a:off x="5687568" y="859536"/>
            <a:ext cx="1828800" cy="219456"/>
          </a:xfrm>
          <a:prstGeom prst="rect">
            <a:avLst/>
          </a:prstGeom>
          <a:noFill/>
        </p:spPr>
        <p:txBody>
          <a:bodyPr wrap="square">
            <a:spAutoFit/>
          </a:bodyPr>
          <a:lstStyle/>
          <a:p>
            <a:pPr algn="l"/>
            <a:r>
              <a:rPr sz="900" b="0" i="0">
                <a:solidFill>
                  <a:srgbClr val="2C3E50"/>
                </a:solidFill>
              </a:rPr>
              <a:t>BRCA (Breast Invasive Carcinoma)</a:t>
            </a:r>
          </a:p>
        </p:txBody>
      </p:sp>
      <p:sp>
        <p:nvSpPr>
          <p:cNvPr id="33" name="TextBox 32"/>
          <p:cNvSpPr txBox="1"/>
          <p:nvPr/>
        </p:nvSpPr>
        <p:spPr>
          <a:xfrm>
            <a:off x="7543800" y="859536"/>
            <a:ext cx="1280160" cy="219456"/>
          </a:xfrm>
          <a:prstGeom prst="rect">
            <a:avLst/>
          </a:prstGeom>
          <a:noFill/>
        </p:spPr>
        <p:txBody>
          <a:bodyPr wrap="square">
            <a:spAutoFit/>
          </a:bodyPr>
          <a:lstStyle/>
          <a:p>
            <a:pPr algn="l"/>
            <a:r>
              <a:rPr sz="900" b="1" i="0">
                <a:solidFill>
                  <a:srgbClr val="69B3E7"/>
                </a:solidFill>
              </a:rPr>
              <a:t>1,218 samples</a:t>
            </a:r>
          </a:p>
        </p:txBody>
      </p:sp>
      <p:sp>
        <p:nvSpPr>
          <p:cNvPr id="34" name="TextBox 33"/>
          <p:cNvSpPr txBox="1"/>
          <p:nvPr/>
        </p:nvSpPr>
        <p:spPr>
          <a:xfrm>
            <a:off x="4663440" y="1170432"/>
            <a:ext cx="1005840" cy="219456"/>
          </a:xfrm>
          <a:prstGeom prst="rect">
            <a:avLst/>
          </a:prstGeom>
          <a:noFill/>
        </p:spPr>
        <p:txBody>
          <a:bodyPr wrap="square">
            <a:spAutoFit/>
          </a:bodyPr>
          <a:lstStyle/>
          <a:p>
            <a:pPr algn="l"/>
            <a:r>
              <a:rPr sz="900" b="1" i="0">
                <a:solidFill>
                  <a:srgbClr val="1A5276"/>
                </a:solidFill>
              </a:rPr>
              <a:t>Smallest:</a:t>
            </a:r>
          </a:p>
        </p:txBody>
      </p:sp>
      <p:sp>
        <p:nvSpPr>
          <p:cNvPr id="35" name="TextBox 34"/>
          <p:cNvSpPr txBox="1"/>
          <p:nvPr/>
        </p:nvSpPr>
        <p:spPr>
          <a:xfrm>
            <a:off x="5687568" y="1170432"/>
            <a:ext cx="1828800" cy="219456"/>
          </a:xfrm>
          <a:prstGeom prst="rect">
            <a:avLst/>
          </a:prstGeom>
          <a:noFill/>
        </p:spPr>
        <p:txBody>
          <a:bodyPr wrap="square">
            <a:spAutoFit/>
          </a:bodyPr>
          <a:lstStyle/>
          <a:p>
            <a:pPr algn="l"/>
            <a:r>
              <a:rPr sz="900" b="0" i="0">
                <a:solidFill>
                  <a:srgbClr val="2C3E50"/>
                </a:solidFill>
              </a:rPr>
              <a:t>CHOL (Cholangiocarcinoma)</a:t>
            </a:r>
          </a:p>
        </p:txBody>
      </p:sp>
      <p:sp>
        <p:nvSpPr>
          <p:cNvPr id="36" name="TextBox 35"/>
          <p:cNvSpPr txBox="1"/>
          <p:nvPr/>
        </p:nvSpPr>
        <p:spPr>
          <a:xfrm>
            <a:off x="7543800" y="1170432"/>
            <a:ext cx="1280160" cy="219456"/>
          </a:xfrm>
          <a:prstGeom prst="rect">
            <a:avLst/>
          </a:prstGeom>
          <a:noFill/>
        </p:spPr>
        <p:txBody>
          <a:bodyPr wrap="square">
            <a:spAutoFit/>
          </a:bodyPr>
          <a:lstStyle/>
          <a:p>
            <a:pPr algn="l"/>
            <a:r>
              <a:rPr sz="900" b="1" i="0">
                <a:solidFill>
                  <a:srgbClr val="69B3E7"/>
                </a:solidFill>
              </a:rPr>
              <a:t>45 samples</a:t>
            </a:r>
          </a:p>
        </p:txBody>
      </p:sp>
      <p:sp>
        <p:nvSpPr>
          <p:cNvPr id="37" name="TextBox 36"/>
          <p:cNvSpPr txBox="1"/>
          <p:nvPr/>
        </p:nvSpPr>
        <p:spPr>
          <a:xfrm>
            <a:off x="4663440" y="1554480"/>
            <a:ext cx="4206240" cy="256032"/>
          </a:xfrm>
          <a:prstGeom prst="rect">
            <a:avLst/>
          </a:prstGeom>
          <a:noFill/>
        </p:spPr>
        <p:txBody>
          <a:bodyPr wrap="square">
            <a:spAutoFit/>
          </a:bodyPr>
          <a:lstStyle/>
          <a:p>
            <a:pPr algn="l"/>
            <a:r>
              <a:rPr sz="1050" b="1" i="0">
                <a:solidFill>
                  <a:srgbClr val="1A5276"/>
                </a:solidFill>
              </a:rPr>
              <a:t>Data Split</a:t>
            </a:r>
          </a:p>
        </p:txBody>
      </p:sp>
      <p:sp>
        <p:nvSpPr>
          <p:cNvPr id="38" name="Rectangle 37"/>
          <p:cNvSpPr/>
          <p:nvPr/>
        </p:nvSpPr>
        <p:spPr>
          <a:xfrm>
            <a:off x="4663440" y="1810512"/>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1883664"/>
            <a:ext cx="1417320" cy="237744"/>
          </a:xfrm>
          <a:prstGeom prst="rect">
            <a:avLst/>
          </a:prstGeom>
          <a:noFill/>
        </p:spPr>
        <p:txBody>
          <a:bodyPr wrap="square">
            <a:spAutoFit/>
          </a:bodyPr>
          <a:lstStyle/>
          <a:p>
            <a:pPr algn="l"/>
            <a:r>
              <a:rPr sz="900" b="1" i="0">
                <a:solidFill>
                  <a:srgbClr val="1A5276"/>
                </a:solidFill>
              </a:rPr>
              <a:t>Split</a:t>
            </a:r>
          </a:p>
        </p:txBody>
      </p:sp>
      <p:sp>
        <p:nvSpPr>
          <p:cNvPr id="40" name="TextBox 39"/>
          <p:cNvSpPr txBox="1"/>
          <p:nvPr/>
        </p:nvSpPr>
        <p:spPr>
          <a:xfrm>
            <a:off x="6217920" y="1883664"/>
            <a:ext cx="1417320" cy="237744"/>
          </a:xfrm>
          <a:prstGeom prst="rect">
            <a:avLst/>
          </a:prstGeom>
          <a:noFill/>
        </p:spPr>
        <p:txBody>
          <a:bodyPr wrap="square">
            <a:spAutoFit/>
          </a:bodyPr>
          <a:lstStyle/>
          <a:p>
            <a:pPr algn="l"/>
            <a:r>
              <a:rPr sz="900" b="1" i="0">
                <a:solidFill>
                  <a:srgbClr val="1A5276"/>
                </a:solidFill>
              </a:rPr>
              <a:t>Samples</a:t>
            </a:r>
          </a:p>
        </p:txBody>
      </p:sp>
      <p:sp>
        <p:nvSpPr>
          <p:cNvPr id="41" name="TextBox 40"/>
          <p:cNvSpPr txBox="1"/>
          <p:nvPr/>
        </p:nvSpPr>
        <p:spPr>
          <a:xfrm>
            <a:off x="7680960" y="1883664"/>
            <a:ext cx="1417320" cy="237744"/>
          </a:xfrm>
          <a:prstGeom prst="rect">
            <a:avLst/>
          </a:prstGeom>
          <a:noFill/>
        </p:spPr>
        <p:txBody>
          <a:bodyPr wrap="square">
            <a:spAutoFit/>
          </a:bodyPr>
          <a:lstStyle/>
          <a:p>
            <a:pPr algn="l"/>
            <a:r>
              <a:rPr sz="900" b="1" i="0">
                <a:solidFill>
                  <a:srgbClr val="1A5276"/>
                </a:solidFill>
              </a:rPr>
              <a:t>%</a:t>
            </a:r>
          </a:p>
        </p:txBody>
      </p:sp>
      <p:sp>
        <p:nvSpPr>
          <p:cNvPr id="42" name="Rectangle 41"/>
          <p:cNvSpPr/>
          <p:nvPr/>
        </p:nvSpPr>
        <p:spPr>
          <a:xfrm>
            <a:off x="4663440" y="2176272"/>
            <a:ext cx="4206240" cy="25603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63440" y="2176272"/>
            <a:ext cx="1508760" cy="237744"/>
          </a:xfrm>
          <a:prstGeom prst="rect">
            <a:avLst/>
          </a:prstGeom>
          <a:noFill/>
        </p:spPr>
        <p:txBody>
          <a:bodyPr wrap="square">
            <a:spAutoFit/>
          </a:bodyPr>
          <a:lstStyle/>
          <a:p>
            <a:pPr algn="l"/>
            <a:r>
              <a:rPr sz="900" b="0" i="0">
                <a:solidFill>
                  <a:srgbClr val="2C3E50"/>
                </a:solidFill>
              </a:rPr>
              <a:t>Training Set</a:t>
            </a:r>
          </a:p>
        </p:txBody>
      </p:sp>
      <p:sp>
        <p:nvSpPr>
          <p:cNvPr id="44" name="TextBox 43"/>
          <p:cNvSpPr txBox="1"/>
          <p:nvPr/>
        </p:nvSpPr>
        <p:spPr>
          <a:xfrm>
            <a:off x="6217920" y="2176272"/>
            <a:ext cx="1417320" cy="237744"/>
          </a:xfrm>
          <a:prstGeom prst="rect">
            <a:avLst/>
          </a:prstGeom>
          <a:noFill/>
        </p:spPr>
        <p:txBody>
          <a:bodyPr wrap="square">
            <a:spAutoFit/>
          </a:bodyPr>
          <a:lstStyle/>
          <a:p>
            <a:pPr algn="l"/>
            <a:r>
              <a:rPr sz="900" b="1" i="0">
                <a:solidFill>
                  <a:srgbClr val="1A5276"/>
                </a:solidFill>
              </a:rPr>
              <a:t>7,321</a:t>
            </a:r>
          </a:p>
        </p:txBody>
      </p:sp>
      <p:sp>
        <p:nvSpPr>
          <p:cNvPr id="45" name="TextBox 44"/>
          <p:cNvSpPr txBox="1"/>
          <p:nvPr/>
        </p:nvSpPr>
        <p:spPr>
          <a:xfrm>
            <a:off x="7680960" y="2176272"/>
            <a:ext cx="1005840" cy="237744"/>
          </a:xfrm>
          <a:prstGeom prst="rect">
            <a:avLst/>
          </a:prstGeom>
          <a:noFill/>
        </p:spPr>
        <p:txBody>
          <a:bodyPr wrap="square">
            <a:spAutoFit/>
          </a:bodyPr>
          <a:lstStyle/>
          <a:p>
            <a:pPr algn="l"/>
            <a:r>
              <a:rPr sz="900" b="0" i="0">
                <a:solidFill>
                  <a:srgbClr val="2C3E50"/>
                </a:solidFill>
              </a:rPr>
              <a:t>70%</a:t>
            </a:r>
          </a:p>
        </p:txBody>
      </p:sp>
      <p:sp>
        <p:nvSpPr>
          <p:cNvPr id="46" name="Rectangle 45"/>
          <p:cNvSpPr/>
          <p:nvPr/>
        </p:nvSpPr>
        <p:spPr>
          <a:xfrm>
            <a:off x="4663440" y="2450592"/>
            <a:ext cx="4206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663440" y="2450592"/>
            <a:ext cx="1508760" cy="237744"/>
          </a:xfrm>
          <a:prstGeom prst="rect">
            <a:avLst/>
          </a:prstGeom>
          <a:noFill/>
        </p:spPr>
        <p:txBody>
          <a:bodyPr wrap="square">
            <a:spAutoFit/>
          </a:bodyPr>
          <a:lstStyle/>
          <a:p>
            <a:pPr algn="l"/>
            <a:r>
              <a:rPr sz="900" b="0" i="0">
                <a:solidFill>
                  <a:srgbClr val="2C3E50"/>
                </a:solidFill>
              </a:rPr>
              <a:t>Validation Set</a:t>
            </a:r>
          </a:p>
        </p:txBody>
      </p:sp>
      <p:sp>
        <p:nvSpPr>
          <p:cNvPr id="48" name="TextBox 47"/>
          <p:cNvSpPr txBox="1"/>
          <p:nvPr/>
        </p:nvSpPr>
        <p:spPr>
          <a:xfrm>
            <a:off x="6217920" y="2450592"/>
            <a:ext cx="1417320" cy="237744"/>
          </a:xfrm>
          <a:prstGeom prst="rect">
            <a:avLst/>
          </a:prstGeom>
          <a:noFill/>
        </p:spPr>
        <p:txBody>
          <a:bodyPr wrap="square">
            <a:spAutoFit/>
          </a:bodyPr>
          <a:lstStyle/>
          <a:p>
            <a:pPr algn="l"/>
            <a:r>
              <a:rPr sz="900" b="1" i="0">
                <a:solidFill>
                  <a:srgbClr val="1A5276"/>
                </a:solidFill>
              </a:rPr>
              <a:t>1,569</a:t>
            </a:r>
          </a:p>
        </p:txBody>
      </p:sp>
      <p:sp>
        <p:nvSpPr>
          <p:cNvPr id="49" name="TextBox 48"/>
          <p:cNvSpPr txBox="1"/>
          <p:nvPr/>
        </p:nvSpPr>
        <p:spPr>
          <a:xfrm>
            <a:off x="7680960" y="2450592"/>
            <a:ext cx="1005840" cy="237744"/>
          </a:xfrm>
          <a:prstGeom prst="rect">
            <a:avLst/>
          </a:prstGeom>
          <a:noFill/>
        </p:spPr>
        <p:txBody>
          <a:bodyPr wrap="square">
            <a:spAutoFit/>
          </a:bodyPr>
          <a:lstStyle/>
          <a:p>
            <a:pPr algn="l"/>
            <a:r>
              <a:rPr sz="900" b="0" i="0">
                <a:solidFill>
                  <a:srgbClr val="2C3E50"/>
                </a:solidFill>
              </a:rPr>
              <a:t>15%</a:t>
            </a:r>
          </a:p>
        </p:txBody>
      </p:sp>
      <p:sp>
        <p:nvSpPr>
          <p:cNvPr id="50" name="Rectangle 49"/>
          <p:cNvSpPr/>
          <p:nvPr/>
        </p:nvSpPr>
        <p:spPr>
          <a:xfrm>
            <a:off x="4663440" y="2724912"/>
            <a:ext cx="4206240" cy="256032"/>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663440" y="2724912"/>
            <a:ext cx="1508760" cy="237744"/>
          </a:xfrm>
          <a:prstGeom prst="rect">
            <a:avLst/>
          </a:prstGeom>
          <a:noFill/>
        </p:spPr>
        <p:txBody>
          <a:bodyPr wrap="square">
            <a:spAutoFit/>
          </a:bodyPr>
          <a:lstStyle/>
          <a:p>
            <a:pPr algn="l"/>
            <a:r>
              <a:rPr sz="900" b="0" i="0">
                <a:solidFill>
                  <a:srgbClr val="2C3E50"/>
                </a:solidFill>
              </a:rPr>
              <a:t>Test Set (held out)</a:t>
            </a:r>
          </a:p>
        </p:txBody>
      </p:sp>
      <p:sp>
        <p:nvSpPr>
          <p:cNvPr id="52" name="TextBox 51"/>
          <p:cNvSpPr txBox="1"/>
          <p:nvPr/>
        </p:nvSpPr>
        <p:spPr>
          <a:xfrm>
            <a:off x="6217920" y="2724912"/>
            <a:ext cx="1417320" cy="237744"/>
          </a:xfrm>
          <a:prstGeom prst="rect">
            <a:avLst/>
          </a:prstGeom>
          <a:noFill/>
        </p:spPr>
        <p:txBody>
          <a:bodyPr wrap="square">
            <a:spAutoFit/>
          </a:bodyPr>
          <a:lstStyle/>
          <a:p>
            <a:pPr algn="l"/>
            <a:r>
              <a:rPr sz="900" b="1" i="0">
                <a:solidFill>
                  <a:srgbClr val="1A5276"/>
                </a:solidFill>
              </a:rPr>
              <a:t>1,569</a:t>
            </a:r>
          </a:p>
        </p:txBody>
      </p:sp>
      <p:sp>
        <p:nvSpPr>
          <p:cNvPr id="53" name="TextBox 52"/>
          <p:cNvSpPr txBox="1"/>
          <p:nvPr/>
        </p:nvSpPr>
        <p:spPr>
          <a:xfrm>
            <a:off x="7680960" y="2724912"/>
            <a:ext cx="1005840" cy="237744"/>
          </a:xfrm>
          <a:prstGeom prst="rect">
            <a:avLst/>
          </a:prstGeom>
          <a:noFill/>
        </p:spPr>
        <p:txBody>
          <a:bodyPr wrap="square">
            <a:spAutoFit/>
          </a:bodyPr>
          <a:lstStyle/>
          <a:p>
            <a:pPr algn="l"/>
            <a:r>
              <a:rPr sz="900" b="0" i="0">
                <a:solidFill>
                  <a:srgbClr val="2C3E50"/>
                </a:solidFill>
              </a:rPr>
              <a:t>15%</a:t>
            </a:r>
          </a:p>
        </p:txBody>
      </p:sp>
      <p:sp>
        <p:nvSpPr>
          <p:cNvPr id="54" name="TextBox 53"/>
          <p:cNvSpPr txBox="1"/>
          <p:nvPr/>
        </p:nvSpPr>
        <p:spPr>
          <a:xfrm>
            <a:off x="4663440" y="3127248"/>
            <a:ext cx="4206240" cy="256032"/>
          </a:xfrm>
          <a:prstGeom prst="rect">
            <a:avLst/>
          </a:prstGeom>
          <a:noFill/>
        </p:spPr>
        <p:txBody>
          <a:bodyPr wrap="square">
            <a:spAutoFit/>
          </a:bodyPr>
          <a:lstStyle/>
          <a:p>
            <a:pPr algn="l"/>
            <a:r>
              <a:rPr sz="1050" b="1" i="0">
                <a:solidFill>
                  <a:srgbClr val="1A5276"/>
                </a:solidFill>
              </a:rPr>
              <a:t>Why This Dataset</a:t>
            </a:r>
          </a:p>
        </p:txBody>
      </p:sp>
      <p:sp>
        <p:nvSpPr>
          <p:cNvPr id="55" name="Rectangle 54"/>
          <p:cNvSpPr/>
          <p:nvPr/>
        </p:nvSpPr>
        <p:spPr>
          <a:xfrm>
            <a:off x="4663440" y="3383280"/>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773168" y="3438144"/>
            <a:ext cx="4023360" cy="219456"/>
          </a:xfrm>
          <a:prstGeom prst="rect">
            <a:avLst/>
          </a:prstGeom>
          <a:noFill/>
        </p:spPr>
        <p:txBody>
          <a:bodyPr wrap="square">
            <a:spAutoFit/>
          </a:bodyPr>
          <a:lstStyle/>
          <a:p>
            <a:pPr algn="l"/>
            <a:r>
              <a:rPr sz="900" b="0" i="0">
                <a:solidFill>
                  <a:srgbClr val="2C3E50"/>
                </a:solidFill>
              </a:rPr>
              <a:t>✓  Gold standard for pan-cancer classification research</a:t>
            </a:r>
          </a:p>
        </p:txBody>
      </p:sp>
      <p:sp>
        <p:nvSpPr>
          <p:cNvPr id="57" name="TextBox 56"/>
          <p:cNvSpPr txBox="1"/>
          <p:nvPr/>
        </p:nvSpPr>
        <p:spPr>
          <a:xfrm>
            <a:off x="4773168" y="3712463"/>
            <a:ext cx="4023360" cy="219456"/>
          </a:xfrm>
          <a:prstGeom prst="rect">
            <a:avLst/>
          </a:prstGeom>
          <a:noFill/>
        </p:spPr>
        <p:txBody>
          <a:bodyPr wrap="square">
            <a:spAutoFit/>
          </a:bodyPr>
          <a:lstStyle/>
          <a:p>
            <a:pPr algn="l"/>
            <a:r>
              <a:rPr sz="900" b="0" i="0">
                <a:solidFill>
                  <a:srgbClr val="2C3E50"/>
                </a:solidFill>
              </a:rPr>
              <a:t>✓  Used by Mostavi et al. — enables direct comparison</a:t>
            </a:r>
          </a:p>
        </p:txBody>
      </p:sp>
      <p:sp>
        <p:nvSpPr>
          <p:cNvPr id="58" name="TextBox 57"/>
          <p:cNvSpPr txBox="1"/>
          <p:nvPr/>
        </p:nvSpPr>
        <p:spPr>
          <a:xfrm>
            <a:off x="4773168" y="3986783"/>
            <a:ext cx="4023360" cy="219456"/>
          </a:xfrm>
          <a:prstGeom prst="rect">
            <a:avLst/>
          </a:prstGeom>
          <a:noFill/>
        </p:spPr>
        <p:txBody>
          <a:bodyPr wrap="square">
            <a:spAutoFit/>
          </a:bodyPr>
          <a:lstStyle/>
          <a:p>
            <a:pPr algn="l"/>
            <a:r>
              <a:rPr sz="900" b="0" i="0">
                <a:solidFill>
                  <a:srgbClr val="2C3E50"/>
                </a:solidFill>
              </a:rPr>
              <a:t>✓  Large enough for deep learning (10K+ samples)</a:t>
            </a:r>
          </a:p>
        </p:txBody>
      </p:sp>
      <p:sp>
        <p:nvSpPr>
          <p:cNvPr id="59" name="TextBox 58"/>
          <p:cNvSpPr txBox="1"/>
          <p:nvPr/>
        </p:nvSpPr>
        <p:spPr>
          <a:xfrm>
            <a:off x="4773168" y="4261103"/>
            <a:ext cx="4023360" cy="219456"/>
          </a:xfrm>
          <a:prstGeom prst="rect">
            <a:avLst/>
          </a:prstGeom>
          <a:noFill/>
        </p:spPr>
        <p:txBody>
          <a:bodyPr wrap="square">
            <a:spAutoFit/>
          </a:bodyPr>
          <a:lstStyle/>
          <a:p>
            <a:pPr algn="l"/>
            <a:r>
              <a:rPr sz="900" b="0" i="0">
                <a:solidFill>
                  <a:srgbClr val="2C3E50"/>
                </a:solidFill>
              </a:rPr>
              <a:t>✓  Public domain — reproducible by any researcher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CLASS DISTRIBUTION &amp; IMBALANCE</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5</a:t>
            </a:r>
          </a:p>
        </p:txBody>
      </p:sp>
      <p:pic>
        <p:nvPicPr>
          <p:cNvPr id="7" name="Picture 6" descr="class_distribution.png"/>
          <p:cNvPicPr>
            <a:picLocks noChangeAspect="1"/>
          </p:cNvPicPr>
          <p:nvPr/>
        </p:nvPicPr>
        <p:blipFill>
          <a:blip r:embed="rId2"/>
          <a:stretch>
            <a:fillRect/>
          </a:stretch>
        </p:blipFill>
        <p:spPr>
          <a:xfrm>
            <a:off x="182880" y="548640"/>
            <a:ext cx="5943600" cy="4160520"/>
          </a:xfrm>
          <a:prstGeom prst="rect">
            <a:avLst/>
          </a:prstGeom>
        </p:spPr>
      </p:pic>
      <p:sp>
        <p:nvSpPr>
          <p:cNvPr id="8" name="TextBox 7"/>
          <p:cNvSpPr txBox="1"/>
          <p:nvPr/>
        </p:nvSpPr>
        <p:spPr>
          <a:xfrm>
            <a:off x="6309360" y="548640"/>
            <a:ext cx="2651760" cy="256032"/>
          </a:xfrm>
          <a:prstGeom prst="rect">
            <a:avLst/>
          </a:prstGeom>
          <a:noFill/>
        </p:spPr>
        <p:txBody>
          <a:bodyPr wrap="square">
            <a:spAutoFit/>
          </a:bodyPr>
          <a:lstStyle/>
          <a:p>
            <a:pPr algn="l"/>
            <a:r>
              <a:rPr sz="1050" b="1" i="0">
                <a:solidFill>
                  <a:srgbClr val="1A5276"/>
                </a:solidFill>
              </a:rPr>
              <a:t>Key Observations</a:t>
            </a:r>
          </a:p>
        </p:txBody>
      </p:sp>
      <p:sp>
        <p:nvSpPr>
          <p:cNvPr id="9" name="Rectangle 8"/>
          <p:cNvSpPr/>
          <p:nvPr/>
        </p:nvSpPr>
        <p:spPr>
          <a:xfrm>
            <a:off x="6309360" y="804672"/>
            <a:ext cx="26517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859536"/>
            <a:ext cx="2651760" cy="256032"/>
          </a:xfrm>
          <a:prstGeom prst="rect">
            <a:avLst/>
          </a:prstGeom>
          <a:noFill/>
        </p:spPr>
        <p:txBody>
          <a:bodyPr wrap="square">
            <a:spAutoFit/>
          </a:bodyPr>
          <a:lstStyle/>
          <a:p>
            <a:pPr algn="l"/>
            <a:r>
              <a:rPr sz="900" b="0" i="0">
                <a:solidFill>
                  <a:srgbClr val="2C3E50"/>
                </a:solidFill>
              </a:rPr>
              <a:t>●  Extreme 27:1 imbalance ratio</a:t>
            </a:r>
          </a:p>
        </p:txBody>
      </p:sp>
      <p:sp>
        <p:nvSpPr>
          <p:cNvPr id="11" name="TextBox 10"/>
          <p:cNvSpPr txBox="1"/>
          <p:nvPr/>
        </p:nvSpPr>
        <p:spPr>
          <a:xfrm>
            <a:off x="6309360" y="1207007"/>
            <a:ext cx="2651760" cy="256032"/>
          </a:xfrm>
          <a:prstGeom prst="rect">
            <a:avLst/>
          </a:prstGeom>
          <a:noFill/>
        </p:spPr>
        <p:txBody>
          <a:bodyPr wrap="square">
            <a:spAutoFit/>
          </a:bodyPr>
          <a:lstStyle/>
          <a:p>
            <a:pPr algn="l"/>
            <a:r>
              <a:rPr sz="900" b="0" i="0">
                <a:solidFill>
                  <a:srgbClr val="2C3E50"/>
                </a:solidFill>
              </a:rPr>
              <a:t>●  BRCA: 1,218 samples (largest)</a:t>
            </a:r>
          </a:p>
        </p:txBody>
      </p:sp>
      <p:sp>
        <p:nvSpPr>
          <p:cNvPr id="12" name="TextBox 11"/>
          <p:cNvSpPr txBox="1"/>
          <p:nvPr/>
        </p:nvSpPr>
        <p:spPr>
          <a:xfrm>
            <a:off x="6309360" y="1554479"/>
            <a:ext cx="2651760" cy="256032"/>
          </a:xfrm>
          <a:prstGeom prst="rect">
            <a:avLst/>
          </a:prstGeom>
          <a:noFill/>
        </p:spPr>
        <p:txBody>
          <a:bodyPr wrap="square">
            <a:spAutoFit/>
          </a:bodyPr>
          <a:lstStyle/>
          <a:p>
            <a:pPr algn="l"/>
            <a:r>
              <a:rPr sz="900" b="0" i="0">
                <a:solidFill>
                  <a:srgbClr val="2C3E50"/>
                </a:solidFill>
              </a:rPr>
              <a:t>●  CHOL: 45 samples (smallest)</a:t>
            </a:r>
          </a:p>
        </p:txBody>
      </p:sp>
      <p:sp>
        <p:nvSpPr>
          <p:cNvPr id="13" name="TextBox 12"/>
          <p:cNvSpPr txBox="1"/>
          <p:nvPr/>
        </p:nvSpPr>
        <p:spPr>
          <a:xfrm>
            <a:off x="6309360" y="1901951"/>
            <a:ext cx="2651760" cy="256032"/>
          </a:xfrm>
          <a:prstGeom prst="rect">
            <a:avLst/>
          </a:prstGeom>
          <a:noFill/>
        </p:spPr>
        <p:txBody>
          <a:bodyPr wrap="square">
            <a:spAutoFit/>
          </a:bodyPr>
          <a:lstStyle/>
          <a:p>
            <a:pPr algn="l"/>
            <a:r>
              <a:rPr sz="900" b="0" i="0">
                <a:solidFill>
                  <a:srgbClr val="2C3E50"/>
                </a:solidFill>
              </a:rPr>
              <a:t>●  11 classes have &lt; 200 samples</a:t>
            </a:r>
          </a:p>
        </p:txBody>
      </p:sp>
      <p:sp>
        <p:nvSpPr>
          <p:cNvPr id="14" name="TextBox 13"/>
          <p:cNvSpPr txBox="1"/>
          <p:nvPr/>
        </p:nvSpPr>
        <p:spPr>
          <a:xfrm>
            <a:off x="6309360" y="2249423"/>
            <a:ext cx="2651760" cy="256032"/>
          </a:xfrm>
          <a:prstGeom prst="rect">
            <a:avLst/>
          </a:prstGeom>
          <a:noFill/>
        </p:spPr>
        <p:txBody>
          <a:bodyPr wrap="square">
            <a:spAutoFit/>
          </a:bodyPr>
          <a:lstStyle/>
          <a:p>
            <a:pPr algn="l"/>
            <a:r>
              <a:rPr sz="900" b="0" i="0">
                <a:solidFill>
                  <a:srgbClr val="2C3E50"/>
                </a:solidFill>
              </a:rPr>
              <a:t>●  Naive training would collapse to majority classes</a:t>
            </a:r>
          </a:p>
        </p:txBody>
      </p:sp>
      <p:sp>
        <p:nvSpPr>
          <p:cNvPr id="15" name="TextBox 14"/>
          <p:cNvSpPr txBox="1"/>
          <p:nvPr/>
        </p:nvSpPr>
        <p:spPr>
          <a:xfrm>
            <a:off x="6309360" y="2724912"/>
            <a:ext cx="2651760" cy="256032"/>
          </a:xfrm>
          <a:prstGeom prst="rect">
            <a:avLst/>
          </a:prstGeom>
          <a:noFill/>
        </p:spPr>
        <p:txBody>
          <a:bodyPr wrap="square">
            <a:spAutoFit/>
          </a:bodyPr>
          <a:lstStyle/>
          <a:p>
            <a:pPr algn="l"/>
            <a:r>
              <a:rPr sz="1050" b="1" i="0">
                <a:solidFill>
                  <a:srgbClr val="1A5276"/>
                </a:solidFill>
              </a:rPr>
              <a:t>How We Solved It</a:t>
            </a:r>
          </a:p>
        </p:txBody>
      </p:sp>
      <p:sp>
        <p:nvSpPr>
          <p:cNvPr id="16" name="Rectangle 15"/>
          <p:cNvSpPr/>
          <p:nvPr/>
        </p:nvSpPr>
        <p:spPr>
          <a:xfrm>
            <a:off x="6309360" y="2980944"/>
            <a:ext cx="26517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3035808"/>
            <a:ext cx="2651760" cy="219456"/>
          </a:xfrm>
          <a:prstGeom prst="rect">
            <a:avLst/>
          </a:prstGeom>
          <a:noFill/>
        </p:spPr>
        <p:txBody>
          <a:bodyPr wrap="square">
            <a:spAutoFit/>
          </a:bodyPr>
          <a:lstStyle/>
          <a:p>
            <a:pPr algn="l"/>
            <a:r>
              <a:rPr sz="900" b="1" i="0">
                <a:solidFill>
                  <a:srgbClr val="1A5276"/>
                </a:solidFill>
              </a:rPr>
              <a:t>SMOTE:</a:t>
            </a:r>
          </a:p>
        </p:txBody>
      </p:sp>
      <p:sp>
        <p:nvSpPr>
          <p:cNvPr id="18" name="TextBox 17"/>
          <p:cNvSpPr txBox="1"/>
          <p:nvPr/>
        </p:nvSpPr>
        <p:spPr>
          <a:xfrm>
            <a:off x="6309360" y="3236976"/>
            <a:ext cx="2651760" cy="274320"/>
          </a:xfrm>
          <a:prstGeom prst="rect">
            <a:avLst/>
          </a:prstGeom>
          <a:noFill/>
        </p:spPr>
        <p:txBody>
          <a:bodyPr wrap="square">
            <a:spAutoFit/>
          </a:bodyPr>
          <a:lstStyle/>
          <a:p>
            <a:pPr algn="l"/>
            <a:r>
              <a:rPr sz="850" b="0" i="0">
                <a:solidFill>
                  <a:srgbClr val="566573"/>
                </a:solidFill>
              </a:rPr>
              <a:t>Synthetic oversampling — classes below 400 samples upsampled to 400 (k=3 neighbors)</a:t>
            </a:r>
          </a:p>
        </p:txBody>
      </p:sp>
      <p:sp>
        <p:nvSpPr>
          <p:cNvPr id="19" name="TextBox 18"/>
          <p:cNvSpPr txBox="1"/>
          <p:nvPr/>
        </p:nvSpPr>
        <p:spPr>
          <a:xfrm>
            <a:off x="6309360" y="3584448"/>
            <a:ext cx="2651760" cy="219456"/>
          </a:xfrm>
          <a:prstGeom prst="rect">
            <a:avLst/>
          </a:prstGeom>
          <a:noFill/>
        </p:spPr>
        <p:txBody>
          <a:bodyPr wrap="square">
            <a:spAutoFit/>
          </a:bodyPr>
          <a:lstStyle/>
          <a:p>
            <a:pPr algn="l"/>
            <a:r>
              <a:rPr sz="900" b="1" i="0">
                <a:solidFill>
                  <a:srgbClr val="1A5276"/>
                </a:solidFill>
              </a:rPr>
              <a:t>Label Smoothing:</a:t>
            </a:r>
          </a:p>
        </p:txBody>
      </p:sp>
      <p:sp>
        <p:nvSpPr>
          <p:cNvPr id="20" name="TextBox 19"/>
          <p:cNvSpPr txBox="1"/>
          <p:nvPr/>
        </p:nvSpPr>
        <p:spPr>
          <a:xfrm>
            <a:off x="6309360" y="3785615"/>
            <a:ext cx="2651760" cy="274320"/>
          </a:xfrm>
          <a:prstGeom prst="rect">
            <a:avLst/>
          </a:prstGeom>
          <a:noFill/>
        </p:spPr>
        <p:txBody>
          <a:bodyPr wrap="square">
            <a:spAutoFit/>
          </a:bodyPr>
          <a:lstStyle/>
          <a:p>
            <a:pPr algn="l"/>
            <a:r>
              <a:rPr sz="850" b="0" i="0">
                <a:solidFill>
                  <a:srgbClr val="566573"/>
                </a:solidFill>
              </a:rPr>
              <a:t>epsilon = 0.1 — prevents overconfidence on majority classes</a:t>
            </a:r>
          </a:p>
        </p:txBody>
      </p:sp>
      <p:sp>
        <p:nvSpPr>
          <p:cNvPr id="21" name="TextBox 20"/>
          <p:cNvSpPr txBox="1"/>
          <p:nvPr/>
        </p:nvSpPr>
        <p:spPr>
          <a:xfrm>
            <a:off x="6309360" y="4133087"/>
            <a:ext cx="2651760" cy="219456"/>
          </a:xfrm>
          <a:prstGeom prst="rect">
            <a:avLst/>
          </a:prstGeom>
          <a:noFill/>
        </p:spPr>
        <p:txBody>
          <a:bodyPr wrap="square">
            <a:spAutoFit/>
          </a:bodyPr>
          <a:lstStyle/>
          <a:p>
            <a:pPr algn="l"/>
            <a:r>
              <a:rPr sz="900" b="1" i="0">
                <a:solidFill>
                  <a:srgbClr val="1A5276"/>
                </a:solidFill>
              </a:rPr>
              <a:t>Stratified Split:</a:t>
            </a:r>
          </a:p>
        </p:txBody>
      </p:sp>
      <p:sp>
        <p:nvSpPr>
          <p:cNvPr id="22" name="TextBox 21"/>
          <p:cNvSpPr txBox="1"/>
          <p:nvPr/>
        </p:nvSpPr>
        <p:spPr>
          <a:xfrm>
            <a:off x="6309360" y="4334255"/>
            <a:ext cx="2651760" cy="274320"/>
          </a:xfrm>
          <a:prstGeom prst="rect">
            <a:avLst/>
          </a:prstGeom>
          <a:noFill/>
        </p:spPr>
        <p:txBody>
          <a:bodyPr wrap="square">
            <a:spAutoFit/>
          </a:bodyPr>
          <a:lstStyle/>
          <a:p>
            <a:pPr algn="l"/>
            <a:r>
              <a:rPr sz="850" b="0" i="0">
                <a:solidFill>
                  <a:srgbClr val="566573"/>
                </a:solidFill>
              </a:rPr>
              <a:t>All 32 classes present in every train/val/test fold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LITERATURE REVIEW — MOSTAVI ET AL. (2020)</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6</a:t>
            </a:r>
          </a:p>
        </p:txBody>
      </p:sp>
      <p:sp>
        <p:nvSpPr>
          <p:cNvPr id="7" name="TextBox 6"/>
          <p:cNvSpPr txBox="1"/>
          <p:nvPr/>
        </p:nvSpPr>
        <p:spPr>
          <a:xfrm>
            <a:off x="274320" y="548640"/>
            <a:ext cx="8595360" cy="256032"/>
          </a:xfrm>
          <a:prstGeom prst="rect">
            <a:avLst/>
          </a:prstGeom>
          <a:noFill/>
        </p:spPr>
        <p:txBody>
          <a:bodyPr wrap="square">
            <a:spAutoFit/>
          </a:bodyPr>
          <a:lstStyle/>
          <a:p>
            <a:pPr algn="l"/>
            <a:r>
              <a:rPr sz="1050" b="1" i="0">
                <a:solidFill>
                  <a:srgbClr val="1A5276"/>
                </a:solidFill>
              </a:rPr>
              <a:t>Primary Reference: Mostavi, Chung, Khalili et al. — Computational Biology &amp; Chemistry, Elsevier | 150+ citations</a:t>
            </a:r>
          </a:p>
        </p:txBody>
      </p:sp>
      <p:sp>
        <p:nvSpPr>
          <p:cNvPr id="8" name="Rectangle 7"/>
          <p:cNvSpPr/>
          <p:nvPr/>
        </p:nvSpPr>
        <p:spPr>
          <a:xfrm>
            <a:off x="274320" y="804672"/>
            <a:ext cx="85953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877824"/>
            <a:ext cx="4114800" cy="256032"/>
          </a:xfrm>
          <a:prstGeom prst="rect">
            <a:avLst/>
          </a:prstGeom>
          <a:noFill/>
        </p:spPr>
        <p:txBody>
          <a:bodyPr wrap="square">
            <a:spAutoFit/>
          </a:bodyPr>
          <a:lstStyle/>
          <a:p>
            <a:pPr algn="l"/>
            <a:r>
              <a:rPr sz="1050" b="1" i="0">
                <a:solidFill>
                  <a:srgbClr val="1A5276"/>
                </a:solidFill>
              </a:rPr>
              <a:t>Key Contributions</a:t>
            </a:r>
          </a:p>
        </p:txBody>
      </p:sp>
      <p:sp>
        <p:nvSpPr>
          <p:cNvPr id="10" name="TextBox 9"/>
          <p:cNvSpPr txBox="1"/>
          <p:nvPr/>
        </p:nvSpPr>
        <p:spPr>
          <a:xfrm>
            <a:off x="274320" y="1133856"/>
            <a:ext cx="1005840" cy="237744"/>
          </a:xfrm>
          <a:prstGeom prst="rect">
            <a:avLst/>
          </a:prstGeom>
          <a:noFill/>
        </p:spPr>
        <p:txBody>
          <a:bodyPr wrap="square">
            <a:spAutoFit/>
          </a:bodyPr>
          <a:lstStyle/>
          <a:p>
            <a:pPr algn="l"/>
            <a:r>
              <a:rPr sz="900" b="1" i="0">
                <a:solidFill>
                  <a:srgbClr val="1A5276"/>
                </a:solidFill>
              </a:rPr>
              <a:t>Architecture:</a:t>
            </a:r>
          </a:p>
        </p:txBody>
      </p:sp>
      <p:sp>
        <p:nvSpPr>
          <p:cNvPr id="11" name="TextBox 10"/>
          <p:cNvSpPr txBox="1"/>
          <p:nvPr/>
        </p:nvSpPr>
        <p:spPr>
          <a:xfrm>
            <a:off x="1298448" y="1133856"/>
            <a:ext cx="3108960" cy="457200"/>
          </a:xfrm>
          <a:prstGeom prst="rect">
            <a:avLst/>
          </a:prstGeom>
          <a:noFill/>
        </p:spPr>
        <p:txBody>
          <a:bodyPr wrap="square">
            <a:spAutoFit/>
          </a:bodyPr>
          <a:lstStyle/>
          <a:p>
            <a:pPr algn="l"/>
            <a:r>
              <a:rPr sz="900" b="0" i="0">
                <a:solidFill>
                  <a:srgbClr val="2C3E50"/>
                </a:solidFill>
              </a:rPr>
              <a:t>1D-CNN applied to gene expression sequences — treats 20,530 genes like words in NLP. Captures local co-expression patterns across neighboring genes.</a:t>
            </a:r>
          </a:p>
        </p:txBody>
      </p:sp>
      <p:sp>
        <p:nvSpPr>
          <p:cNvPr id="12" name="TextBox 11"/>
          <p:cNvSpPr txBox="1"/>
          <p:nvPr/>
        </p:nvSpPr>
        <p:spPr>
          <a:xfrm>
            <a:off x="274320" y="1700784"/>
            <a:ext cx="1005840" cy="237744"/>
          </a:xfrm>
          <a:prstGeom prst="rect">
            <a:avLst/>
          </a:prstGeom>
          <a:noFill/>
        </p:spPr>
        <p:txBody>
          <a:bodyPr wrap="square">
            <a:spAutoFit/>
          </a:bodyPr>
          <a:lstStyle/>
          <a:p>
            <a:pPr algn="l"/>
            <a:r>
              <a:rPr sz="900" b="1" i="0">
                <a:solidFill>
                  <a:srgbClr val="1A5276"/>
                </a:solidFill>
              </a:rPr>
              <a:t>Performance:</a:t>
            </a:r>
          </a:p>
        </p:txBody>
      </p:sp>
      <p:sp>
        <p:nvSpPr>
          <p:cNvPr id="13" name="TextBox 12"/>
          <p:cNvSpPr txBox="1"/>
          <p:nvPr/>
        </p:nvSpPr>
        <p:spPr>
          <a:xfrm>
            <a:off x="1298448" y="1700784"/>
            <a:ext cx="3108960" cy="457200"/>
          </a:xfrm>
          <a:prstGeom prst="rect">
            <a:avLst/>
          </a:prstGeom>
          <a:noFill/>
        </p:spPr>
        <p:txBody>
          <a:bodyPr wrap="square">
            <a:spAutoFit/>
          </a:bodyPr>
          <a:lstStyle/>
          <a:p>
            <a:pPr algn="l"/>
            <a:r>
              <a:rPr sz="900" b="0" i="0">
                <a:solidFill>
                  <a:srgbClr val="2C3E50"/>
                </a:solidFill>
              </a:rPr>
              <a:t>~95% accuracy on 33-class TCGA dataset. Macro F1 ~0.93. Per-class AUC &gt;0.95 for most cancer types.</a:t>
            </a:r>
          </a:p>
        </p:txBody>
      </p:sp>
      <p:sp>
        <p:nvSpPr>
          <p:cNvPr id="14" name="TextBox 13"/>
          <p:cNvSpPr txBox="1"/>
          <p:nvPr/>
        </p:nvSpPr>
        <p:spPr>
          <a:xfrm>
            <a:off x="274320" y="2267712"/>
            <a:ext cx="1005840" cy="237744"/>
          </a:xfrm>
          <a:prstGeom prst="rect">
            <a:avLst/>
          </a:prstGeom>
          <a:noFill/>
        </p:spPr>
        <p:txBody>
          <a:bodyPr wrap="square">
            <a:spAutoFit/>
          </a:bodyPr>
          <a:lstStyle/>
          <a:p>
            <a:pPr algn="l"/>
            <a:r>
              <a:rPr sz="900" b="1" i="0">
                <a:solidFill>
                  <a:srgbClr val="1A5276"/>
                </a:solidFill>
              </a:rPr>
              <a:t>Benchmark:</a:t>
            </a:r>
          </a:p>
        </p:txBody>
      </p:sp>
      <p:sp>
        <p:nvSpPr>
          <p:cNvPr id="15" name="TextBox 14"/>
          <p:cNvSpPr txBox="1"/>
          <p:nvPr/>
        </p:nvSpPr>
        <p:spPr>
          <a:xfrm>
            <a:off x="1298448" y="2267712"/>
            <a:ext cx="3108960" cy="457200"/>
          </a:xfrm>
          <a:prstGeom prst="rect">
            <a:avLst/>
          </a:prstGeom>
          <a:noFill/>
        </p:spPr>
        <p:txBody>
          <a:bodyPr wrap="square">
            <a:spAutoFit/>
          </a:bodyPr>
          <a:lstStyle/>
          <a:p>
            <a:pPr algn="l"/>
            <a:r>
              <a:rPr sz="900" b="0" i="0">
                <a:solidFill>
                  <a:srgbClr val="2C3E50"/>
                </a:solidFill>
              </a:rPr>
              <a:t>Established TCGA Pan-Cancer as the reference benchmark for multi-class cancer classification.</a:t>
            </a:r>
          </a:p>
        </p:txBody>
      </p:sp>
      <p:sp>
        <p:nvSpPr>
          <p:cNvPr id="16" name="TextBox 15"/>
          <p:cNvSpPr txBox="1"/>
          <p:nvPr/>
        </p:nvSpPr>
        <p:spPr>
          <a:xfrm>
            <a:off x="4663440" y="877824"/>
            <a:ext cx="4206240" cy="256032"/>
          </a:xfrm>
          <a:prstGeom prst="rect">
            <a:avLst/>
          </a:prstGeom>
          <a:noFill/>
        </p:spPr>
        <p:txBody>
          <a:bodyPr wrap="square">
            <a:spAutoFit/>
          </a:bodyPr>
          <a:lstStyle/>
          <a:p>
            <a:pPr algn="l"/>
            <a:r>
              <a:rPr sz="1050" b="1" i="0">
                <a:solidFill>
                  <a:srgbClr val="1A5276"/>
                </a:solidFill>
              </a:rPr>
              <a:t>Critical Gap — READ/COAD Failure</a:t>
            </a:r>
          </a:p>
        </p:txBody>
      </p:sp>
      <p:sp>
        <p:nvSpPr>
          <p:cNvPr id="17" name="TextBox 16"/>
          <p:cNvSpPr txBox="1"/>
          <p:nvPr/>
        </p:nvSpPr>
        <p:spPr>
          <a:xfrm>
            <a:off x="4663440" y="1133856"/>
            <a:ext cx="4206240" cy="731520"/>
          </a:xfrm>
          <a:prstGeom prst="rect">
            <a:avLst/>
          </a:prstGeom>
          <a:noFill/>
        </p:spPr>
        <p:txBody>
          <a:bodyPr wrap="square">
            <a:spAutoFit/>
          </a:bodyPr>
          <a:lstStyle/>
          <a:p>
            <a:pPr algn="l"/>
            <a:r>
              <a:rPr sz="900" b="0" i="0">
                <a:solidFill>
                  <a:srgbClr val="2C3E50"/>
                </a:solidFill>
              </a:rPr>
              <a:t>READ (rectum adenocarcinoma) scored only F1 = 0.40 in Mostavi. Nearly half of all READ samples were predicted as COAD. This is not a model failure — it reflects that READ and COAD are molecularly identical. Treating them as separate classes forces the model to learn an unlearnable distinction.</a:t>
            </a:r>
          </a:p>
        </p:txBody>
      </p:sp>
      <p:sp>
        <p:nvSpPr>
          <p:cNvPr id="18" name="TextBox 17"/>
          <p:cNvSpPr txBox="1"/>
          <p:nvPr/>
        </p:nvSpPr>
        <p:spPr>
          <a:xfrm>
            <a:off x="4663440" y="1993392"/>
            <a:ext cx="4206240" cy="256032"/>
          </a:xfrm>
          <a:prstGeom prst="rect">
            <a:avLst/>
          </a:prstGeom>
          <a:noFill/>
        </p:spPr>
        <p:txBody>
          <a:bodyPr wrap="square">
            <a:spAutoFit/>
          </a:bodyPr>
          <a:lstStyle/>
          <a:p>
            <a:pPr algn="l"/>
            <a:r>
              <a:rPr sz="1050" b="1" i="0">
                <a:solidFill>
                  <a:srgbClr val="1A5276"/>
                </a:solidFill>
              </a:rPr>
              <a:t>Other Limitations</a:t>
            </a:r>
          </a:p>
        </p:txBody>
      </p:sp>
      <p:sp>
        <p:nvSpPr>
          <p:cNvPr id="19" name="TextBox 18"/>
          <p:cNvSpPr txBox="1"/>
          <p:nvPr/>
        </p:nvSpPr>
        <p:spPr>
          <a:xfrm>
            <a:off x="4773168" y="2249424"/>
            <a:ext cx="4023360" cy="237744"/>
          </a:xfrm>
          <a:prstGeom prst="rect">
            <a:avLst/>
          </a:prstGeom>
          <a:noFill/>
        </p:spPr>
        <p:txBody>
          <a:bodyPr wrap="square">
            <a:spAutoFit/>
          </a:bodyPr>
          <a:lstStyle/>
          <a:p>
            <a:pPr algn="l"/>
            <a:r>
              <a:rPr sz="900" b="0" i="0">
                <a:solidFill>
                  <a:srgbClr val="C0392B"/>
                </a:solidFill>
              </a:rPr>
              <a:t>✗  No explanation of how 27:1 class imbalance was handled</a:t>
            </a:r>
          </a:p>
        </p:txBody>
      </p:sp>
      <p:sp>
        <p:nvSpPr>
          <p:cNvPr id="20" name="TextBox 19"/>
          <p:cNvSpPr txBox="1"/>
          <p:nvPr/>
        </p:nvSpPr>
        <p:spPr>
          <a:xfrm>
            <a:off x="4773168" y="2633472"/>
            <a:ext cx="4023360" cy="237744"/>
          </a:xfrm>
          <a:prstGeom prst="rect">
            <a:avLst/>
          </a:prstGeom>
          <a:noFill/>
        </p:spPr>
        <p:txBody>
          <a:bodyPr wrap="square">
            <a:spAutoFit/>
          </a:bodyPr>
          <a:lstStyle/>
          <a:p>
            <a:pPr algn="l"/>
            <a:r>
              <a:rPr sz="900" b="0" i="0" dirty="0">
                <a:solidFill>
                  <a:srgbClr val="C0392B"/>
                </a:solidFill>
              </a:rPr>
              <a:t>✗  Model is a black box — no gene-level interpretability</a:t>
            </a:r>
          </a:p>
        </p:txBody>
      </p:sp>
      <p:sp>
        <p:nvSpPr>
          <p:cNvPr id="21" name="TextBox 20"/>
          <p:cNvSpPr txBox="1"/>
          <p:nvPr/>
        </p:nvSpPr>
        <p:spPr>
          <a:xfrm>
            <a:off x="4773168" y="2834639"/>
            <a:ext cx="4023360" cy="237744"/>
          </a:xfrm>
          <a:prstGeom prst="rect">
            <a:avLst/>
          </a:prstGeom>
          <a:noFill/>
        </p:spPr>
        <p:txBody>
          <a:bodyPr wrap="square">
            <a:spAutoFit/>
          </a:bodyPr>
          <a:lstStyle/>
          <a:p>
            <a:pPr algn="l"/>
            <a:r>
              <a:rPr sz="900" b="0" i="0" dirty="0">
                <a:solidFill>
                  <a:srgbClr val="C0392B"/>
                </a:solidFill>
              </a:rPr>
              <a:t>✗  No code released — reproduction impossible from the paper</a:t>
            </a:r>
          </a:p>
        </p:txBody>
      </p:sp>
      <p:sp>
        <p:nvSpPr>
          <p:cNvPr id="22" name="TextBox 21"/>
          <p:cNvSpPr txBox="1"/>
          <p:nvPr/>
        </p:nvSpPr>
        <p:spPr>
          <a:xfrm>
            <a:off x="4773168" y="2441448"/>
            <a:ext cx="4023360" cy="237744"/>
          </a:xfrm>
          <a:prstGeom prst="rect">
            <a:avLst/>
          </a:prstGeom>
          <a:noFill/>
        </p:spPr>
        <p:txBody>
          <a:bodyPr wrap="square">
            <a:spAutoFit/>
          </a:bodyPr>
          <a:lstStyle/>
          <a:p>
            <a:pPr algn="l"/>
            <a:r>
              <a:rPr sz="900" b="0" i="0" dirty="0">
                <a:solidFill>
                  <a:srgbClr val="C0392B"/>
                </a:solidFill>
              </a:rPr>
              <a:t>✗  No SMOTE, TTA, or calibration applied</a:t>
            </a:r>
          </a:p>
        </p:txBody>
      </p:sp>
      <p:sp>
        <p:nvSpPr>
          <p:cNvPr id="23" name="TextBox 22"/>
          <p:cNvSpPr txBox="1"/>
          <p:nvPr/>
        </p:nvSpPr>
        <p:spPr>
          <a:xfrm>
            <a:off x="274320" y="2907792"/>
            <a:ext cx="8595360" cy="256032"/>
          </a:xfrm>
          <a:prstGeom prst="rect">
            <a:avLst/>
          </a:prstGeom>
          <a:noFill/>
        </p:spPr>
        <p:txBody>
          <a:bodyPr wrap="square">
            <a:spAutoFit/>
          </a:bodyPr>
          <a:lstStyle/>
          <a:p>
            <a:pPr algn="l"/>
            <a:r>
              <a:rPr sz="1050" b="1" i="0" dirty="0">
                <a:solidFill>
                  <a:srgbClr val="1A5276"/>
                </a:solidFill>
              </a:rPr>
              <a:t>Performance Summary</a:t>
            </a:r>
          </a:p>
        </p:txBody>
      </p:sp>
      <p:sp>
        <p:nvSpPr>
          <p:cNvPr id="24" name="Rectangle 23"/>
          <p:cNvSpPr/>
          <p:nvPr/>
        </p:nvSpPr>
        <p:spPr>
          <a:xfrm>
            <a:off x="274320" y="3163824"/>
            <a:ext cx="85953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4320" y="3218688"/>
            <a:ext cx="2011680" cy="237744"/>
          </a:xfrm>
          <a:prstGeom prst="rect">
            <a:avLst/>
          </a:prstGeom>
          <a:noFill/>
        </p:spPr>
        <p:txBody>
          <a:bodyPr wrap="square">
            <a:spAutoFit/>
          </a:bodyPr>
          <a:lstStyle/>
          <a:p>
            <a:pPr algn="l"/>
            <a:r>
              <a:rPr sz="900" b="1" i="0">
                <a:solidFill>
                  <a:srgbClr val="1A5276"/>
                </a:solidFill>
              </a:rPr>
              <a:t>Metric</a:t>
            </a:r>
          </a:p>
        </p:txBody>
      </p:sp>
      <p:sp>
        <p:nvSpPr>
          <p:cNvPr id="26" name="TextBox 25"/>
          <p:cNvSpPr txBox="1"/>
          <p:nvPr/>
        </p:nvSpPr>
        <p:spPr>
          <a:xfrm>
            <a:off x="2377440" y="3218688"/>
            <a:ext cx="2194560" cy="237744"/>
          </a:xfrm>
          <a:prstGeom prst="rect">
            <a:avLst/>
          </a:prstGeom>
          <a:noFill/>
        </p:spPr>
        <p:txBody>
          <a:bodyPr wrap="square">
            <a:spAutoFit/>
          </a:bodyPr>
          <a:lstStyle/>
          <a:p>
            <a:pPr algn="l"/>
            <a:r>
              <a:rPr sz="900" b="1" i="0">
                <a:solidFill>
                  <a:srgbClr val="1A5276"/>
                </a:solidFill>
              </a:rPr>
              <a:t>Mostavi (2020)</a:t>
            </a:r>
          </a:p>
        </p:txBody>
      </p:sp>
      <p:sp>
        <p:nvSpPr>
          <p:cNvPr id="27" name="TextBox 26"/>
          <p:cNvSpPr txBox="1"/>
          <p:nvPr/>
        </p:nvSpPr>
        <p:spPr>
          <a:xfrm>
            <a:off x="4663440" y="3218688"/>
            <a:ext cx="2194560" cy="237744"/>
          </a:xfrm>
          <a:prstGeom prst="rect">
            <a:avLst/>
          </a:prstGeom>
          <a:noFill/>
        </p:spPr>
        <p:txBody>
          <a:bodyPr wrap="square">
            <a:spAutoFit/>
          </a:bodyPr>
          <a:lstStyle/>
          <a:p>
            <a:pPr algn="l"/>
            <a:r>
              <a:rPr sz="900" b="1" i="0">
                <a:solidFill>
                  <a:srgbClr val="1A5276"/>
                </a:solidFill>
              </a:rPr>
              <a:t>Our Final Result</a:t>
            </a:r>
          </a:p>
        </p:txBody>
      </p:sp>
      <p:sp>
        <p:nvSpPr>
          <p:cNvPr id="28" name="TextBox 27"/>
          <p:cNvSpPr txBox="1"/>
          <p:nvPr/>
        </p:nvSpPr>
        <p:spPr>
          <a:xfrm>
            <a:off x="6949440" y="3218688"/>
            <a:ext cx="1920240" cy="237744"/>
          </a:xfrm>
          <a:prstGeom prst="rect">
            <a:avLst/>
          </a:prstGeom>
          <a:noFill/>
        </p:spPr>
        <p:txBody>
          <a:bodyPr wrap="square">
            <a:spAutoFit/>
          </a:bodyPr>
          <a:lstStyle/>
          <a:p>
            <a:pPr algn="l"/>
            <a:r>
              <a:rPr sz="900" b="1" i="0">
                <a:solidFill>
                  <a:srgbClr val="1A5276"/>
                </a:solidFill>
              </a:rPr>
              <a:t>Status</a:t>
            </a:r>
          </a:p>
        </p:txBody>
      </p:sp>
      <p:sp>
        <p:nvSpPr>
          <p:cNvPr id="29" name="Rectangle 28"/>
          <p:cNvSpPr/>
          <p:nvPr/>
        </p:nvSpPr>
        <p:spPr>
          <a:xfrm>
            <a:off x="274320" y="3493008"/>
            <a:ext cx="8595360" cy="237744"/>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74320" y="3493008"/>
            <a:ext cx="2011680" cy="237744"/>
          </a:xfrm>
          <a:prstGeom prst="rect">
            <a:avLst/>
          </a:prstGeom>
          <a:noFill/>
        </p:spPr>
        <p:txBody>
          <a:bodyPr wrap="square">
            <a:spAutoFit/>
          </a:bodyPr>
          <a:lstStyle/>
          <a:p>
            <a:pPr algn="l"/>
            <a:r>
              <a:rPr sz="850" b="0" i="0">
                <a:solidFill>
                  <a:srgbClr val="2C3E50"/>
                </a:solidFill>
              </a:rPr>
              <a:t>Accuracy</a:t>
            </a:r>
          </a:p>
        </p:txBody>
      </p:sp>
      <p:sp>
        <p:nvSpPr>
          <p:cNvPr id="31" name="TextBox 30"/>
          <p:cNvSpPr txBox="1"/>
          <p:nvPr/>
        </p:nvSpPr>
        <p:spPr>
          <a:xfrm>
            <a:off x="2377440" y="3493008"/>
            <a:ext cx="2194560" cy="237744"/>
          </a:xfrm>
          <a:prstGeom prst="rect">
            <a:avLst/>
          </a:prstGeom>
          <a:noFill/>
        </p:spPr>
        <p:txBody>
          <a:bodyPr wrap="square">
            <a:spAutoFit/>
          </a:bodyPr>
          <a:lstStyle/>
          <a:p>
            <a:pPr algn="l"/>
            <a:r>
              <a:rPr sz="850" b="0" i="0">
                <a:solidFill>
                  <a:srgbClr val="2C3E50"/>
                </a:solidFill>
              </a:rPr>
              <a:t>~95.0%</a:t>
            </a:r>
          </a:p>
        </p:txBody>
      </p:sp>
      <p:sp>
        <p:nvSpPr>
          <p:cNvPr id="32" name="TextBox 31"/>
          <p:cNvSpPr txBox="1"/>
          <p:nvPr/>
        </p:nvSpPr>
        <p:spPr>
          <a:xfrm>
            <a:off x="4663440" y="3493008"/>
            <a:ext cx="2194560" cy="237744"/>
          </a:xfrm>
          <a:prstGeom prst="rect">
            <a:avLst/>
          </a:prstGeom>
          <a:noFill/>
        </p:spPr>
        <p:txBody>
          <a:bodyPr wrap="square">
            <a:spAutoFit/>
          </a:bodyPr>
          <a:lstStyle/>
          <a:p>
            <a:pPr algn="l"/>
            <a:r>
              <a:rPr sz="850" b="0" i="0">
                <a:solidFill>
                  <a:srgbClr val="2C3E50"/>
                </a:solidFill>
              </a:rPr>
              <a:t>94.33%</a:t>
            </a:r>
          </a:p>
        </p:txBody>
      </p:sp>
      <p:sp>
        <p:nvSpPr>
          <p:cNvPr id="33" name="TextBox 32"/>
          <p:cNvSpPr txBox="1"/>
          <p:nvPr/>
        </p:nvSpPr>
        <p:spPr>
          <a:xfrm>
            <a:off x="6949440" y="3493008"/>
            <a:ext cx="1920240" cy="237744"/>
          </a:xfrm>
          <a:prstGeom prst="rect">
            <a:avLst/>
          </a:prstGeom>
          <a:noFill/>
        </p:spPr>
        <p:txBody>
          <a:bodyPr wrap="square">
            <a:spAutoFit/>
          </a:bodyPr>
          <a:lstStyle/>
          <a:p>
            <a:pPr algn="l"/>
            <a:r>
              <a:rPr sz="850" b="0" i="0">
                <a:solidFill>
                  <a:srgbClr val="2C3E50"/>
                </a:solidFill>
              </a:rPr>
              <a:t>≈ Match</a:t>
            </a:r>
          </a:p>
        </p:txBody>
      </p:sp>
      <p:sp>
        <p:nvSpPr>
          <p:cNvPr id="34" name="Rectangle 33"/>
          <p:cNvSpPr/>
          <p:nvPr/>
        </p:nvSpPr>
        <p:spPr>
          <a:xfrm>
            <a:off x="274320" y="3749039"/>
            <a:ext cx="859536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74320" y="3749039"/>
            <a:ext cx="2011680" cy="237744"/>
          </a:xfrm>
          <a:prstGeom prst="rect">
            <a:avLst/>
          </a:prstGeom>
          <a:noFill/>
        </p:spPr>
        <p:txBody>
          <a:bodyPr wrap="square">
            <a:spAutoFit/>
          </a:bodyPr>
          <a:lstStyle/>
          <a:p>
            <a:pPr algn="l"/>
            <a:r>
              <a:rPr sz="850" b="0" i="0">
                <a:solidFill>
                  <a:srgbClr val="2C3E50"/>
                </a:solidFill>
              </a:rPr>
              <a:t>Macro F1</a:t>
            </a:r>
          </a:p>
        </p:txBody>
      </p:sp>
      <p:sp>
        <p:nvSpPr>
          <p:cNvPr id="36" name="TextBox 35"/>
          <p:cNvSpPr txBox="1"/>
          <p:nvPr/>
        </p:nvSpPr>
        <p:spPr>
          <a:xfrm>
            <a:off x="2377440" y="3749039"/>
            <a:ext cx="2194560" cy="237744"/>
          </a:xfrm>
          <a:prstGeom prst="rect">
            <a:avLst/>
          </a:prstGeom>
          <a:noFill/>
        </p:spPr>
        <p:txBody>
          <a:bodyPr wrap="square">
            <a:spAutoFit/>
          </a:bodyPr>
          <a:lstStyle/>
          <a:p>
            <a:pPr algn="l"/>
            <a:r>
              <a:rPr sz="850" b="0" i="0">
                <a:solidFill>
                  <a:srgbClr val="2C3E50"/>
                </a:solidFill>
              </a:rPr>
              <a:t>~0.93</a:t>
            </a:r>
          </a:p>
        </p:txBody>
      </p:sp>
      <p:sp>
        <p:nvSpPr>
          <p:cNvPr id="37" name="TextBox 36"/>
          <p:cNvSpPr txBox="1"/>
          <p:nvPr/>
        </p:nvSpPr>
        <p:spPr>
          <a:xfrm>
            <a:off x="4663440" y="3749039"/>
            <a:ext cx="2194560" cy="237744"/>
          </a:xfrm>
          <a:prstGeom prst="rect">
            <a:avLst/>
          </a:prstGeom>
          <a:noFill/>
        </p:spPr>
        <p:txBody>
          <a:bodyPr wrap="square">
            <a:spAutoFit/>
          </a:bodyPr>
          <a:lstStyle/>
          <a:p>
            <a:pPr algn="l"/>
            <a:r>
              <a:rPr sz="850" b="0" i="0">
                <a:solidFill>
                  <a:srgbClr val="2C3E50"/>
                </a:solidFill>
              </a:rPr>
              <a:t>0.9250</a:t>
            </a:r>
          </a:p>
        </p:txBody>
      </p:sp>
      <p:sp>
        <p:nvSpPr>
          <p:cNvPr id="38" name="TextBox 37"/>
          <p:cNvSpPr txBox="1"/>
          <p:nvPr/>
        </p:nvSpPr>
        <p:spPr>
          <a:xfrm>
            <a:off x="6949440" y="3749039"/>
            <a:ext cx="1920240" cy="237744"/>
          </a:xfrm>
          <a:prstGeom prst="rect">
            <a:avLst/>
          </a:prstGeom>
          <a:noFill/>
        </p:spPr>
        <p:txBody>
          <a:bodyPr wrap="square">
            <a:spAutoFit/>
          </a:bodyPr>
          <a:lstStyle/>
          <a:p>
            <a:pPr algn="l"/>
            <a:r>
              <a:rPr sz="850" b="0" i="0">
                <a:solidFill>
                  <a:srgbClr val="2C3E50"/>
                </a:solidFill>
              </a:rPr>
              <a:t>≈ Match</a:t>
            </a:r>
          </a:p>
        </p:txBody>
      </p:sp>
      <p:sp>
        <p:nvSpPr>
          <p:cNvPr id="39" name="Rectangle 38"/>
          <p:cNvSpPr/>
          <p:nvPr/>
        </p:nvSpPr>
        <p:spPr>
          <a:xfrm>
            <a:off x="274320" y="4005072"/>
            <a:ext cx="8595360" cy="237744"/>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4320" y="4005072"/>
            <a:ext cx="2011680" cy="237744"/>
          </a:xfrm>
          <a:prstGeom prst="rect">
            <a:avLst/>
          </a:prstGeom>
          <a:noFill/>
        </p:spPr>
        <p:txBody>
          <a:bodyPr wrap="square">
            <a:spAutoFit/>
          </a:bodyPr>
          <a:lstStyle/>
          <a:p>
            <a:pPr algn="l"/>
            <a:r>
              <a:rPr sz="850" b="0" i="0">
                <a:solidFill>
                  <a:srgbClr val="2C3E50"/>
                </a:solidFill>
              </a:rPr>
              <a:t>Mean ROC-AUC</a:t>
            </a:r>
          </a:p>
        </p:txBody>
      </p:sp>
      <p:sp>
        <p:nvSpPr>
          <p:cNvPr id="41" name="TextBox 40"/>
          <p:cNvSpPr txBox="1"/>
          <p:nvPr/>
        </p:nvSpPr>
        <p:spPr>
          <a:xfrm>
            <a:off x="2377440" y="4005072"/>
            <a:ext cx="2194560" cy="237744"/>
          </a:xfrm>
          <a:prstGeom prst="rect">
            <a:avLst/>
          </a:prstGeom>
          <a:noFill/>
        </p:spPr>
        <p:txBody>
          <a:bodyPr wrap="square">
            <a:spAutoFit/>
          </a:bodyPr>
          <a:lstStyle/>
          <a:p>
            <a:pPr algn="l"/>
            <a:r>
              <a:rPr sz="850" b="0" i="0">
                <a:solidFill>
                  <a:srgbClr val="2C3E50"/>
                </a:solidFill>
              </a:rPr>
              <a:t>Not reported</a:t>
            </a:r>
          </a:p>
        </p:txBody>
      </p:sp>
      <p:sp>
        <p:nvSpPr>
          <p:cNvPr id="42" name="TextBox 41"/>
          <p:cNvSpPr txBox="1"/>
          <p:nvPr/>
        </p:nvSpPr>
        <p:spPr>
          <a:xfrm>
            <a:off x="4663440" y="4005072"/>
            <a:ext cx="2194560" cy="237744"/>
          </a:xfrm>
          <a:prstGeom prst="rect">
            <a:avLst/>
          </a:prstGeom>
          <a:noFill/>
        </p:spPr>
        <p:txBody>
          <a:bodyPr wrap="square">
            <a:spAutoFit/>
          </a:bodyPr>
          <a:lstStyle/>
          <a:p>
            <a:pPr algn="l"/>
            <a:r>
              <a:rPr sz="850" b="0" i="0">
                <a:solidFill>
                  <a:srgbClr val="2C3E50"/>
                </a:solidFill>
              </a:rPr>
              <a:t>0.9957</a:t>
            </a:r>
          </a:p>
        </p:txBody>
      </p:sp>
      <p:sp>
        <p:nvSpPr>
          <p:cNvPr id="43" name="TextBox 42"/>
          <p:cNvSpPr txBox="1"/>
          <p:nvPr/>
        </p:nvSpPr>
        <p:spPr>
          <a:xfrm>
            <a:off x="6949440" y="4005072"/>
            <a:ext cx="1920240" cy="237744"/>
          </a:xfrm>
          <a:prstGeom prst="rect">
            <a:avLst/>
          </a:prstGeom>
          <a:noFill/>
        </p:spPr>
        <p:txBody>
          <a:bodyPr wrap="square">
            <a:spAutoFit/>
          </a:bodyPr>
          <a:lstStyle/>
          <a:p>
            <a:pPr algn="l"/>
            <a:r>
              <a:rPr sz="850" b="0" i="0">
                <a:solidFill>
                  <a:srgbClr val="1E8449"/>
                </a:solidFill>
              </a:rPr>
              <a:t>⬆ We lead</a:t>
            </a:r>
          </a:p>
        </p:txBody>
      </p:sp>
      <p:sp>
        <p:nvSpPr>
          <p:cNvPr id="44" name="Rectangle 43"/>
          <p:cNvSpPr/>
          <p:nvPr/>
        </p:nvSpPr>
        <p:spPr>
          <a:xfrm>
            <a:off x="274320" y="4261104"/>
            <a:ext cx="859536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74320" y="4261104"/>
            <a:ext cx="2011680" cy="237744"/>
          </a:xfrm>
          <a:prstGeom prst="rect">
            <a:avLst/>
          </a:prstGeom>
          <a:noFill/>
        </p:spPr>
        <p:txBody>
          <a:bodyPr wrap="square">
            <a:spAutoFit/>
          </a:bodyPr>
          <a:lstStyle/>
          <a:p>
            <a:pPr algn="l"/>
            <a:r>
              <a:rPr sz="850" b="0" i="0">
                <a:solidFill>
                  <a:srgbClr val="2C3E50"/>
                </a:solidFill>
              </a:rPr>
              <a:t>Interpretability</a:t>
            </a:r>
          </a:p>
        </p:txBody>
      </p:sp>
      <p:sp>
        <p:nvSpPr>
          <p:cNvPr id="46" name="TextBox 45"/>
          <p:cNvSpPr txBox="1"/>
          <p:nvPr/>
        </p:nvSpPr>
        <p:spPr>
          <a:xfrm>
            <a:off x="2377440" y="4261104"/>
            <a:ext cx="2194560" cy="237744"/>
          </a:xfrm>
          <a:prstGeom prst="rect">
            <a:avLst/>
          </a:prstGeom>
          <a:noFill/>
        </p:spPr>
        <p:txBody>
          <a:bodyPr wrap="square">
            <a:spAutoFit/>
          </a:bodyPr>
          <a:lstStyle/>
          <a:p>
            <a:pPr algn="l"/>
            <a:r>
              <a:rPr sz="850" b="0" i="0">
                <a:solidFill>
                  <a:srgbClr val="2C3E50"/>
                </a:solidFill>
              </a:rPr>
              <a:t>None (black box)</a:t>
            </a:r>
          </a:p>
        </p:txBody>
      </p:sp>
      <p:sp>
        <p:nvSpPr>
          <p:cNvPr id="47" name="TextBox 46"/>
          <p:cNvSpPr txBox="1"/>
          <p:nvPr/>
        </p:nvSpPr>
        <p:spPr>
          <a:xfrm>
            <a:off x="4663440" y="4261104"/>
            <a:ext cx="2194560" cy="237744"/>
          </a:xfrm>
          <a:prstGeom prst="rect">
            <a:avLst/>
          </a:prstGeom>
          <a:noFill/>
        </p:spPr>
        <p:txBody>
          <a:bodyPr wrap="square">
            <a:spAutoFit/>
          </a:bodyPr>
          <a:lstStyle/>
          <a:p>
            <a:pPr algn="l"/>
            <a:r>
              <a:rPr sz="850" b="0" i="0">
                <a:solidFill>
                  <a:srgbClr val="2C3E50"/>
                </a:solidFill>
              </a:rPr>
              <a:t>Gradient biomarkers</a:t>
            </a:r>
          </a:p>
        </p:txBody>
      </p:sp>
      <p:sp>
        <p:nvSpPr>
          <p:cNvPr id="48" name="TextBox 47"/>
          <p:cNvSpPr txBox="1"/>
          <p:nvPr/>
        </p:nvSpPr>
        <p:spPr>
          <a:xfrm>
            <a:off x="6949440" y="4261104"/>
            <a:ext cx="1920240" cy="237744"/>
          </a:xfrm>
          <a:prstGeom prst="rect">
            <a:avLst/>
          </a:prstGeom>
          <a:noFill/>
        </p:spPr>
        <p:txBody>
          <a:bodyPr wrap="square">
            <a:spAutoFit/>
          </a:bodyPr>
          <a:lstStyle/>
          <a:p>
            <a:pPr algn="l"/>
            <a:r>
              <a:rPr sz="850" b="0" i="0">
                <a:solidFill>
                  <a:srgbClr val="1E8449"/>
                </a:solidFill>
              </a:rPr>
              <a:t>⬆ We lead</a:t>
            </a:r>
          </a:p>
        </p:txBody>
      </p:sp>
      <p:sp>
        <p:nvSpPr>
          <p:cNvPr id="49" name="Rectangle 48"/>
          <p:cNvSpPr/>
          <p:nvPr/>
        </p:nvSpPr>
        <p:spPr>
          <a:xfrm>
            <a:off x="274320" y="4517136"/>
            <a:ext cx="8595360" cy="237744"/>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74320" y="4517136"/>
            <a:ext cx="2011680" cy="237744"/>
          </a:xfrm>
          <a:prstGeom prst="rect">
            <a:avLst/>
          </a:prstGeom>
          <a:noFill/>
        </p:spPr>
        <p:txBody>
          <a:bodyPr wrap="square">
            <a:spAutoFit/>
          </a:bodyPr>
          <a:lstStyle/>
          <a:p>
            <a:pPr algn="l"/>
            <a:r>
              <a:rPr sz="850" b="0" i="0">
                <a:solidFill>
                  <a:srgbClr val="2C3E50"/>
                </a:solidFill>
              </a:rPr>
              <a:t>Code available</a:t>
            </a:r>
          </a:p>
        </p:txBody>
      </p:sp>
      <p:sp>
        <p:nvSpPr>
          <p:cNvPr id="51" name="TextBox 50"/>
          <p:cNvSpPr txBox="1"/>
          <p:nvPr/>
        </p:nvSpPr>
        <p:spPr>
          <a:xfrm>
            <a:off x="2377440" y="4517136"/>
            <a:ext cx="2194560" cy="237744"/>
          </a:xfrm>
          <a:prstGeom prst="rect">
            <a:avLst/>
          </a:prstGeom>
          <a:noFill/>
        </p:spPr>
        <p:txBody>
          <a:bodyPr wrap="square">
            <a:spAutoFit/>
          </a:bodyPr>
          <a:lstStyle/>
          <a:p>
            <a:pPr algn="l"/>
            <a:r>
              <a:rPr sz="850" b="0" i="0">
                <a:solidFill>
                  <a:srgbClr val="2C3E50"/>
                </a:solidFill>
              </a:rPr>
              <a:t>Not released</a:t>
            </a:r>
          </a:p>
        </p:txBody>
      </p:sp>
      <p:sp>
        <p:nvSpPr>
          <p:cNvPr id="52" name="TextBox 51"/>
          <p:cNvSpPr txBox="1"/>
          <p:nvPr/>
        </p:nvSpPr>
        <p:spPr>
          <a:xfrm>
            <a:off x="4663440" y="4517136"/>
            <a:ext cx="2194560" cy="237744"/>
          </a:xfrm>
          <a:prstGeom prst="rect">
            <a:avLst/>
          </a:prstGeom>
          <a:noFill/>
        </p:spPr>
        <p:txBody>
          <a:bodyPr wrap="square">
            <a:spAutoFit/>
          </a:bodyPr>
          <a:lstStyle/>
          <a:p>
            <a:pPr algn="l"/>
            <a:r>
              <a:rPr sz="850" b="0" i="0">
                <a:solidFill>
                  <a:srgbClr val="2C3E50"/>
                </a:solidFill>
              </a:rPr>
              <a:t>Full Python pipeline</a:t>
            </a:r>
          </a:p>
        </p:txBody>
      </p:sp>
      <p:sp>
        <p:nvSpPr>
          <p:cNvPr id="53" name="TextBox 52"/>
          <p:cNvSpPr txBox="1"/>
          <p:nvPr/>
        </p:nvSpPr>
        <p:spPr>
          <a:xfrm>
            <a:off x="6949440" y="4517136"/>
            <a:ext cx="1920240" cy="237744"/>
          </a:xfrm>
          <a:prstGeom prst="rect">
            <a:avLst/>
          </a:prstGeom>
          <a:noFill/>
        </p:spPr>
        <p:txBody>
          <a:bodyPr wrap="square">
            <a:spAutoFit/>
          </a:bodyPr>
          <a:lstStyle/>
          <a:p>
            <a:pPr algn="l"/>
            <a:r>
              <a:rPr sz="850" b="0" i="0">
                <a:solidFill>
                  <a:srgbClr val="1E8449"/>
                </a:solidFill>
              </a:rPr>
              <a:t>⬆ We lead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LITERATURE REVIEW — RAMIREZ ET AL. (2020)</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7</a:t>
            </a:r>
          </a:p>
        </p:txBody>
      </p:sp>
      <p:sp>
        <p:nvSpPr>
          <p:cNvPr id="7" name="TextBox 6"/>
          <p:cNvSpPr txBox="1"/>
          <p:nvPr/>
        </p:nvSpPr>
        <p:spPr>
          <a:xfrm>
            <a:off x="274320" y="548640"/>
            <a:ext cx="8595360" cy="256032"/>
          </a:xfrm>
          <a:prstGeom prst="rect">
            <a:avLst/>
          </a:prstGeom>
          <a:noFill/>
        </p:spPr>
        <p:txBody>
          <a:bodyPr wrap="square">
            <a:spAutoFit/>
          </a:bodyPr>
          <a:lstStyle/>
          <a:p>
            <a:pPr algn="l"/>
            <a:r>
              <a:rPr sz="1050" b="1" i="0">
                <a:solidFill>
                  <a:srgbClr val="1A5276"/>
                </a:solidFill>
              </a:rPr>
              <a:t>Ramirez et al. — Classification of Cancer Types Using Graph Convolutional Networks | BMC Bioinformatics</a:t>
            </a:r>
          </a:p>
        </p:txBody>
      </p:sp>
      <p:sp>
        <p:nvSpPr>
          <p:cNvPr id="8" name="Rectangle 7"/>
          <p:cNvSpPr/>
          <p:nvPr/>
        </p:nvSpPr>
        <p:spPr>
          <a:xfrm>
            <a:off x="274320" y="804672"/>
            <a:ext cx="85953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877824"/>
            <a:ext cx="4114800" cy="256032"/>
          </a:xfrm>
          <a:prstGeom prst="rect">
            <a:avLst/>
          </a:prstGeom>
          <a:noFill/>
        </p:spPr>
        <p:txBody>
          <a:bodyPr wrap="square">
            <a:spAutoFit/>
          </a:bodyPr>
          <a:lstStyle/>
          <a:p>
            <a:pPr algn="l"/>
            <a:r>
              <a:rPr sz="1050" b="1" i="0">
                <a:solidFill>
                  <a:srgbClr val="1A5276"/>
                </a:solidFill>
              </a:rPr>
              <a:t>Approach</a:t>
            </a:r>
          </a:p>
        </p:txBody>
      </p:sp>
      <p:sp>
        <p:nvSpPr>
          <p:cNvPr id="10" name="TextBox 9"/>
          <p:cNvSpPr txBox="1"/>
          <p:nvPr/>
        </p:nvSpPr>
        <p:spPr>
          <a:xfrm>
            <a:off x="274320" y="1133856"/>
            <a:ext cx="4114800" cy="914400"/>
          </a:xfrm>
          <a:prstGeom prst="rect">
            <a:avLst/>
          </a:prstGeom>
          <a:noFill/>
        </p:spPr>
        <p:txBody>
          <a:bodyPr wrap="square">
            <a:spAutoFit/>
          </a:bodyPr>
          <a:lstStyle/>
          <a:p>
            <a:r>
              <a:rPr sz="900" b="0" i="0">
                <a:solidFill>
                  <a:srgbClr val="2C3E50"/>
                </a:solidFill>
              </a:rPr>
              <a:t>Graph CNN applied to TCGA data. Encodes known gene-gene protein interaction networks as a graph structure. Each node = a gene; edges = protein interaction from STRING database.</a:t>
            </a:r>
          </a:p>
        </p:txBody>
      </p:sp>
      <p:sp>
        <p:nvSpPr>
          <p:cNvPr id="11" name="TextBox 10"/>
          <p:cNvSpPr txBox="1"/>
          <p:nvPr/>
        </p:nvSpPr>
        <p:spPr>
          <a:xfrm>
            <a:off x="274320" y="1901952"/>
            <a:ext cx="4114800" cy="256032"/>
          </a:xfrm>
          <a:prstGeom prst="rect">
            <a:avLst/>
          </a:prstGeom>
          <a:noFill/>
        </p:spPr>
        <p:txBody>
          <a:bodyPr wrap="square">
            <a:spAutoFit/>
          </a:bodyPr>
          <a:lstStyle/>
          <a:p>
            <a:pPr algn="l"/>
            <a:r>
              <a:rPr sz="1050" b="1" i="0">
                <a:solidFill>
                  <a:srgbClr val="1A5276"/>
                </a:solidFill>
              </a:rPr>
              <a:t>Results</a:t>
            </a:r>
          </a:p>
        </p:txBody>
      </p:sp>
      <p:sp>
        <p:nvSpPr>
          <p:cNvPr id="12" name="TextBox 11"/>
          <p:cNvSpPr txBox="1"/>
          <p:nvPr/>
        </p:nvSpPr>
        <p:spPr>
          <a:xfrm>
            <a:off x="384048" y="2157984"/>
            <a:ext cx="3931920" cy="237744"/>
          </a:xfrm>
          <a:prstGeom prst="rect">
            <a:avLst/>
          </a:prstGeom>
          <a:noFill/>
        </p:spPr>
        <p:txBody>
          <a:bodyPr wrap="square">
            <a:spAutoFit/>
          </a:bodyPr>
          <a:lstStyle/>
          <a:p>
            <a:pPr algn="l"/>
            <a:r>
              <a:rPr sz="900" b="1" i="0">
                <a:solidFill>
                  <a:srgbClr val="2C3E50"/>
                </a:solidFill>
              </a:rPr>
              <a:t>✓  94% accuracy on 33 cancer types</a:t>
            </a:r>
          </a:p>
        </p:txBody>
      </p:sp>
      <p:sp>
        <p:nvSpPr>
          <p:cNvPr id="13" name="TextBox 12"/>
          <p:cNvSpPr txBox="1"/>
          <p:nvPr/>
        </p:nvSpPr>
        <p:spPr>
          <a:xfrm>
            <a:off x="384048" y="2432303"/>
            <a:ext cx="3931920" cy="237744"/>
          </a:xfrm>
          <a:prstGeom prst="rect">
            <a:avLst/>
          </a:prstGeom>
          <a:noFill/>
        </p:spPr>
        <p:txBody>
          <a:bodyPr wrap="square">
            <a:spAutoFit/>
          </a:bodyPr>
          <a:lstStyle/>
          <a:p>
            <a:pPr algn="l"/>
            <a:r>
              <a:rPr sz="900" b="1" i="0">
                <a:solidFill>
                  <a:srgbClr val="2C3E50"/>
                </a:solidFill>
              </a:rPr>
              <a:t>✓  428 marker genes identified</a:t>
            </a:r>
          </a:p>
        </p:txBody>
      </p:sp>
      <p:sp>
        <p:nvSpPr>
          <p:cNvPr id="14" name="TextBox 13"/>
          <p:cNvSpPr txBox="1"/>
          <p:nvPr/>
        </p:nvSpPr>
        <p:spPr>
          <a:xfrm>
            <a:off x="384048" y="2706623"/>
            <a:ext cx="3931920" cy="237744"/>
          </a:xfrm>
          <a:prstGeom prst="rect">
            <a:avLst/>
          </a:prstGeom>
          <a:noFill/>
        </p:spPr>
        <p:txBody>
          <a:bodyPr wrap="square">
            <a:spAutoFit/>
          </a:bodyPr>
          <a:lstStyle/>
          <a:p>
            <a:pPr algn="l"/>
            <a:r>
              <a:rPr sz="900" b="1" i="0">
                <a:solidFill>
                  <a:srgbClr val="2C3E50"/>
                </a:solidFill>
              </a:rPr>
              <a:t>✓  Validated known biomarkers for multiple cancer types</a:t>
            </a:r>
          </a:p>
        </p:txBody>
      </p:sp>
      <p:sp>
        <p:nvSpPr>
          <p:cNvPr id="15" name="TextBox 14"/>
          <p:cNvSpPr txBox="1"/>
          <p:nvPr/>
        </p:nvSpPr>
        <p:spPr>
          <a:xfrm>
            <a:off x="384048" y="2980943"/>
            <a:ext cx="3931920" cy="237744"/>
          </a:xfrm>
          <a:prstGeom prst="rect">
            <a:avLst/>
          </a:prstGeom>
          <a:noFill/>
        </p:spPr>
        <p:txBody>
          <a:bodyPr wrap="square">
            <a:spAutoFit/>
          </a:bodyPr>
          <a:lstStyle/>
          <a:p>
            <a:pPr algn="l"/>
            <a:r>
              <a:rPr sz="900" b="1" i="0">
                <a:solidFill>
                  <a:srgbClr val="2C3E50"/>
                </a:solidFill>
              </a:rPr>
              <a:t>✓  Showed gene co-expression relationships improve accuracy</a:t>
            </a:r>
          </a:p>
        </p:txBody>
      </p:sp>
      <p:sp>
        <p:nvSpPr>
          <p:cNvPr id="16" name="TextBox 15"/>
          <p:cNvSpPr txBox="1"/>
          <p:nvPr/>
        </p:nvSpPr>
        <p:spPr>
          <a:xfrm>
            <a:off x="274320" y="3108960"/>
            <a:ext cx="4114800" cy="256032"/>
          </a:xfrm>
          <a:prstGeom prst="rect">
            <a:avLst/>
          </a:prstGeom>
          <a:noFill/>
        </p:spPr>
        <p:txBody>
          <a:bodyPr wrap="square">
            <a:spAutoFit/>
          </a:bodyPr>
          <a:lstStyle/>
          <a:p>
            <a:pPr algn="l"/>
            <a:r>
              <a:rPr sz="1050" b="1" i="0">
                <a:solidFill>
                  <a:srgbClr val="1A5276"/>
                </a:solidFill>
              </a:rPr>
              <a:t>Critical Finding for Our Work</a:t>
            </a:r>
          </a:p>
        </p:txBody>
      </p:sp>
      <p:sp>
        <p:nvSpPr>
          <p:cNvPr id="17" name="Rectangle 16"/>
          <p:cNvSpPr/>
          <p:nvPr/>
        </p:nvSpPr>
        <p:spPr>
          <a:xfrm>
            <a:off x="274320" y="3364992"/>
            <a:ext cx="411480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4320" y="3419856"/>
            <a:ext cx="4114800" cy="731520"/>
          </a:xfrm>
          <a:prstGeom prst="rect">
            <a:avLst/>
          </a:prstGeom>
          <a:noFill/>
        </p:spPr>
        <p:txBody>
          <a:bodyPr wrap="square">
            <a:spAutoFit/>
          </a:bodyPr>
          <a:lstStyle/>
          <a:p>
            <a:r>
              <a:rPr sz="900" b="0" i="0">
                <a:solidFill>
                  <a:srgbClr val="2C3E50"/>
                </a:solidFill>
              </a:rPr>
              <a:t>Even with graph-level gene interaction encoding, READ and COAD remained the most confused pair. This independently confirms that the molecular profiles of rectal and colon adenocarcinoma are indistinguishable by any computational model — a biological fact, not a model weakness.</a:t>
            </a:r>
          </a:p>
        </p:txBody>
      </p:sp>
      <p:sp>
        <p:nvSpPr>
          <p:cNvPr id="19" name="TextBox 18"/>
          <p:cNvSpPr txBox="1"/>
          <p:nvPr/>
        </p:nvSpPr>
        <p:spPr>
          <a:xfrm>
            <a:off x="4663440" y="877824"/>
            <a:ext cx="4206240" cy="256032"/>
          </a:xfrm>
          <a:prstGeom prst="rect">
            <a:avLst/>
          </a:prstGeom>
          <a:noFill/>
        </p:spPr>
        <p:txBody>
          <a:bodyPr wrap="square">
            <a:spAutoFit/>
          </a:bodyPr>
          <a:lstStyle/>
          <a:p>
            <a:pPr algn="l"/>
            <a:r>
              <a:rPr sz="1050" b="1" i="0">
                <a:solidFill>
                  <a:srgbClr val="1A5276"/>
                </a:solidFill>
              </a:rPr>
              <a:t>Supporting Literature</a:t>
            </a:r>
          </a:p>
        </p:txBody>
      </p:sp>
      <p:sp>
        <p:nvSpPr>
          <p:cNvPr id="20" name="Rectangle 19"/>
          <p:cNvSpPr/>
          <p:nvPr/>
        </p:nvSpPr>
        <p:spPr>
          <a:xfrm>
            <a:off x="4663440" y="1133856"/>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63440" y="1188720"/>
            <a:ext cx="4206240" cy="219456"/>
          </a:xfrm>
          <a:prstGeom prst="rect">
            <a:avLst/>
          </a:prstGeom>
          <a:noFill/>
        </p:spPr>
        <p:txBody>
          <a:bodyPr wrap="square">
            <a:spAutoFit/>
          </a:bodyPr>
          <a:lstStyle/>
          <a:p>
            <a:pPr algn="l"/>
            <a:r>
              <a:rPr sz="900" b="1" i="0">
                <a:solidFill>
                  <a:srgbClr val="1A5276"/>
                </a:solidFill>
              </a:rPr>
              <a:t>Lopez-Garcia et al. (2020)</a:t>
            </a:r>
          </a:p>
        </p:txBody>
      </p:sp>
      <p:sp>
        <p:nvSpPr>
          <p:cNvPr id="22" name="TextBox 21"/>
          <p:cNvSpPr txBox="1"/>
          <p:nvPr/>
        </p:nvSpPr>
        <p:spPr>
          <a:xfrm>
            <a:off x="4663440" y="1389888"/>
            <a:ext cx="4206240" cy="329184"/>
          </a:xfrm>
          <a:prstGeom prst="rect">
            <a:avLst/>
          </a:prstGeom>
          <a:noFill/>
        </p:spPr>
        <p:txBody>
          <a:bodyPr wrap="square">
            <a:spAutoFit/>
          </a:bodyPr>
          <a:lstStyle/>
          <a:p>
            <a:pPr algn="l"/>
            <a:r>
              <a:rPr sz="850" b="0" i="0">
                <a:solidFill>
                  <a:srgbClr val="2C3E50"/>
                </a:solidFill>
              </a:rPr>
              <a:t>82% accuracy using Random Forests on TCGA subset. Confirms deep learning outperforms classical ML for this problem.</a:t>
            </a:r>
          </a:p>
        </p:txBody>
      </p:sp>
      <p:sp>
        <p:nvSpPr>
          <p:cNvPr id="23" name="TextBox 22"/>
          <p:cNvSpPr txBox="1"/>
          <p:nvPr/>
        </p:nvSpPr>
        <p:spPr>
          <a:xfrm>
            <a:off x="4663440" y="1828800"/>
            <a:ext cx="4206240" cy="219456"/>
          </a:xfrm>
          <a:prstGeom prst="rect">
            <a:avLst/>
          </a:prstGeom>
          <a:noFill/>
        </p:spPr>
        <p:txBody>
          <a:bodyPr wrap="square">
            <a:spAutoFit/>
          </a:bodyPr>
          <a:lstStyle/>
          <a:p>
            <a:pPr algn="l"/>
            <a:r>
              <a:rPr sz="900" b="1" i="0">
                <a:solidFill>
                  <a:srgbClr val="1A5276"/>
                </a:solidFill>
              </a:rPr>
              <a:t>Sun et al. (2019)</a:t>
            </a:r>
          </a:p>
        </p:txBody>
      </p:sp>
      <p:sp>
        <p:nvSpPr>
          <p:cNvPr id="24" name="TextBox 23"/>
          <p:cNvSpPr txBox="1"/>
          <p:nvPr/>
        </p:nvSpPr>
        <p:spPr>
          <a:xfrm>
            <a:off x="4663440" y="2029968"/>
            <a:ext cx="4206240" cy="329184"/>
          </a:xfrm>
          <a:prstGeom prst="rect">
            <a:avLst/>
          </a:prstGeom>
          <a:noFill/>
        </p:spPr>
        <p:txBody>
          <a:bodyPr wrap="square">
            <a:spAutoFit/>
          </a:bodyPr>
          <a:lstStyle/>
          <a:p>
            <a:pPr algn="l"/>
            <a:r>
              <a:rPr sz="850" b="0" i="0">
                <a:solidFill>
                  <a:srgbClr val="2C3E50"/>
                </a:solidFill>
              </a:rPr>
              <a:t>84% accuracy using autoencoders for feature extraction then classification. Highlights dimensionality reduction value.</a:t>
            </a:r>
          </a:p>
        </p:txBody>
      </p:sp>
      <p:sp>
        <p:nvSpPr>
          <p:cNvPr id="25" name="TextBox 24"/>
          <p:cNvSpPr txBox="1"/>
          <p:nvPr/>
        </p:nvSpPr>
        <p:spPr>
          <a:xfrm>
            <a:off x="4663440" y="2468880"/>
            <a:ext cx="4206240" cy="219456"/>
          </a:xfrm>
          <a:prstGeom prst="rect">
            <a:avLst/>
          </a:prstGeom>
          <a:noFill/>
        </p:spPr>
        <p:txBody>
          <a:bodyPr wrap="square">
            <a:spAutoFit/>
          </a:bodyPr>
          <a:lstStyle/>
          <a:p>
            <a:pPr algn="l"/>
            <a:r>
              <a:rPr sz="900" b="1" i="0">
                <a:solidFill>
                  <a:srgbClr val="1A5276"/>
                </a:solidFill>
              </a:rPr>
              <a:t>Yuan &amp; Bar-Joseph (2021)</a:t>
            </a:r>
          </a:p>
        </p:txBody>
      </p:sp>
      <p:sp>
        <p:nvSpPr>
          <p:cNvPr id="26" name="TextBox 25"/>
          <p:cNvSpPr txBox="1"/>
          <p:nvPr/>
        </p:nvSpPr>
        <p:spPr>
          <a:xfrm>
            <a:off x="4663440" y="2670048"/>
            <a:ext cx="4206240" cy="329184"/>
          </a:xfrm>
          <a:prstGeom prst="rect">
            <a:avLst/>
          </a:prstGeom>
          <a:noFill/>
        </p:spPr>
        <p:txBody>
          <a:bodyPr wrap="square">
            <a:spAutoFit/>
          </a:bodyPr>
          <a:lstStyle/>
          <a:p>
            <a:pPr algn="l"/>
            <a:r>
              <a:rPr sz="850" b="0" i="0">
                <a:solidFill>
                  <a:srgbClr val="2C3E50"/>
                </a:solidFill>
              </a:rPr>
              <a:t>88% accuracy with BERT-style transfer learning on gene sequences. Higher compute, marginal gain over simpler CNNs.</a:t>
            </a:r>
          </a:p>
        </p:txBody>
      </p:sp>
      <p:sp>
        <p:nvSpPr>
          <p:cNvPr id="27" name="TextBox 26"/>
          <p:cNvSpPr txBox="1"/>
          <p:nvPr/>
        </p:nvSpPr>
        <p:spPr>
          <a:xfrm>
            <a:off x="4663440" y="3108960"/>
            <a:ext cx="4206240" cy="219456"/>
          </a:xfrm>
          <a:prstGeom prst="rect">
            <a:avLst/>
          </a:prstGeom>
          <a:noFill/>
        </p:spPr>
        <p:txBody>
          <a:bodyPr wrap="square">
            <a:spAutoFit/>
          </a:bodyPr>
          <a:lstStyle/>
          <a:p>
            <a:pPr algn="l"/>
            <a:r>
              <a:rPr sz="900" b="1" i="0">
                <a:solidFill>
                  <a:srgbClr val="1A5276"/>
                </a:solidFill>
              </a:rPr>
              <a:t>Hoadley et al. (2018)</a:t>
            </a:r>
          </a:p>
        </p:txBody>
      </p:sp>
      <p:sp>
        <p:nvSpPr>
          <p:cNvPr id="28" name="TextBox 27"/>
          <p:cNvSpPr txBox="1"/>
          <p:nvPr/>
        </p:nvSpPr>
        <p:spPr>
          <a:xfrm>
            <a:off x="4663440" y="3310128"/>
            <a:ext cx="4206240" cy="329184"/>
          </a:xfrm>
          <a:prstGeom prst="rect">
            <a:avLst/>
          </a:prstGeom>
          <a:noFill/>
        </p:spPr>
        <p:txBody>
          <a:bodyPr wrap="square">
            <a:spAutoFit/>
          </a:bodyPr>
          <a:lstStyle/>
          <a:p>
            <a:pPr algn="l"/>
            <a:r>
              <a:rPr sz="850" b="0" i="0">
                <a:solidFill>
                  <a:srgbClr val="2C3E50"/>
                </a:solidFill>
              </a:rPr>
              <a:t>Cell paper: COAD and READ share identical molecular subtypes. Direct biological justification for our READ/COAD merge.</a:t>
            </a:r>
          </a:p>
        </p:txBody>
      </p:sp>
      <p:sp>
        <p:nvSpPr>
          <p:cNvPr id="29" name="TextBox 28"/>
          <p:cNvSpPr txBox="1"/>
          <p:nvPr/>
        </p:nvSpPr>
        <p:spPr>
          <a:xfrm>
            <a:off x="4663440" y="3730752"/>
            <a:ext cx="4206240" cy="256032"/>
          </a:xfrm>
          <a:prstGeom prst="rect">
            <a:avLst/>
          </a:prstGeom>
          <a:noFill/>
        </p:spPr>
        <p:txBody>
          <a:bodyPr wrap="square">
            <a:spAutoFit/>
          </a:bodyPr>
          <a:lstStyle/>
          <a:p>
            <a:pPr algn="l"/>
            <a:r>
              <a:rPr sz="1050" b="1" i="0">
                <a:solidFill>
                  <a:srgbClr val="1A5276"/>
                </a:solidFill>
              </a:rPr>
              <a:t>Our Position</a:t>
            </a:r>
          </a:p>
        </p:txBody>
      </p:sp>
      <p:sp>
        <p:nvSpPr>
          <p:cNvPr id="30" name="Rectangle 29"/>
          <p:cNvSpPr/>
          <p:nvPr/>
        </p:nvSpPr>
        <p:spPr>
          <a:xfrm>
            <a:off x="4663440" y="3986784"/>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63440" y="4041648"/>
            <a:ext cx="4206240" cy="621792"/>
          </a:xfrm>
          <a:prstGeom prst="rect">
            <a:avLst/>
          </a:prstGeom>
          <a:noFill/>
        </p:spPr>
        <p:txBody>
          <a:bodyPr wrap="square">
            <a:spAutoFit/>
          </a:bodyPr>
          <a:lstStyle/>
          <a:p>
            <a:r>
              <a:rPr sz="900" b="0" i="0">
                <a:solidFill>
                  <a:srgbClr val="2C3E50"/>
                </a:solidFill>
              </a:rPr>
              <a:t>We build on Mostavi's CNN foundation and Ramirez's biological validation — adding SE-attention, 5-model ensemble, MixUp, SMOTE, TTA, and temperature calibration. We solve READ/COAD explicitly.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KEY DESIGN DECISION — READ/COAD MERGE</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8</a:t>
            </a:r>
          </a:p>
        </p:txBody>
      </p:sp>
      <p:sp>
        <p:nvSpPr>
          <p:cNvPr id="7" name="TextBox 6"/>
          <p:cNvSpPr txBox="1"/>
          <p:nvPr/>
        </p:nvSpPr>
        <p:spPr>
          <a:xfrm>
            <a:off x="274320" y="548640"/>
            <a:ext cx="4114800" cy="256032"/>
          </a:xfrm>
          <a:prstGeom prst="rect">
            <a:avLst/>
          </a:prstGeom>
          <a:noFill/>
        </p:spPr>
        <p:txBody>
          <a:bodyPr wrap="square">
            <a:spAutoFit/>
          </a:bodyPr>
          <a:lstStyle/>
          <a:p>
            <a:pPr algn="l"/>
            <a:r>
              <a:rPr sz="1050" b="1" i="0">
                <a:solidFill>
                  <a:srgbClr val="1A5276"/>
                </a:solidFill>
              </a:rPr>
              <a:t>The Problem With READ and COAD</a:t>
            </a:r>
          </a:p>
        </p:txBody>
      </p:sp>
      <p:sp>
        <p:nvSpPr>
          <p:cNvPr id="8" name="Rectangle 7"/>
          <p:cNvSpPr/>
          <p:nvPr/>
        </p:nvSpPr>
        <p:spPr>
          <a:xfrm>
            <a:off x="274320" y="804672"/>
            <a:ext cx="411480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859536"/>
            <a:ext cx="4114800" cy="548640"/>
          </a:xfrm>
          <a:prstGeom prst="rect">
            <a:avLst/>
          </a:prstGeom>
          <a:noFill/>
        </p:spPr>
        <p:txBody>
          <a:bodyPr wrap="square">
            <a:spAutoFit/>
          </a:bodyPr>
          <a:lstStyle/>
          <a:p>
            <a:r>
              <a:rPr sz="950" b="0" i="0">
                <a:solidFill>
                  <a:srgbClr val="2C3E50"/>
                </a:solidFill>
              </a:rPr>
              <a:t>TCGA originally labeled READ (rectum adenocarcinoma) and COAD (colon adenocarcinoma) as separate classes based on anatomical location. But at the gene expression level, they are the same disease.</a:t>
            </a:r>
          </a:p>
        </p:txBody>
      </p:sp>
      <p:sp>
        <p:nvSpPr>
          <p:cNvPr id="10" name="TextBox 9"/>
          <p:cNvSpPr txBox="1"/>
          <p:nvPr/>
        </p:nvSpPr>
        <p:spPr>
          <a:xfrm>
            <a:off x="274320" y="1554480"/>
            <a:ext cx="4114800" cy="256032"/>
          </a:xfrm>
          <a:prstGeom prst="rect">
            <a:avLst/>
          </a:prstGeom>
          <a:noFill/>
        </p:spPr>
        <p:txBody>
          <a:bodyPr wrap="square">
            <a:spAutoFit/>
          </a:bodyPr>
          <a:lstStyle/>
          <a:p>
            <a:pPr algn="l"/>
            <a:r>
              <a:rPr sz="1050" b="1" i="0">
                <a:solidFill>
                  <a:srgbClr val="1A5276"/>
                </a:solidFill>
              </a:rPr>
              <a:t>Evidence from the Literature</a:t>
            </a:r>
          </a:p>
        </p:txBody>
      </p:sp>
      <p:sp>
        <p:nvSpPr>
          <p:cNvPr id="11" name="TextBox 10"/>
          <p:cNvSpPr txBox="1"/>
          <p:nvPr/>
        </p:nvSpPr>
        <p:spPr>
          <a:xfrm>
            <a:off x="384048" y="1810512"/>
            <a:ext cx="3931920" cy="219456"/>
          </a:xfrm>
          <a:prstGeom prst="rect">
            <a:avLst/>
          </a:prstGeom>
          <a:noFill/>
        </p:spPr>
        <p:txBody>
          <a:bodyPr wrap="square">
            <a:spAutoFit/>
          </a:bodyPr>
          <a:lstStyle/>
          <a:p>
            <a:pPr algn="l"/>
            <a:r>
              <a:rPr sz="900" b="0" i="0">
                <a:solidFill>
                  <a:srgbClr val="2C3E50"/>
                </a:solidFill>
              </a:rPr>
              <a:t>▶  Mostavi (2020): READ F1 = 0.40 — worst class by far</a:t>
            </a:r>
          </a:p>
        </p:txBody>
      </p:sp>
      <p:sp>
        <p:nvSpPr>
          <p:cNvPr id="12" name="TextBox 11"/>
          <p:cNvSpPr txBox="1"/>
          <p:nvPr/>
        </p:nvSpPr>
        <p:spPr>
          <a:xfrm>
            <a:off x="384048" y="2084831"/>
            <a:ext cx="3931920" cy="219456"/>
          </a:xfrm>
          <a:prstGeom prst="rect">
            <a:avLst/>
          </a:prstGeom>
          <a:noFill/>
        </p:spPr>
        <p:txBody>
          <a:bodyPr wrap="square">
            <a:spAutoFit/>
          </a:bodyPr>
          <a:lstStyle/>
          <a:p>
            <a:pPr algn="l"/>
            <a:r>
              <a:rPr sz="900" b="0" i="0">
                <a:solidFill>
                  <a:srgbClr val="2C3E50"/>
                </a:solidFill>
              </a:rPr>
              <a:t>▶  Ramirez (2020): COAD/READ most confused pair even with graph CNNs</a:t>
            </a:r>
          </a:p>
        </p:txBody>
      </p:sp>
      <p:sp>
        <p:nvSpPr>
          <p:cNvPr id="13" name="TextBox 12"/>
          <p:cNvSpPr txBox="1"/>
          <p:nvPr/>
        </p:nvSpPr>
        <p:spPr>
          <a:xfrm>
            <a:off x="384048" y="2359151"/>
            <a:ext cx="3931920" cy="219456"/>
          </a:xfrm>
          <a:prstGeom prst="rect">
            <a:avLst/>
          </a:prstGeom>
          <a:noFill/>
        </p:spPr>
        <p:txBody>
          <a:bodyPr wrap="square">
            <a:spAutoFit/>
          </a:bodyPr>
          <a:lstStyle/>
          <a:p>
            <a:pPr algn="l"/>
            <a:r>
              <a:rPr sz="900" b="0" i="0">
                <a:solidFill>
                  <a:srgbClr val="2C3E50"/>
                </a:solidFill>
              </a:rPr>
              <a:t>▶  Hoadley et al. (2018) Cell: COAD and READ share identical molecular subtypes</a:t>
            </a:r>
          </a:p>
        </p:txBody>
      </p:sp>
      <p:sp>
        <p:nvSpPr>
          <p:cNvPr id="14" name="TextBox 13"/>
          <p:cNvSpPr txBox="1"/>
          <p:nvPr/>
        </p:nvSpPr>
        <p:spPr>
          <a:xfrm>
            <a:off x="384048" y="2633471"/>
            <a:ext cx="3931920" cy="219456"/>
          </a:xfrm>
          <a:prstGeom prst="rect">
            <a:avLst/>
          </a:prstGeom>
          <a:noFill/>
        </p:spPr>
        <p:txBody>
          <a:bodyPr wrap="square">
            <a:spAutoFit/>
          </a:bodyPr>
          <a:lstStyle/>
          <a:p>
            <a:pPr algn="l"/>
            <a:r>
              <a:rPr sz="900" b="0" i="0">
                <a:solidFill>
                  <a:srgbClr val="2C3E50"/>
                </a:solidFill>
              </a:rPr>
              <a:t>▶  TCGA's own Pan-Cancer analysis groups them as Colorectal Cancer (CRC)</a:t>
            </a:r>
          </a:p>
        </p:txBody>
      </p:sp>
      <p:sp>
        <p:nvSpPr>
          <p:cNvPr id="15" name="TextBox 14"/>
          <p:cNvSpPr txBox="1"/>
          <p:nvPr/>
        </p:nvSpPr>
        <p:spPr>
          <a:xfrm>
            <a:off x="384048" y="2907791"/>
            <a:ext cx="3931920" cy="219456"/>
          </a:xfrm>
          <a:prstGeom prst="rect">
            <a:avLst/>
          </a:prstGeom>
          <a:noFill/>
        </p:spPr>
        <p:txBody>
          <a:bodyPr wrap="square">
            <a:spAutoFit/>
          </a:bodyPr>
          <a:lstStyle/>
          <a:p>
            <a:pPr algn="l"/>
            <a:r>
              <a:rPr sz="900" b="0" i="0">
                <a:solidFill>
                  <a:srgbClr val="2C3E50"/>
                </a:solidFill>
              </a:rPr>
              <a:t>▶  Clinical oncology treats them as one disease — same chemotherapy protocols</a:t>
            </a:r>
          </a:p>
        </p:txBody>
      </p:sp>
      <p:sp>
        <p:nvSpPr>
          <p:cNvPr id="16" name="TextBox 15"/>
          <p:cNvSpPr txBox="1"/>
          <p:nvPr/>
        </p:nvSpPr>
        <p:spPr>
          <a:xfrm>
            <a:off x="4663440" y="548640"/>
            <a:ext cx="4206240" cy="256032"/>
          </a:xfrm>
          <a:prstGeom prst="rect">
            <a:avLst/>
          </a:prstGeom>
          <a:noFill/>
        </p:spPr>
        <p:txBody>
          <a:bodyPr wrap="square">
            <a:spAutoFit/>
          </a:bodyPr>
          <a:lstStyle/>
          <a:p>
            <a:pPr algn="l"/>
            <a:r>
              <a:rPr sz="1050" b="1" i="0">
                <a:solidFill>
                  <a:srgbClr val="1A5276"/>
                </a:solidFill>
              </a:rPr>
              <a:t>Our Decision</a:t>
            </a:r>
          </a:p>
        </p:txBody>
      </p:sp>
      <p:sp>
        <p:nvSpPr>
          <p:cNvPr id="17" name="Rectangle 16"/>
          <p:cNvSpPr/>
          <p:nvPr/>
        </p:nvSpPr>
        <p:spPr>
          <a:xfrm>
            <a:off x="4663440" y="804672"/>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63440" y="859536"/>
            <a:ext cx="4206240" cy="548640"/>
          </a:xfrm>
          <a:prstGeom prst="rect">
            <a:avLst/>
          </a:prstGeom>
          <a:noFill/>
        </p:spPr>
        <p:txBody>
          <a:bodyPr wrap="square">
            <a:spAutoFit/>
          </a:bodyPr>
          <a:lstStyle/>
          <a:p>
            <a:r>
              <a:rPr sz="950" b="0" i="0">
                <a:solidFill>
                  <a:srgbClr val="2C3E50"/>
                </a:solidFill>
              </a:rPr>
              <a:t>We merged READ into COAD during data loading. All READ labels were remapped to the COAD class. The result is 32 classes instead of 33 — a biologically accurate reduction.</a:t>
            </a:r>
          </a:p>
        </p:txBody>
      </p:sp>
      <p:sp>
        <p:nvSpPr>
          <p:cNvPr id="19" name="TextBox 18"/>
          <p:cNvSpPr txBox="1"/>
          <p:nvPr/>
        </p:nvSpPr>
        <p:spPr>
          <a:xfrm>
            <a:off x="4663440" y="1554480"/>
            <a:ext cx="4206240" cy="256032"/>
          </a:xfrm>
          <a:prstGeom prst="rect">
            <a:avLst/>
          </a:prstGeom>
          <a:noFill/>
        </p:spPr>
        <p:txBody>
          <a:bodyPr wrap="square">
            <a:spAutoFit/>
          </a:bodyPr>
          <a:lstStyle/>
          <a:p>
            <a:pPr algn="l"/>
            <a:r>
              <a:rPr sz="1050" b="1" i="0">
                <a:solidFill>
                  <a:srgbClr val="1A5276"/>
                </a:solidFill>
              </a:rPr>
              <a:t>Impact on Results</a:t>
            </a:r>
          </a:p>
        </p:txBody>
      </p:sp>
      <p:sp>
        <p:nvSpPr>
          <p:cNvPr id="20" name="TextBox 19"/>
          <p:cNvSpPr txBox="1"/>
          <p:nvPr/>
        </p:nvSpPr>
        <p:spPr>
          <a:xfrm>
            <a:off x="4663440" y="1810512"/>
            <a:ext cx="1463040" cy="237744"/>
          </a:xfrm>
          <a:prstGeom prst="rect">
            <a:avLst/>
          </a:prstGeom>
          <a:noFill/>
        </p:spPr>
        <p:txBody>
          <a:bodyPr wrap="square">
            <a:spAutoFit/>
          </a:bodyPr>
          <a:lstStyle/>
          <a:p>
            <a:pPr algn="l"/>
            <a:r>
              <a:rPr sz="900" b="1" i="0">
                <a:solidFill>
                  <a:srgbClr val="1A5276"/>
                </a:solidFill>
              </a:rPr>
              <a:t>Before merge:</a:t>
            </a:r>
          </a:p>
        </p:txBody>
      </p:sp>
      <p:sp>
        <p:nvSpPr>
          <p:cNvPr id="21" name="TextBox 20"/>
          <p:cNvSpPr txBox="1"/>
          <p:nvPr/>
        </p:nvSpPr>
        <p:spPr>
          <a:xfrm>
            <a:off x="6144768" y="1810512"/>
            <a:ext cx="2651760" cy="237744"/>
          </a:xfrm>
          <a:prstGeom prst="rect">
            <a:avLst/>
          </a:prstGeom>
          <a:noFill/>
        </p:spPr>
        <p:txBody>
          <a:bodyPr wrap="square">
            <a:spAutoFit/>
          </a:bodyPr>
          <a:lstStyle/>
          <a:p>
            <a:pPr algn="l"/>
            <a:r>
              <a:rPr sz="900" b="0" i="0">
                <a:solidFill>
                  <a:srgbClr val="2C3E50"/>
                </a:solidFill>
              </a:rPr>
              <a:t>READ F1 = 0.40 (worst class in pilot run)</a:t>
            </a:r>
          </a:p>
        </p:txBody>
      </p:sp>
      <p:sp>
        <p:nvSpPr>
          <p:cNvPr id="22" name="TextBox 21"/>
          <p:cNvSpPr txBox="1"/>
          <p:nvPr/>
        </p:nvSpPr>
        <p:spPr>
          <a:xfrm>
            <a:off x="4663440" y="2121408"/>
            <a:ext cx="1463040" cy="237744"/>
          </a:xfrm>
          <a:prstGeom prst="rect">
            <a:avLst/>
          </a:prstGeom>
          <a:noFill/>
        </p:spPr>
        <p:txBody>
          <a:bodyPr wrap="square">
            <a:spAutoFit/>
          </a:bodyPr>
          <a:lstStyle/>
          <a:p>
            <a:pPr algn="l"/>
            <a:r>
              <a:rPr sz="900" b="1" i="0">
                <a:solidFill>
                  <a:srgbClr val="1A5276"/>
                </a:solidFill>
              </a:rPr>
              <a:t>After merge:</a:t>
            </a:r>
          </a:p>
        </p:txBody>
      </p:sp>
      <p:sp>
        <p:nvSpPr>
          <p:cNvPr id="23" name="TextBox 22"/>
          <p:cNvSpPr txBox="1"/>
          <p:nvPr/>
        </p:nvSpPr>
        <p:spPr>
          <a:xfrm>
            <a:off x="6144768" y="2121408"/>
            <a:ext cx="2651760" cy="237744"/>
          </a:xfrm>
          <a:prstGeom prst="rect">
            <a:avLst/>
          </a:prstGeom>
          <a:noFill/>
        </p:spPr>
        <p:txBody>
          <a:bodyPr wrap="square">
            <a:spAutoFit/>
          </a:bodyPr>
          <a:lstStyle/>
          <a:p>
            <a:pPr algn="l"/>
            <a:r>
              <a:rPr sz="900" b="0" i="0">
                <a:solidFill>
                  <a:srgbClr val="2C3E50"/>
                </a:solidFill>
              </a:rPr>
              <a:t>CRC (combined) F1 = 0.9924</a:t>
            </a:r>
          </a:p>
        </p:txBody>
      </p:sp>
      <p:sp>
        <p:nvSpPr>
          <p:cNvPr id="24" name="TextBox 23"/>
          <p:cNvSpPr txBox="1"/>
          <p:nvPr/>
        </p:nvSpPr>
        <p:spPr>
          <a:xfrm>
            <a:off x="4663440" y="2432303"/>
            <a:ext cx="1463040" cy="237744"/>
          </a:xfrm>
          <a:prstGeom prst="rect">
            <a:avLst/>
          </a:prstGeom>
          <a:noFill/>
        </p:spPr>
        <p:txBody>
          <a:bodyPr wrap="square">
            <a:spAutoFit/>
          </a:bodyPr>
          <a:lstStyle/>
          <a:p>
            <a:pPr algn="l"/>
            <a:r>
              <a:rPr sz="900" b="1" i="0">
                <a:solidFill>
                  <a:srgbClr val="1A5276"/>
                </a:solidFill>
              </a:rPr>
              <a:t>Class count:</a:t>
            </a:r>
          </a:p>
        </p:txBody>
      </p:sp>
      <p:sp>
        <p:nvSpPr>
          <p:cNvPr id="25" name="TextBox 24"/>
          <p:cNvSpPr txBox="1"/>
          <p:nvPr/>
        </p:nvSpPr>
        <p:spPr>
          <a:xfrm>
            <a:off x="6144768" y="2432303"/>
            <a:ext cx="2651760" cy="237744"/>
          </a:xfrm>
          <a:prstGeom prst="rect">
            <a:avLst/>
          </a:prstGeom>
          <a:noFill/>
        </p:spPr>
        <p:txBody>
          <a:bodyPr wrap="square">
            <a:spAutoFit/>
          </a:bodyPr>
          <a:lstStyle/>
          <a:p>
            <a:pPr algn="l"/>
            <a:r>
              <a:rPr sz="900" b="0" i="0">
                <a:solidFill>
                  <a:srgbClr val="2C3E50"/>
                </a:solidFill>
              </a:rPr>
              <a:t>33 → 32 classes (biologically justified)</a:t>
            </a:r>
          </a:p>
        </p:txBody>
      </p:sp>
      <p:sp>
        <p:nvSpPr>
          <p:cNvPr id="26" name="TextBox 25"/>
          <p:cNvSpPr txBox="1"/>
          <p:nvPr/>
        </p:nvSpPr>
        <p:spPr>
          <a:xfrm>
            <a:off x="4663440" y="2743199"/>
            <a:ext cx="1463040" cy="237744"/>
          </a:xfrm>
          <a:prstGeom prst="rect">
            <a:avLst/>
          </a:prstGeom>
          <a:noFill/>
        </p:spPr>
        <p:txBody>
          <a:bodyPr wrap="square">
            <a:spAutoFit/>
          </a:bodyPr>
          <a:lstStyle/>
          <a:p>
            <a:pPr algn="l"/>
            <a:r>
              <a:rPr sz="900" b="1" i="0">
                <a:solidFill>
                  <a:srgbClr val="1A5276"/>
                </a:solidFill>
              </a:rPr>
              <a:t>Total samples:</a:t>
            </a:r>
          </a:p>
        </p:txBody>
      </p:sp>
      <p:sp>
        <p:nvSpPr>
          <p:cNvPr id="27" name="TextBox 26"/>
          <p:cNvSpPr txBox="1"/>
          <p:nvPr/>
        </p:nvSpPr>
        <p:spPr>
          <a:xfrm>
            <a:off x="6144768" y="2743199"/>
            <a:ext cx="2651760" cy="237744"/>
          </a:xfrm>
          <a:prstGeom prst="rect">
            <a:avLst/>
          </a:prstGeom>
          <a:noFill/>
        </p:spPr>
        <p:txBody>
          <a:bodyPr wrap="square">
            <a:spAutoFit/>
          </a:bodyPr>
          <a:lstStyle/>
          <a:p>
            <a:pPr algn="l"/>
            <a:r>
              <a:rPr sz="900" b="0" i="0">
                <a:solidFill>
                  <a:srgbClr val="2C3E50"/>
                </a:solidFill>
              </a:rPr>
              <a:t>Unchanged — no data discarded</a:t>
            </a:r>
          </a:p>
        </p:txBody>
      </p:sp>
      <p:sp>
        <p:nvSpPr>
          <p:cNvPr id="28" name="Rectangle 27"/>
          <p:cNvSpPr/>
          <p:nvPr/>
        </p:nvSpPr>
        <p:spPr>
          <a:xfrm>
            <a:off x="4663440" y="3017520"/>
            <a:ext cx="4206240" cy="82296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63440" y="3072384"/>
            <a:ext cx="4206240" cy="329184"/>
          </a:xfrm>
          <a:prstGeom prst="rect">
            <a:avLst/>
          </a:prstGeom>
          <a:noFill/>
        </p:spPr>
        <p:txBody>
          <a:bodyPr wrap="square">
            <a:spAutoFit/>
          </a:bodyPr>
          <a:lstStyle/>
          <a:p>
            <a:pPr algn="ctr"/>
            <a:r>
              <a:rPr sz="1100" b="1" i="0">
                <a:solidFill>
                  <a:srgbClr val="1A5276"/>
                </a:solidFill>
              </a:rPr>
              <a:t>CRC F1-Score After Merge:</a:t>
            </a:r>
          </a:p>
        </p:txBody>
      </p:sp>
      <p:sp>
        <p:nvSpPr>
          <p:cNvPr id="30" name="TextBox 29"/>
          <p:cNvSpPr txBox="1"/>
          <p:nvPr/>
        </p:nvSpPr>
        <p:spPr>
          <a:xfrm>
            <a:off x="4663440" y="3401568"/>
            <a:ext cx="4206240" cy="384048"/>
          </a:xfrm>
          <a:prstGeom prst="rect">
            <a:avLst/>
          </a:prstGeom>
          <a:noFill/>
        </p:spPr>
        <p:txBody>
          <a:bodyPr wrap="square">
            <a:spAutoFit/>
          </a:bodyPr>
          <a:lstStyle/>
          <a:p>
            <a:pPr algn="ctr"/>
            <a:r>
              <a:rPr sz="2800" b="1" i="0">
                <a:solidFill>
                  <a:srgbClr val="1E8449"/>
                </a:solidFill>
              </a:rPr>
              <a:t>0.9924</a:t>
            </a:r>
          </a:p>
        </p:txBody>
      </p:sp>
      <p:sp>
        <p:nvSpPr>
          <p:cNvPr id="31" name="TextBox 30"/>
          <p:cNvSpPr txBox="1"/>
          <p:nvPr/>
        </p:nvSpPr>
        <p:spPr>
          <a:xfrm>
            <a:off x="4663440" y="3968496"/>
            <a:ext cx="4206240" cy="256032"/>
          </a:xfrm>
          <a:prstGeom prst="rect">
            <a:avLst/>
          </a:prstGeom>
          <a:noFill/>
        </p:spPr>
        <p:txBody>
          <a:bodyPr wrap="square">
            <a:spAutoFit/>
          </a:bodyPr>
          <a:lstStyle/>
          <a:p>
            <a:pPr algn="l"/>
            <a:r>
              <a:rPr sz="1050" b="1" i="0">
                <a:solidFill>
                  <a:srgbClr val="1A5276"/>
                </a:solidFill>
              </a:rPr>
              <a:t>Why This Matters</a:t>
            </a:r>
          </a:p>
        </p:txBody>
      </p:sp>
      <p:sp>
        <p:nvSpPr>
          <p:cNvPr id="32" name="Rectangle 31"/>
          <p:cNvSpPr/>
          <p:nvPr/>
        </p:nvSpPr>
        <p:spPr>
          <a:xfrm>
            <a:off x="4663440" y="4224528"/>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663440" y="4279392"/>
            <a:ext cx="4206240" cy="402336"/>
          </a:xfrm>
          <a:prstGeom prst="rect">
            <a:avLst/>
          </a:prstGeom>
          <a:noFill/>
        </p:spPr>
        <p:txBody>
          <a:bodyPr wrap="square">
            <a:spAutoFit/>
          </a:bodyPr>
          <a:lstStyle/>
          <a:p>
            <a:r>
              <a:rPr sz="900" b="0" i="0">
                <a:solidFill>
                  <a:srgbClr val="2C3E50"/>
                </a:solidFill>
              </a:rPr>
              <a:t>This is not a shortcut — it is the scientifically correct modeling choice. Forcing a model to distinguish molecularly identical classes adds noise and hurts overall accuracy.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DATA PREPROCESSING PIPELINE</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9</a:t>
            </a:r>
          </a:p>
        </p:txBody>
      </p:sp>
      <p:sp>
        <p:nvSpPr>
          <p:cNvPr id="7" name="TextBox 6"/>
          <p:cNvSpPr txBox="1"/>
          <p:nvPr/>
        </p:nvSpPr>
        <p:spPr>
          <a:xfrm>
            <a:off x="274320" y="548640"/>
            <a:ext cx="8595360" cy="256032"/>
          </a:xfrm>
          <a:prstGeom prst="rect">
            <a:avLst/>
          </a:prstGeom>
          <a:noFill/>
        </p:spPr>
        <p:txBody>
          <a:bodyPr wrap="square">
            <a:spAutoFit/>
          </a:bodyPr>
          <a:lstStyle/>
          <a:p>
            <a:pPr algn="l"/>
            <a:r>
              <a:rPr sz="950" b="0" i="1">
                <a:solidFill>
                  <a:srgbClr val="2C3E50"/>
                </a:solidFill>
              </a:rPr>
              <a:t>A 6-step pipeline applied before any training — ensures data integrity, prevents leakage, and addresses class imbalance.</a:t>
            </a:r>
          </a:p>
        </p:txBody>
      </p:sp>
      <p:sp>
        <p:nvSpPr>
          <p:cNvPr id="8" name="Rectangle 7"/>
          <p:cNvSpPr/>
          <p:nvPr/>
        </p:nvSpPr>
        <p:spPr>
          <a:xfrm>
            <a:off x="274320" y="896112"/>
            <a:ext cx="329184" cy="64008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060704"/>
            <a:ext cx="329184" cy="329184"/>
          </a:xfrm>
          <a:prstGeom prst="rect">
            <a:avLst/>
          </a:prstGeom>
          <a:noFill/>
        </p:spPr>
        <p:txBody>
          <a:bodyPr wrap="square">
            <a:spAutoFit/>
          </a:bodyPr>
          <a:lstStyle/>
          <a:p>
            <a:pPr algn="ctr"/>
            <a:r>
              <a:rPr sz="1400" b="1" i="0">
                <a:solidFill>
                  <a:srgbClr val="FFFFFF"/>
                </a:solidFill>
              </a:rPr>
              <a:t>1</a:t>
            </a:r>
          </a:p>
        </p:txBody>
      </p:sp>
      <p:sp>
        <p:nvSpPr>
          <p:cNvPr id="10" name="Rectangle 9"/>
          <p:cNvSpPr/>
          <p:nvPr/>
        </p:nvSpPr>
        <p:spPr>
          <a:xfrm>
            <a:off x="603503" y="896112"/>
            <a:ext cx="3785615" cy="6400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950976"/>
            <a:ext cx="3675887" cy="237744"/>
          </a:xfrm>
          <a:prstGeom prst="rect">
            <a:avLst/>
          </a:prstGeom>
          <a:noFill/>
        </p:spPr>
        <p:txBody>
          <a:bodyPr wrap="square">
            <a:spAutoFit/>
          </a:bodyPr>
          <a:lstStyle/>
          <a:p>
            <a:pPr algn="l"/>
            <a:r>
              <a:rPr sz="1000" b="1" i="0">
                <a:solidFill>
                  <a:srgbClr val="1A5276"/>
                </a:solidFill>
              </a:rPr>
              <a:t>Load TCGA HiSeqV2</a:t>
            </a:r>
          </a:p>
        </p:txBody>
      </p:sp>
      <p:sp>
        <p:nvSpPr>
          <p:cNvPr id="12" name="TextBox 11"/>
          <p:cNvSpPr txBox="1"/>
          <p:nvPr/>
        </p:nvSpPr>
        <p:spPr>
          <a:xfrm>
            <a:off x="658368" y="1207008"/>
            <a:ext cx="3675887" cy="310896"/>
          </a:xfrm>
          <a:prstGeom prst="rect">
            <a:avLst/>
          </a:prstGeom>
          <a:noFill/>
        </p:spPr>
        <p:txBody>
          <a:bodyPr wrap="square">
            <a:spAutoFit/>
          </a:bodyPr>
          <a:lstStyle/>
          <a:p>
            <a:pPr algn="l"/>
            <a:r>
              <a:rPr sz="850" b="0" i="0">
                <a:solidFill>
                  <a:srgbClr val="2C3E50"/>
                </a:solidFill>
              </a:rPr>
              <a:t>10,459 samples × 20,530 genes. Validate shape, dtype, NaN/Inf counts. All clean.</a:t>
            </a:r>
          </a:p>
        </p:txBody>
      </p:sp>
      <p:sp>
        <p:nvSpPr>
          <p:cNvPr id="13" name="Rectangle 12"/>
          <p:cNvSpPr/>
          <p:nvPr/>
        </p:nvSpPr>
        <p:spPr>
          <a:xfrm>
            <a:off x="4937759" y="896112"/>
            <a:ext cx="329184" cy="64008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37759" y="1060704"/>
            <a:ext cx="329184" cy="329184"/>
          </a:xfrm>
          <a:prstGeom prst="rect">
            <a:avLst/>
          </a:prstGeom>
          <a:noFill/>
        </p:spPr>
        <p:txBody>
          <a:bodyPr wrap="square">
            <a:spAutoFit/>
          </a:bodyPr>
          <a:lstStyle/>
          <a:p>
            <a:pPr algn="ctr"/>
            <a:r>
              <a:rPr sz="1400" b="1" i="0">
                <a:solidFill>
                  <a:srgbClr val="FFFFFF"/>
                </a:solidFill>
              </a:rPr>
              <a:t>2</a:t>
            </a:r>
          </a:p>
        </p:txBody>
      </p:sp>
      <p:sp>
        <p:nvSpPr>
          <p:cNvPr id="15" name="Rectangle 14"/>
          <p:cNvSpPr/>
          <p:nvPr/>
        </p:nvSpPr>
        <p:spPr>
          <a:xfrm>
            <a:off x="5266944" y="896112"/>
            <a:ext cx="3785615" cy="6400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21807" y="950976"/>
            <a:ext cx="3675887" cy="237744"/>
          </a:xfrm>
          <a:prstGeom prst="rect">
            <a:avLst/>
          </a:prstGeom>
          <a:noFill/>
        </p:spPr>
        <p:txBody>
          <a:bodyPr wrap="square">
            <a:spAutoFit/>
          </a:bodyPr>
          <a:lstStyle/>
          <a:p>
            <a:pPr algn="l"/>
            <a:r>
              <a:rPr sz="1000" b="1" i="0">
                <a:solidFill>
                  <a:srgbClr val="1A5276"/>
                </a:solidFill>
              </a:rPr>
              <a:t>READ→COAD Merge</a:t>
            </a:r>
          </a:p>
        </p:txBody>
      </p:sp>
      <p:sp>
        <p:nvSpPr>
          <p:cNvPr id="17" name="TextBox 16"/>
          <p:cNvSpPr txBox="1"/>
          <p:nvPr/>
        </p:nvSpPr>
        <p:spPr>
          <a:xfrm>
            <a:off x="5321807" y="1207008"/>
            <a:ext cx="3675887" cy="310896"/>
          </a:xfrm>
          <a:prstGeom prst="rect">
            <a:avLst/>
          </a:prstGeom>
          <a:noFill/>
        </p:spPr>
        <p:txBody>
          <a:bodyPr wrap="square">
            <a:spAutoFit/>
          </a:bodyPr>
          <a:lstStyle/>
          <a:p>
            <a:pPr algn="l"/>
            <a:r>
              <a:rPr sz="850" b="0" i="0">
                <a:solidFill>
                  <a:srgbClr val="2C3E50"/>
                </a:solidFill>
              </a:rPr>
              <a:t>Remap READ labels to COAD class. Re-index 33→32 contiguous classes.</a:t>
            </a:r>
          </a:p>
        </p:txBody>
      </p:sp>
      <p:sp>
        <p:nvSpPr>
          <p:cNvPr id="18" name="Rectangle 17"/>
          <p:cNvSpPr/>
          <p:nvPr/>
        </p:nvSpPr>
        <p:spPr>
          <a:xfrm>
            <a:off x="274320" y="1645919"/>
            <a:ext cx="329184" cy="640080"/>
          </a:xfrm>
          <a:prstGeom prst="rect">
            <a:avLst/>
          </a:prstGeom>
          <a:solidFill>
            <a:srgbClr val="21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 y="1810511"/>
            <a:ext cx="329184" cy="329184"/>
          </a:xfrm>
          <a:prstGeom prst="rect">
            <a:avLst/>
          </a:prstGeom>
          <a:noFill/>
        </p:spPr>
        <p:txBody>
          <a:bodyPr wrap="square">
            <a:spAutoFit/>
          </a:bodyPr>
          <a:lstStyle/>
          <a:p>
            <a:pPr algn="ctr"/>
            <a:r>
              <a:rPr sz="1400" b="1" i="0">
                <a:solidFill>
                  <a:srgbClr val="FFFFFF"/>
                </a:solidFill>
              </a:rPr>
              <a:t>3</a:t>
            </a:r>
          </a:p>
        </p:txBody>
      </p:sp>
      <p:sp>
        <p:nvSpPr>
          <p:cNvPr id="20" name="Rectangle 19"/>
          <p:cNvSpPr/>
          <p:nvPr/>
        </p:nvSpPr>
        <p:spPr>
          <a:xfrm>
            <a:off x="603503" y="1645919"/>
            <a:ext cx="3785615" cy="6400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1700784"/>
            <a:ext cx="3675887" cy="237744"/>
          </a:xfrm>
          <a:prstGeom prst="rect">
            <a:avLst/>
          </a:prstGeom>
          <a:noFill/>
        </p:spPr>
        <p:txBody>
          <a:bodyPr wrap="square">
            <a:spAutoFit/>
          </a:bodyPr>
          <a:lstStyle/>
          <a:p>
            <a:pPr algn="l"/>
            <a:r>
              <a:rPr sz="1000" b="1" i="0">
                <a:solidFill>
                  <a:srgbClr val="1A5276"/>
                </a:solidFill>
              </a:rPr>
              <a:t>Stratified 70/15/15 Split</a:t>
            </a:r>
          </a:p>
        </p:txBody>
      </p:sp>
      <p:sp>
        <p:nvSpPr>
          <p:cNvPr id="22" name="TextBox 21"/>
          <p:cNvSpPr txBox="1"/>
          <p:nvPr/>
        </p:nvSpPr>
        <p:spPr>
          <a:xfrm>
            <a:off x="658368" y="1956815"/>
            <a:ext cx="3675887" cy="310896"/>
          </a:xfrm>
          <a:prstGeom prst="rect">
            <a:avLst/>
          </a:prstGeom>
          <a:noFill/>
        </p:spPr>
        <p:txBody>
          <a:bodyPr wrap="square">
            <a:spAutoFit/>
          </a:bodyPr>
          <a:lstStyle/>
          <a:p>
            <a:pPr algn="l"/>
            <a:r>
              <a:rPr sz="850" b="0" i="0">
                <a:solidFill>
                  <a:srgbClr val="2C3E50"/>
                </a:solidFill>
              </a:rPr>
              <a:t>All 32 classes preserved in every split. Test set fully held out until final evaluation.</a:t>
            </a:r>
          </a:p>
        </p:txBody>
      </p:sp>
      <p:sp>
        <p:nvSpPr>
          <p:cNvPr id="23" name="Rectangle 22"/>
          <p:cNvSpPr/>
          <p:nvPr/>
        </p:nvSpPr>
        <p:spPr>
          <a:xfrm>
            <a:off x="4937759" y="1645919"/>
            <a:ext cx="329184" cy="640080"/>
          </a:xfrm>
          <a:prstGeom prst="rect">
            <a:avLst/>
          </a:prstGeom>
          <a:solidFill>
            <a:srgbClr val="93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37759" y="1810511"/>
            <a:ext cx="329184" cy="329184"/>
          </a:xfrm>
          <a:prstGeom prst="rect">
            <a:avLst/>
          </a:prstGeom>
          <a:noFill/>
        </p:spPr>
        <p:txBody>
          <a:bodyPr wrap="square">
            <a:spAutoFit/>
          </a:bodyPr>
          <a:lstStyle/>
          <a:p>
            <a:pPr algn="ctr"/>
            <a:r>
              <a:rPr sz="1400" b="1" i="0">
                <a:solidFill>
                  <a:srgbClr val="FFFFFF"/>
                </a:solidFill>
              </a:rPr>
              <a:t>4</a:t>
            </a:r>
          </a:p>
        </p:txBody>
      </p:sp>
      <p:sp>
        <p:nvSpPr>
          <p:cNvPr id="25" name="Rectangle 24"/>
          <p:cNvSpPr/>
          <p:nvPr/>
        </p:nvSpPr>
        <p:spPr>
          <a:xfrm>
            <a:off x="5266944" y="1645919"/>
            <a:ext cx="3785615" cy="6400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21807" y="1700784"/>
            <a:ext cx="3675887" cy="237744"/>
          </a:xfrm>
          <a:prstGeom prst="rect">
            <a:avLst/>
          </a:prstGeom>
          <a:noFill/>
        </p:spPr>
        <p:txBody>
          <a:bodyPr wrap="square">
            <a:spAutoFit/>
          </a:bodyPr>
          <a:lstStyle/>
          <a:p>
            <a:pPr algn="l"/>
            <a:r>
              <a:rPr sz="1000" b="1" i="0">
                <a:solidFill>
                  <a:srgbClr val="1A5276"/>
                </a:solidFill>
              </a:rPr>
              <a:t>Feature Scaling</a:t>
            </a:r>
          </a:p>
        </p:txBody>
      </p:sp>
      <p:sp>
        <p:nvSpPr>
          <p:cNvPr id="27" name="TextBox 26"/>
          <p:cNvSpPr txBox="1"/>
          <p:nvPr/>
        </p:nvSpPr>
        <p:spPr>
          <a:xfrm>
            <a:off x="5321807" y="1956815"/>
            <a:ext cx="3675887" cy="310896"/>
          </a:xfrm>
          <a:prstGeom prst="rect">
            <a:avLst/>
          </a:prstGeom>
          <a:noFill/>
        </p:spPr>
        <p:txBody>
          <a:bodyPr wrap="square">
            <a:spAutoFit/>
          </a:bodyPr>
          <a:lstStyle/>
          <a:p>
            <a:pPr algn="l"/>
            <a:r>
              <a:rPr sz="850" b="0" i="0">
                <a:solidFill>
                  <a:srgbClr val="2C3E50"/>
                </a:solidFill>
              </a:rPr>
              <a:t>Log2(x+1) normalization then StandardScaler. Scaler fit on train only, applied to val/test.</a:t>
            </a:r>
          </a:p>
        </p:txBody>
      </p:sp>
      <p:sp>
        <p:nvSpPr>
          <p:cNvPr id="28" name="Rectangle 27"/>
          <p:cNvSpPr/>
          <p:nvPr/>
        </p:nvSpPr>
        <p:spPr>
          <a:xfrm>
            <a:off x="274320" y="2395728"/>
            <a:ext cx="329184" cy="6400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4320" y="2560320"/>
            <a:ext cx="329184" cy="329184"/>
          </a:xfrm>
          <a:prstGeom prst="rect">
            <a:avLst/>
          </a:prstGeom>
          <a:noFill/>
        </p:spPr>
        <p:txBody>
          <a:bodyPr wrap="square">
            <a:spAutoFit/>
          </a:bodyPr>
          <a:lstStyle/>
          <a:p>
            <a:pPr algn="ctr"/>
            <a:r>
              <a:rPr sz="1400" b="1" i="0">
                <a:solidFill>
                  <a:srgbClr val="FFFFFF"/>
                </a:solidFill>
              </a:rPr>
              <a:t>5</a:t>
            </a:r>
          </a:p>
        </p:txBody>
      </p:sp>
      <p:sp>
        <p:nvSpPr>
          <p:cNvPr id="30" name="Rectangle 29"/>
          <p:cNvSpPr/>
          <p:nvPr/>
        </p:nvSpPr>
        <p:spPr>
          <a:xfrm>
            <a:off x="603503" y="2395728"/>
            <a:ext cx="3785615" cy="6400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2450592"/>
            <a:ext cx="3675887" cy="237744"/>
          </a:xfrm>
          <a:prstGeom prst="rect">
            <a:avLst/>
          </a:prstGeom>
          <a:noFill/>
        </p:spPr>
        <p:txBody>
          <a:bodyPr wrap="square">
            <a:spAutoFit/>
          </a:bodyPr>
          <a:lstStyle/>
          <a:p>
            <a:pPr algn="l"/>
            <a:r>
              <a:rPr sz="1000" b="1" i="0">
                <a:solidFill>
                  <a:srgbClr val="1A5276"/>
                </a:solidFill>
              </a:rPr>
              <a:t>SMOTE Oversampling</a:t>
            </a:r>
          </a:p>
        </p:txBody>
      </p:sp>
      <p:sp>
        <p:nvSpPr>
          <p:cNvPr id="32" name="TextBox 31"/>
          <p:cNvSpPr txBox="1"/>
          <p:nvPr/>
        </p:nvSpPr>
        <p:spPr>
          <a:xfrm>
            <a:off x="658368" y="2706624"/>
            <a:ext cx="3675887" cy="310896"/>
          </a:xfrm>
          <a:prstGeom prst="rect">
            <a:avLst/>
          </a:prstGeom>
          <a:noFill/>
        </p:spPr>
        <p:txBody>
          <a:bodyPr wrap="square">
            <a:spAutoFit/>
          </a:bodyPr>
          <a:lstStyle/>
          <a:p>
            <a:pPr algn="l"/>
            <a:r>
              <a:rPr sz="850" b="0" i="0">
                <a:solidFill>
                  <a:srgbClr val="2C3E50"/>
                </a:solidFill>
              </a:rPr>
              <a:t>Classes below 400 training samples upsampled to 400 using SMOTE (k=3). No real data discarded.</a:t>
            </a:r>
          </a:p>
        </p:txBody>
      </p:sp>
      <p:sp>
        <p:nvSpPr>
          <p:cNvPr id="33" name="Rectangle 32"/>
          <p:cNvSpPr/>
          <p:nvPr/>
        </p:nvSpPr>
        <p:spPr>
          <a:xfrm>
            <a:off x="4937759" y="2395728"/>
            <a:ext cx="329184" cy="640080"/>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937759" y="2560320"/>
            <a:ext cx="329184" cy="329184"/>
          </a:xfrm>
          <a:prstGeom prst="rect">
            <a:avLst/>
          </a:prstGeom>
          <a:noFill/>
        </p:spPr>
        <p:txBody>
          <a:bodyPr wrap="square">
            <a:spAutoFit/>
          </a:bodyPr>
          <a:lstStyle/>
          <a:p>
            <a:pPr algn="ctr"/>
            <a:r>
              <a:rPr sz="1400" b="1" i="0">
                <a:solidFill>
                  <a:srgbClr val="FFFFFF"/>
                </a:solidFill>
              </a:rPr>
              <a:t>6</a:t>
            </a:r>
          </a:p>
        </p:txBody>
      </p:sp>
      <p:sp>
        <p:nvSpPr>
          <p:cNvPr id="35" name="Rectangle 34"/>
          <p:cNvSpPr/>
          <p:nvPr/>
        </p:nvSpPr>
        <p:spPr>
          <a:xfrm>
            <a:off x="5266944" y="2395728"/>
            <a:ext cx="3785615" cy="6400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21807" y="2450592"/>
            <a:ext cx="3675887" cy="237744"/>
          </a:xfrm>
          <a:prstGeom prst="rect">
            <a:avLst/>
          </a:prstGeom>
          <a:noFill/>
        </p:spPr>
        <p:txBody>
          <a:bodyPr wrap="square">
            <a:spAutoFit/>
          </a:bodyPr>
          <a:lstStyle/>
          <a:p>
            <a:pPr algn="l"/>
            <a:r>
              <a:rPr sz="1000" b="1" i="0">
                <a:solidFill>
                  <a:srgbClr val="1A5276"/>
                </a:solidFill>
              </a:rPr>
              <a:t>Augmentation</a:t>
            </a:r>
          </a:p>
        </p:txBody>
      </p:sp>
      <p:sp>
        <p:nvSpPr>
          <p:cNvPr id="37" name="TextBox 36"/>
          <p:cNvSpPr txBox="1"/>
          <p:nvPr/>
        </p:nvSpPr>
        <p:spPr>
          <a:xfrm>
            <a:off x="5321807" y="2706624"/>
            <a:ext cx="3675887" cy="310896"/>
          </a:xfrm>
          <a:prstGeom prst="rect">
            <a:avLst/>
          </a:prstGeom>
          <a:noFill/>
        </p:spPr>
        <p:txBody>
          <a:bodyPr wrap="square">
            <a:spAutoFit/>
          </a:bodyPr>
          <a:lstStyle/>
          <a:p>
            <a:pPr algn="l"/>
            <a:r>
              <a:rPr sz="850" b="0" i="0">
                <a:solidFill>
                  <a:srgbClr val="2C3E50"/>
                </a:solidFill>
              </a:rPr>
              <a:t>MixUp (α=0.2), Gaussian noise (σ=0.05), label smoothing (ε=0.1) applied during training only.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MODEL ARCHITECTURE — 1D-CNN WITH SE ATTENTION</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10</a:t>
            </a:r>
          </a:p>
        </p:txBody>
      </p:sp>
      <p:pic>
        <p:nvPicPr>
          <p:cNvPr id="7" name="Picture 6" descr="architecture_diagram.png"/>
          <p:cNvPicPr>
            <a:picLocks noChangeAspect="1"/>
          </p:cNvPicPr>
          <p:nvPr/>
        </p:nvPicPr>
        <p:blipFill>
          <a:blip r:embed="rId2"/>
          <a:stretch>
            <a:fillRect/>
          </a:stretch>
        </p:blipFill>
        <p:spPr>
          <a:xfrm>
            <a:off x="137160" y="548640"/>
            <a:ext cx="8869680" cy="3291840"/>
          </a:xfrm>
          <a:prstGeom prst="rect">
            <a:avLst/>
          </a:prstGeom>
        </p:spPr>
      </p:pic>
      <p:sp>
        <p:nvSpPr>
          <p:cNvPr id="8" name="TextBox 7"/>
          <p:cNvSpPr txBox="1"/>
          <p:nvPr/>
        </p:nvSpPr>
        <p:spPr>
          <a:xfrm>
            <a:off x="274320" y="3931920"/>
            <a:ext cx="8595360" cy="256032"/>
          </a:xfrm>
          <a:prstGeom prst="rect">
            <a:avLst/>
          </a:prstGeom>
          <a:noFill/>
        </p:spPr>
        <p:txBody>
          <a:bodyPr wrap="square">
            <a:spAutoFit/>
          </a:bodyPr>
          <a:lstStyle/>
          <a:p>
            <a:pPr algn="l"/>
            <a:r>
              <a:rPr sz="1050" b="1" i="0">
                <a:solidFill>
                  <a:srgbClr val="1A5276"/>
                </a:solidFill>
              </a:rPr>
              <a:t>Architecture Summary</a:t>
            </a:r>
          </a:p>
        </p:txBody>
      </p:sp>
      <p:sp>
        <p:nvSpPr>
          <p:cNvPr id="9" name="Rectangle 8"/>
          <p:cNvSpPr/>
          <p:nvPr/>
        </p:nvSpPr>
        <p:spPr>
          <a:xfrm>
            <a:off x="274320" y="4187952"/>
            <a:ext cx="85953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 y="4224528"/>
            <a:ext cx="914400" cy="201168"/>
          </a:xfrm>
          <a:prstGeom prst="rect">
            <a:avLst/>
          </a:prstGeom>
          <a:noFill/>
        </p:spPr>
        <p:txBody>
          <a:bodyPr wrap="square">
            <a:spAutoFit/>
          </a:bodyPr>
          <a:lstStyle/>
          <a:p>
            <a:pPr algn="l"/>
            <a:r>
              <a:rPr sz="850" b="1" i="0">
                <a:solidFill>
                  <a:srgbClr val="1A5276"/>
                </a:solidFill>
              </a:rPr>
              <a:t>Input:</a:t>
            </a:r>
          </a:p>
        </p:txBody>
      </p:sp>
      <p:sp>
        <p:nvSpPr>
          <p:cNvPr id="11" name="TextBox 10"/>
          <p:cNvSpPr txBox="1"/>
          <p:nvPr/>
        </p:nvSpPr>
        <p:spPr>
          <a:xfrm>
            <a:off x="1069848" y="4224528"/>
            <a:ext cx="3474720" cy="201168"/>
          </a:xfrm>
          <a:prstGeom prst="rect">
            <a:avLst/>
          </a:prstGeom>
          <a:noFill/>
        </p:spPr>
        <p:txBody>
          <a:bodyPr wrap="square">
            <a:spAutoFit/>
          </a:bodyPr>
          <a:lstStyle/>
          <a:p>
            <a:pPr algn="l"/>
            <a:r>
              <a:rPr sz="850" b="0" i="0">
                <a:solidFill>
                  <a:srgbClr val="2C3E50"/>
                </a:solidFill>
              </a:rPr>
              <a:t>20,530-dim gene expression vector per patient</a:t>
            </a:r>
          </a:p>
        </p:txBody>
      </p:sp>
      <p:sp>
        <p:nvSpPr>
          <p:cNvPr id="12" name="TextBox 11"/>
          <p:cNvSpPr txBox="1"/>
          <p:nvPr/>
        </p:nvSpPr>
        <p:spPr>
          <a:xfrm>
            <a:off x="4663440" y="4224528"/>
            <a:ext cx="914400" cy="201168"/>
          </a:xfrm>
          <a:prstGeom prst="rect">
            <a:avLst/>
          </a:prstGeom>
          <a:noFill/>
        </p:spPr>
        <p:txBody>
          <a:bodyPr wrap="square">
            <a:spAutoFit/>
          </a:bodyPr>
          <a:lstStyle/>
          <a:p>
            <a:pPr algn="l"/>
            <a:r>
              <a:rPr sz="850" b="1" i="0">
                <a:solidFill>
                  <a:srgbClr val="1A5276"/>
                </a:solidFill>
              </a:rPr>
              <a:t>Conv Blocks:</a:t>
            </a:r>
          </a:p>
        </p:txBody>
      </p:sp>
      <p:sp>
        <p:nvSpPr>
          <p:cNvPr id="13" name="TextBox 12"/>
          <p:cNvSpPr txBox="1"/>
          <p:nvPr/>
        </p:nvSpPr>
        <p:spPr>
          <a:xfrm>
            <a:off x="5596127" y="4224528"/>
            <a:ext cx="3474720" cy="201168"/>
          </a:xfrm>
          <a:prstGeom prst="rect">
            <a:avLst/>
          </a:prstGeom>
          <a:noFill/>
        </p:spPr>
        <p:txBody>
          <a:bodyPr wrap="square">
            <a:spAutoFit/>
          </a:bodyPr>
          <a:lstStyle/>
          <a:p>
            <a:pPr algn="l"/>
            <a:r>
              <a:rPr sz="850" b="0" i="0">
                <a:solidFill>
                  <a:srgbClr val="2C3E50"/>
                </a:solidFill>
              </a:rPr>
              <a:t>Conv1D → BatchNorm → ReLU → MaxPool → SE-Attention × 4</a:t>
            </a:r>
          </a:p>
        </p:txBody>
      </p:sp>
      <p:sp>
        <p:nvSpPr>
          <p:cNvPr id="14" name="TextBox 13"/>
          <p:cNvSpPr txBox="1"/>
          <p:nvPr/>
        </p:nvSpPr>
        <p:spPr>
          <a:xfrm>
            <a:off x="137160" y="4425696"/>
            <a:ext cx="914400" cy="201168"/>
          </a:xfrm>
          <a:prstGeom prst="rect">
            <a:avLst/>
          </a:prstGeom>
          <a:noFill/>
        </p:spPr>
        <p:txBody>
          <a:bodyPr wrap="square">
            <a:spAutoFit/>
          </a:bodyPr>
          <a:lstStyle/>
          <a:p>
            <a:pPr algn="l"/>
            <a:r>
              <a:rPr sz="850" b="1" i="0">
                <a:solidFill>
                  <a:srgbClr val="1A5276"/>
                </a:solidFill>
              </a:rPr>
              <a:t>Filters:</a:t>
            </a:r>
          </a:p>
        </p:txBody>
      </p:sp>
      <p:sp>
        <p:nvSpPr>
          <p:cNvPr id="15" name="TextBox 14"/>
          <p:cNvSpPr txBox="1"/>
          <p:nvPr/>
        </p:nvSpPr>
        <p:spPr>
          <a:xfrm>
            <a:off x="1069848" y="4425696"/>
            <a:ext cx="3474720" cy="201168"/>
          </a:xfrm>
          <a:prstGeom prst="rect">
            <a:avLst/>
          </a:prstGeom>
          <a:noFill/>
        </p:spPr>
        <p:txBody>
          <a:bodyPr wrap="square">
            <a:spAutoFit/>
          </a:bodyPr>
          <a:lstStyle/>
          <a:p>
            <a:pPr algn="l"/>
            <a:r>
              <a:rPr sz="850" b="0" i="0">
                <a:solidFill>
                  <a:srgbClr val="2C3E50"/>
                </a:solidFill>
              </a:rPr>
              <a:t>64 → 128 → 256 → 512 (doubling each block)</a:t>
            </a:r>
          </a:p>
        </p:txBody>
      </p:sp>
      <p:sp>
        <p:nvSpPr>
          <p:cNvPr id="16" name="TextBox 15"/>
          <p:cNvSpPr txBox="1"/>
          <p:nvPr/>
        </p:nvSpPr>
        <p:spPr>
          <a:xfrm>
            <a:off x="4663440" y="4425696"/>
            <a:ext cx="914400" cy="201168"/>
          </a:xfrm>
          <a:prstGeom prst="rect">
            <a:avLst/>
          </a:prstGeom>
          <a:noFill/>
        </p:spPr>
        <p:txBody>
          <a:bodyPr wrap="square">
            <a:spAutoFit/>
          </a:bodyPr>
          <a:lstStyle/>
          <a:p>
            <a:pPr algn="l"/>
            <a:r>
              <a:rPr sz="850" b="1" i="0">
                <a:solidFill>
                  <a:srgbClr val="1A5276"/>
                </a:solidFill>
              </a:rPr>
              <a:t>Pooling:</a:t>
            </a:r>
          </a:p>
        </p:txBody>
      </p:sp>
      <p:sp>
        <p:nvSpPr>
          <p:cNvPr id="17" name="TextBox 16"/>
          <p:cNvSpPr txBox="1"/>
          <p:nvPr/>
        </p:nvSpPr>
        <p:spPr>
          <a:xfrm>
            <a:off x="5596127" y="4425696"/>
            <a:ext cx="3474720" cy="201168"/>
          </a:xfrm>
          <a:prstGeom prst="rect">
            <a:avLst/>
          </a:prstGeom>
          <a:noFill/>
        </p:spPr>
        <p:txBody>
          <a:bodyPr wrap="square">
            <a:spAutoFit/>
          </a:bodyPr>
          <a:lstStyle/>
          <a:p>
            <a:pPr algn="l"/>
            <a:r>
              <a:rPr sz="850" b="0" i="0">
                <a:solidFill>
                  <a:srgbClr val="2C3E50"/>
                </a:solidFill>
              </a:rPr>
              <a:t>GlobalAvgPool + GlobalMaxPool → concat → 1024-dim</a:t>
            </a:r>
          </a:p>
        </p:txBody>
      </p:sp>
      <p:sp>
        <p:nvSpPr>
          <p:cNvPr id="18" name="TextBox 17"/>
          <p:cNvSpPr txBox="1"/>
          <p:nvPr/>
        </p:nvSpPr>
        <p:spPr>
          <a:xfrm>
            <a:off x="137160" y="4626864"/>
            <a:ext cx="914400" cy="201168"/>
          </a:xfrm>
          <a:prstGeom prst="rect">
            <a:avLst/>
          </a:prstGeom>
          <a:noFill/>
        </p:spPr>
        <p:txBody>
          <a:bodyPr wrap="square">
            <a:spAutoFit/>
          </a:bodyPr>
          <a:lstStyle/>
          <a:p>
            <a:pPr algn="l"/>
            <a:r>
              <a:rPr sz="850" b="1" i="0">
                <a:solidFill>
                  <a:srgbClr val="1A5276"/>
                </a:solidFill>
              </a:rPr>
              <a:t>FC Head:</a:t>
            </a:r>
          </a:p>
        </p:txBody>
      </p:sp>
      <p:sp>
        <p:nvSpPr>
          <p:cNvPr id="19" name="TextBox 18"/>
          <p:cNvSpPr txBox="1"/>
          <p:nvPr/>
        </p:nvSpPr>
        <p:spPr>
          <a:xfrm>
            <a:off x="1069848" y="4626864"/>
            <a:ext cx="3474720" cy="201168"/>
          </a:xfrm>
          <a:prstGeom prst="rect">
            <a:avLst/>
          </a:prstGeom>
          <a:noFill/>
        </p:spPr>
        <p:txBody>
          <a:bodyPr wrap="square">
            <a:spAutoFit/>
          </a:bodyPr>
          <a:lstStyle/>
          <a:p>
            <a:pPr algn="l"/>
            <a:r>
              <a:rPr sz="850" b="0" i="0">
                <a:solidFill>
                  <a:srgbClr val="2C3E50"/>
                </a:solidFill>
              </a:rPr>
              <a:t>1024 → 512 → 256 → 32-class Softmax  |  ~2.1M parameters total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SQUEEZE-EXCITATION (SE) ATTENTION BLOCK</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11</a:t>
            </a:r>
          </a:p>
        </p:txBody>
      </p:sp>
      <p:sp>
        <p:nvSpPr>
          <p:cNvPr id="7" name="TextBox 6"/>
          <p:cNvSpPr txBox="1"/>
          <p:nvPr/>
        </p:nvSpPr>
        <p:spPr>
          <a:xfrm>
            <a:off x="274320" y="548640"/>
            <a:ext cx="4114800" cy="256032"/>
          </a:xfrm>
          <a:prstGeom prst="rect">
            <a:avLst/>
          </a:prstGeom>
          <a:noFill/>
        </p:spPr>
        <p:txBody>
          <a:bodyPr wrap="square">
            <a:spAutoFit/>
          </a:bodyPr>
          <a:lstStyle/>
          <a:p>
            <a:pPr algn="l"/>
            <a:r>
              <a:rPr sz="1050" b="1" i="0">
                <a:solidFill>
                  <a:srgbClr val="1A5276"/>
                </a:solidFill>
              </a:rPr>
              <a:t>What It Does</a:t>
            </a:r>
          </a:p>
        </p:txBody>
      </p:sp>
      <p:sp>
        <p:nvSpPr>
          <p:cNvPr id="8" name="Rectangle 7"/>
          <p:cNvSpPr/>
          <p:nvPr/>
        </p:nvSpPr>
        <p:spPr>
          <a:xfrm>
            <a:off x="274320" y="804672"/>
            <a:ext cx="411480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859536"/>
            <a:ext cx="4114800" cy="731520"/>
          </a:xfrm>
          <a:prstGeom prst="rect">
            <a:avLst/>
          </a:prstGeom>
          <a:noFill/>
        </p:spPr>
        <p:txBody>
          <a:bodyPr wrap="square">
            <a:spAutoFit/>
          </a:bodyPr>
          <a:lstStyle/>
          <a:p>
            <a:r>
              <a:rPr sz="950" b="0" i="0">
                <a:solidFill>
                  <a:srgbClr val="2C3E50"/>
                </a:solidFill>
              </a:rPr>
              <a:t>After each convolutional layer produces feature maps across many channels, the SE block learns which channels are useful for the current input and which are noisy. It amplifies useful channels and suppresses irrelevant ones.</a:t>
            </a:r>
          </a:p>
        </p:txBody>
      </p:sp>
      <p:sp>
        <p:nvSpPr>
          <p:cNvPr id="10" name="TextBox 9"/>
          <p:cNvSpPr txBox="1"/>
          <p:nvPr/>
        </p:nvSpPr>
        <p:spPr>
          <a:xfrm>
            <a:off x="274320" y="1719072"/>
            <a:ext cx="4114800" cy="256032"/>
          </a:xfrm>
          <a:prstGeom prst="rect">
            <a:avLst/>
          </a:prstGeom>
          <a:noFill/>
        </p:spPr>
        <p:txBody>
          <a:bodyPr wrap="square">
            <a:spAutoFit/>
          </a:bodyPr>
          <a:lstStyle/>
          <a:p>
            <a:pPr algn="l"/>
            <a:r>
              <a:rPr sz="1050" b="1" i="0">
                <a:solidFill>
                  <a:srgbClr val="1A5276"/>
                </a:solidFill>
              </a:rPr>
              <a:t>Three Steps</a:t>
            </a:r>
          </a:p>
        </p:txBody>
      </p:sp>
      <p:sp>
        <p:nvSpPr>
          <p:cNvPr id="11" name="TextBox 10"/>
          <p:cNvSpPr txBox="1"/>
          <p:nvPr/>
        </p:nvSpPr>
        <p:spPr>
          <a:xfrm>
            <a:off x="274320" y="1975104"/>
            <a:ext cx="914400" cy="237744"/>
          </a:xfrm>
          <a:prstGeom prst="rect">
            <a:avLst/>
          </a:prstGeom>
          <a:noFill/>
        </p:spPr>
        <p:txBody>
          <a:bodyPr wrap="square">
            <a:spAutoFit/>
          </a:bodyPr>
          <a:lstStyle/>
          <a:p>
            <a:pPr algn="l"/>
            <a:r>
              <a:rPr sz="900" b="1" i="0">
                <a:solidFill>
                  <a:srgbClr val="1A5276"/>
                </a:solidFill>
              </a:rPr>
              <a:t>Squeeze:</a:t>
            </a:r>
          </a:p>
        </p:txBody>
      </p:sp>
      <p:sp>
        <p:nvSpPr>
          <p:cNvPr id="12" name="TextBox 11"/>
          <p:cNvSpPr txBox="1"/>
          <p:nvPr/>
        </p:nvSpPr>
        <p:spPr>
          <a:xfrm>
            <a:off x="1207008" y="1975104"/>
            <a:ext cx="3200400" cy="402336"/>
          </a:xfrm>
          <a:prstGeom prst="rect">
            <a:avLst/>
          </a:prstGeom>
          <a:noFill/>
        </p:spPr>
        <p:txBody>
          <a:bodyPr wrap="square">
            <a:spAutoFit/>
          </a:bodyPr>
          <a:lstStyle/>
          <a:p>
            <a:pPr algn="l"/>
            <a:r>
              <a:rPr sz="900" b="0" i="0">
                <a:solidFill>
                  <a:srgbClr val="2C3E50"/>
                </a:solidFill>
              </a:rPr>
              <a:t>Global average pooling reduces each channel to a single scalar — compresses spatial info into a channel descriptor.</a:t>
            </a:r>
          </a:p>
        </p:txBody>
      </p:sp>
      <p:sp>
        <p:nvSpPr>
          <p:cNvPr id="13" name="TextBox 12"/>
          <p:cNvSpPr txBox="1"/>
          <p:nvPr/>
        </p:nvSpPr>
        <p:spPr>
          <a:xfrm>
            <a:off x="274320" y="2487168"/>
            <a:ext cx="914400" cy="237744"/>
          </a:xfrm>
          <a:prstGeom prst="rect">
            <a:avLst/>
          </a:prstGeom>
          <a:noFill/>
        </p:spPr>
        <p:txBody>
          <a:bodyPr wrap="square">
            <a:spAutoFit/>
          </a:bodyPr>
          <a:lstStyle/>
          <a:p>
            <a:pPr algn="l"/>
            <a:r>
              <a:rPr sz="900" b="1" i="0">
                <a:solidFill>
                  <a:srgbClr val="1A5276"/>
                </a:solidFill>
              </a:rPr>
              <a:t>Excite:</a:t>
            </a:r>
          </a:p>
        </p:txBody>
      </p:sp>
      <p:sp>
        <p:nvSpPr>
          <p:cNvPr id="14" name="TextBox 13"/>
          <p:cNvSpPr txBox="1"/>
          <p:nvPr/>
        </p:nvSpPr>
        <p:spPr>
          <a:xfrm>
            <a:off x="1207008" y="2487168"/>
            <a:ext cx="3200400" cy="402336"/>
          </a:xfrm>
          <a:prstGeom prst="rect">
            <a:avLst/>
          </a:prstGeom>
          <a:noFill/>
        </p:spPr>
        <p:txBody>
          <a:bodyPr wrap="square">
            <a:spAutoFit/>
          </a:bodyPr>
          <a:lstStyle/>
          <a:p>
            <a:pPr algn="l"/>
            <a:r>
              <a:rPr sz="900" b="0" i="0">
                <a:solidFill>
                  <a:srgbClr val="2C3E50"/>
                </a:solidFill>
              </a:rPr>
              <a:t>Two fully-connected layers with Sigmoid output learn a 0–1 weight for each channel based on the descriptor.</a:t>
            </a:r>
          </a:p>
        </p:txBody>
      </p:sp>
      <p:sp>
        <p:nvSpPr>
          <p:cNvPr id="15" name="TextBox 14"/>
          <p:cNvSpPr txBox="1"/>
          <p:nvPr/>
        </p:nvSpPr>
        <p:spPr>
          <a:xfrm>
            <a:off x="274320" y="2999232"/>
            <a:ext cx="914400" cy="237744"/>
          </a:xfrm>
          <a:prstGeom prst="rect">
            <a:avLst/>
          </a:prstGeom>
          <a:noFill/>
        </p:spPr>
        <p:txBody>
          <a:bodyPr wrap="square">
            <a:spAutoFit/>
          </a:bodyPr>
          <a:lstStyle/>
          <a:p>
            <a:pPr algn="l"/>
            <a:r>
              <a:rPr sz="900" b="1" i="0">
                <a:solidFill>
                  <a:srgbClr val="1A5276"/>
                </a:solidFill>
              </a:rPr>
              <a:t>Scale:</a:t>
            </a:r>
          </a:p>
        </p:txBody>
      </p:sp>
      <p:sp>
        <p:nvSpPr>
          <p:cNvPr id="16" name="TextBox 15"/>
          <p:cNvSpPr txBox="1"/>
          <p:nvPr/>
        </p:nvSpPr>
        <p:spPr>
          <a:xfrm>
            <a:off x="1207008" y="2999232"/>
            <a:ext cx="3200400" cy="402336"/>
          </a:xfrm>
          <a:prstGeom prst="rect">
            <a:avLst/>
          </a:prstGeom>
          <a:noFill/>
        </p:spPr>
        <p:txBody>
          <a:bodyPr wrap="square">
            <a:spAutoFit/>
          </a:bodyPr>
          <a:lstStyle/>
          <a:p>
            <a:pPr algn="l"/>
            <a:r>
              <a:rPr sz="900" b="0" i="0">
                <a:solidFill>
                  <a:srgbClr val="2C3E50"/>
                </a:solidFill>
              </a:rPr>
              <a:t>Multiply each channel's feature map by its learned weight. High-weight channels dominate; low-weight channels fade.</a:t>
            </a:r>
          </a:p>
        </p:txBody>
      </p:sp>
      <p:sp>
        <p:nvSpPr>
          <p:cNvPr id="17" name="TextBox 16"/>
          <p:cNvSpPr txBox="1"/>
          <p:nvPr/>
        </p:nvSpPr>
        <p:spPr>
          <a:xfrm>
            <a:off x="4663440" y="548640"/>
            <a:ext cx="4206240" cy="256032"/>
          </a:xfrm>
          <a:prstGeom prst="rect">
            <a:avLst/>
          </a:prstGeom>
          <a:noFill/>
        </p:spPr>
        <p:txBody>
          <a:bodyPr wrap="square">
            <a:spAutoFit/>
          </a:bodyPr>
          <a:lstStyle/>
          <a:p>
            <a:pPr algn="l"/>
            <a:r>
              <a:rPr sz="1050" b="1" i="0">
                <a:solidFill>
                  <a:srgbClr val="1A5276"/>
                </a:solidFill>
              </a:rPr>
              <a:t>Why This Helps for Gene Expression</a:t>
            </a:r>
          </a:p>
        </p:txBody>
      </p:sp>
      <p:sp>
        <p:nvSpPr>
          <p:cNvPr id="18" name="Rectangle 17"/>
          <p:cNvSpPr/>
          <p:nvPr/>
        </p:nvSpPr>
        <p:spPr>
          <a:xfrm>
            <a:off x="4663440" y="804672"/>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63440" y="859536"/>
            <a:ext cx="4206240" cy="640080"/>
          </a:xfrm>
          <a:prstGeom prst="rect">
            <a:avLst/>
          </a:prstGeom>
          <a:noFill/>
        </p:spPr>
        <p:txBody>
          <a:bodyPr wrap="square">
            <a:spAutoFit/>
          </a:bodyPr>
          <a:lstStyle/>
          <a:p>
            <a:r>
              <a:rPr sz="950" b="0" i="0">
                <a:solidFill>
                  <a:srgbClr val="2C3E50"/>
                </a:solidFill>
              </a:rPr>
              <a:t>Gene expression data has 20,530 features. Most genes are irrelevant noise for any given cancer type. The SE block acts as a learned feature selector — it focuses the model's attention on the genes that actually matter for each specific prediction.</a:t>
            </a:r>
          </a:p>
        </p:txBody>
      </p:sp>
      <p:sp>
        <p:nvSpPr>
          <p:cNvPr id="20" name="TextBox 19"/>
          <p:cNvSpPr txBox="1"/>
          <p:nvPr/>
        </p:nvSpPr>
        <p:spPr>
          <a:xfrm>
            <a:off x="4663440" y="1664208"/>
            <a:ext cx="4206240" cy="256032"/>
          </a:xfrm>
          <a:prstGeom prst="rect">
            <a:avLst/>
          </a:prstGeom>
          <a:noFill/>
        </p:spPr>
        <p:txBody>
          <a:bodyPr wrap="square">
            <a:spAutoFit/>
          </a:bodyPr>
          <a:lstStyle/>
          <a:p>
            <a:pPr algn="l"/>
            <a:r>
              <a:rPr sz="1050" b="1" i="0">
                <a:solidFill>
                  <a:srgbClr val="1A5276"/>
                </a:solidFill>
              </a:rPr>
              <a:t>SE in Our Architecture</a:t>
            </a:r>
          </a:p>
        </p:txBody>
      </p:sp>
      <p:sp>
        <p:nvSpPr>
          <p:cNvPr id="21" name="TextBox 20"/>
          <p:cNvSpPr txBox="1"/>
          <p:nvPr/>
        </p:nvSpPr>
        <p:spPr>
          <a:xfrm>
            <a:off x="4773168" y="1920240"/>
            <a:ext cx="4023360" cy="237744"/>
          </a:xfrm>
          <a:prstGeom prst="rect">
            <a:avLst/>
          </a:prstGeom>
          <a:noFill/>
        </p:spPr>
        <p:txBody>
          <a:bodyPr wrap="square">
            <a:spAutoFit/>
          </a:bodyPr>
          <a:lstStyle/>
          <a:p>
            <a:pPr algn="l"/>
            <a:r>
              <a:rPr sz="900" b="0" i="0">
                <a:solidFill>
                  <a:srgbClr val="2C3E50"/>
                </a:solidFill>
              </a:rPr>
              <a:t>▶  Applied after each of 4 convolutional blocks</a:t>
            </a:r>
          </a:p>
        </p:txBody>
      </p:sp>
      <p:sp>
        <p:nvSpPr>
          <p:cNvPr id="22" name="TextBox 21"/>
          <p:cNvSpPr txBox="1"/>
          <p:nvPr/>
        </p:nvSpPr>
        <p:spPr>
          <a:xfrm>
            <a:off x="4773168" y="2212848"/>
            <a:ext cx="4023360" cy="237744"/>
          </a:xfrm>
          <a:prstGeom prst="rect">
            <a:avLst/>
          </a:prstGeom>
          <a:noFill/>
        </p:spPr>
        <p:txBody>
          <a:bodyPr wrap="square">
            <a:spAutoFit/>
          </a:bodyPr>
          <a:lstStyle/>
          <a:p>
            <a:pPr algn="l"/>
            <a:r>
              <a:rPr sz="900" b="0" i="0">
                <a:solidFill>
                  <a:srgbClr val="2C3E50"/>
                </a:solidFill>
              </a:rPr>
              <a:t>▶  Reduction ratio = 16 (standard SE design)</a:t>
            </a:r>
          </a:p>
        </p:txBody>
      </p:sp>
      <p:sp>
        <p:nvSpPr>
          <p:cNvPr id="23" name="TextBox 22"/>
          <p:cNvSpPr txBox="1"/>
          <p:nvPr/>
        </p:nvSpPr>
        <p:spPr>
          <a:xfrm>
            <a:off x="4773168" y="2505456"/>
            <a:ext cx="4023360" cy="237744"/>
          </a:xfrm>
          <a:prstGeom prst="rect">
            <a:avLst/>
          </a:prstGeom>
          <a:noFill/>
        </p:spPr>
        <p:txBody>
          <a:bodyPr wrap="square">
            <a:spAutoFit/>
          </a:bodyPr>
          <a:lstStyle/>
          <a:p>
            <a:pPr algn="l"/>
            <a:r>
              <a:rPr sz="900" b="0" i="0">
                <a:solidFill>
                  <a:srgbClr val="2C3E50"/>
                </a:solidFill>
              </a:rPr>
              <a:t>▶  Trained jointly with the CNN — no separate training needed</a:t>
            </a:r>
          </a:p>
        </p:txBody>
      </p:sp>
      <p:sp>
        <p:nvSpPr>
          <p:cNvPr id="24" name="TextBox 23"/>
          <p:cNvSpPr txBox="1"/>
          <p:nvPr/>
        </p:nvSpPr>
        <p:spPr>
          <a:xfrm>
            <a:off x="4773168" y="2798063"/>
            <a:ext cx="4023360" cy="237744"/>
          </a:xfrm>
          <a:prstGeom prst="rect">
            <a:avLst/>
          </a:prstGeom>
          <a:noFill/>
        </p:spPr>
        <p:txBody>
          <a:bodyPr wrap="square">
            <a:spAutoFit/>
          </a:bodyPr>
          <a:lstStyle/>
          <a:p>
            <a:pPr algn="l"/>
            <a:r>
              <a:rPr sz="900" b="0" i="0">
                <a:solidFill>
                  <a:srgbClr val="2C3E50"/>
                </a:solidFill>
              </a:rPr>
              <a:t>▶  Adds &lt;1% parameter overhead per block</a:t>
            </a:r>
          </a:p>
        </p:txBody>
      </p:sp>
      <p:sp>
        <p:nvSpPr>
          <p:cNvPr id="25" name="TextBox 24"/>
          <p:cNvSpPr txBox="1"/>
          <p:nvPr/>
        </p:nvSpPr>
        <p:spPr>
          <a:xfrm>
            <a:off x="4773168" y="3090671"/>
            <a:ext cx="4023360" cy="237744"/>
          </a:xfrm>
          <a:prstGeom prst="rect">
            <a:avLst/>
          </a:prstGeom>
          <a:noFill/>
        </p:spPr>
        <p:txBody>
          <a:bodyPr wrap="square">
            <a:spAutoFit/>
          </a:bodyPr>
          <a:lstStyle/>
          <a:p>
            <a:pPr algn="l"/>
            <a:r>
              <a:rPr sz="900" b="0" i="0">
                <a:solidFill>
                  <a:srgbClr val="2C3E50"/>
                </a:solidFill>
              </a:rPr>
              <a:t>▶  Shown to improve accuracy by 1–2% on gene expression tasks</a:t>
            </a:r>
          </a:p>
        </p:txBody>
      </p:sp>
      <p:sp>
        <p:nvSpPr>
          <p:cNvPr id="26" name="TextBox 25"/>
          <p:cNvSpPr txBox="1"/>
          <p:nvPr/>
        </p:nvSpPr>
        <p:spPr>
          <a:xfrm>
            <a:off x="4663440" y="3364992"/>
            <a:ext cx="4206240" cy="256032"/>
          </a:xfrm>
          <a:prstGeom prst="rect">
            <a:avLst/>
          </a:prstGeom>
          <a:noFill/>
        </p:spPr>
        <p:txBody>
          <a:bodyPr wrap="square">
            <a:spAutoFit/>
          </a:bodyPr>
          <a:lstStyle/>
          <a:p>
            <a:pPr algn="l"/>
            <a:r>
              <a:rPr sz="1050" b="1" i="0">
                <a:solidFill>
                  <a:srgbClr val="1A5276"/>
                </a:solidFill>
              </a:rPr>
              <a:t>SE Flow</a:t>
            </a:r>
          </a:p>
        </p:txBody>
      </p:sp>
      <p:sp>
        <p:nvSpPr>
          <p:cNvPr id="27" name="Rectangle 26"/>
          <p:cNvSpPr/>
          <p:nvPr/>
        </p:nvSpPr>
        <p:spPr>
          <a:xfrm>
            <a:off x="4663440" y="3621024"/>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663440" y="3675887"/>
            <a:ext cx="4206240" cy="82296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09160" y="3877056"/>
            <a:ext cx="4114800" cy="420624"/>
          </a:xfrm>
          <a:prstGeom prst="rect">
            <a:avLst/>
          </a:prstGeom>
          <a:noFill/>
        </p:spPr>
        <p:txBody>
          <a:bodyPr wrap="square">
            <a:spAutoFit/>
          </a:bodyPr>
          <a:lstStyle/>
          <a:p>
            <a:pPr algn="ctr"/>
            <a:r>
              <a:rPr sz="900" b="1" i="0">
                <a:solidFill>
                  <a:srgbClr val="1A5276"/>
                </a:solidFill>
              </a:rPr>
              <a:t>Feature Maps  →  GlobalAvgPool  →  FC+ReLU  →  FC+Sigmoid  →  Scale  →  Reweighted Maps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TRAINING STRATEGY &amp; HYPERPARAMETERS</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12</a:t>
            </a:r>
          </a:p>
        </p:txBody>
      </p:sp>
      <p:sp>
        <p:nvSpPr>
          <p:cNvPr id="7" name="TextBox 6"/>
          <p:cNvSpPr txBox="1"/>
          <p:nvPr/>
        </p:nvSpPr>
        <p:spPr>
          <a:xfrm>
            <a:off x="274320" y="530352"/>
            <a:ext cx="8595360" cy="237744"/>
          </a:xfrm>
          <a:prstGeom prst="rect">
            <a:avLst/>
          </a:prstGeom>
          <a:noFill/>
        </p:spPr>
        <p:txBody>
          <a:bodyPr wrap="square">
            <a:spAutoFit/>
          </a:bodyPr>
          <a:lstStyle/>
          <a:p>
            <a:pPr algn="l"/>
            <a:r>
              <a:rPr sz="950" b="0" i="1">
                <a:solidFill>
                  <a:srgbClr val="2C3E50"/>
                </a:solidFill>
              </a:rPr>
              <a:t>Each of 5 models trained independently with a different random seed: 42, 123, 456, 789, 999.</a:t>
            </a:r>
          </a:p>
        </p:txBody>
      </p:sp>
      <p:sp>
        <p:nvSpPr>
          <p:cNvPr id="8" name="Rectangle 7"/>
          <p:cNvSpPr/>
          <p:nvPr/>
        </p:nvSpPr>
        <p:spPr>
          <a:xfrm>
            <a:off x="274320" y="859536"/>
            <a:ext cx="2688336" cy="292608"/>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9184" y="896112"/>
            <a:ext cx="2578608" cy="237744"/>
          </a:xfrm>
          <a:prstGeom prst="rect">
            <a:avLst/>
          </a:prstGeom>
          <a:noFill/>
        </p:spPr>
        <p:txBody>
          <a:bodyPr wrap="square">
            <a:spAutoFit/>
          </a:bodyPr>
          <a:lstStyle/>
          <a:p>
            <a:pPr algn="l"/>
            <a:r>
              <a:rPr sz="900" b="1" i="0">
                <a:solidFill>
                  <a:srgbClr val="FFFFFF"/>
                </a:solidFill>
              </a:rPr>
              <a:t>Optimizer</a:t>
            </a:r>
          </a:p>
        </p:txBody>
      </p:sp>
      <p:sp>
        <p:nvSpPr>
          <p:cNvPr id="10" name="Rectangle 9"/>
          <p:cNvSpPr/>
          <p:nvPr/>
        </p:nvSpPr>
        <p:spPr>
          <a:xfrm>
            <a:off x="274320" y="1152144"/>
            <a:ext cx="2688336" cy="102412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7472" y="1207007"/>
            <a:ext cx="2542032" cy="914400"/>
          </a:xfrm>
          <a:prstGeom prst="rect">
            <a:avLst/>
          </a:prstGeom>
          <a:noFill/>
        </p:spPr>
        <p:txBody>
          <a:bodyPr wrap="square">
            <a:spAutoFit/>
          </a:bodyPr>
          <a:lstStyle/>
          <a:p>
            <a:pPr algn="l"/>
            <a:r>
              <a:rPr sz="850" b="0" i="0">
                <a:solidFill>
                  <a:srgbClr val="2C3E50"/>
                </a:solidFill>
              </a:rPr>
              <a:t>AdamW with weight decay 1e-4. Initial LR 1e-3.</a:t>
            </a:r>
          </a:p>
        </p:txBody>
      </p:sp>
      <p:sp>
        <p:nvSpPr>
          <p:cNvPr id="12" name="Rectangle 11"/>
          <p:cNvSpPr/>
          <p:nvPr/>
        </p:nvSpPr>
        <p:spPr>
          <a:xfrm>
            <a:off x="3200400" y="859536"/>
            <a:ext cx="2688336" cy="292608"/>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55264" y="896112"/>
            <a:ext cx="2578608" cy="237744"/>
          </a:xfrm>
          <a:prstGeom prst="rect">
            <a:avLst/>
          </a:prstGeom>
          <a:noFill/>
        </p:spPr>
        <p:txBody>
          <a:bodyPr wrap="square">
            <a:spAutoFit/>
          </a:bodyPr>
          <a:lstStyle/>
          <a:p>
            <a:pPr algn="l"/>
            <a:r>
              <a:rPr sz="900" b="1" i="0">
                <a:solidFill>
                  <a:srgbClr val="FFFFFF"/>
                </a:solidFill>
              </a:rPr>
              <a:t>LR Schedule</a:t>
            </a:r>
          </a:p>
        </p:txBody>
      </p:sp>
      <p:sp>
        <p:nvSpPr>
          <p:cNvPr id="14" name="Rectangle 13"/>
          <p:cNvSpPr/>
          <p:nvPr/>
        </p:nvSpPr>
        <p:spPr>
          <a:xfrm>
            <a:off x="3200400" y="1152144"/>
            <a:ext cx="2688336" cy="102412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73552" y="1207007"/>
            <a:ext cx="2542032" cy="914400"/>
          </a:xfrm>
          <a:prstGeom prst="rect">
            <a:avLst/>
          </a:prstGeom>
          <a:noFill/>
        </p:spPr>
        <p:txBody>
          <a:bodyPr wrap="square">
            <a:spAutoFit/>
          </a:bodyPr>
          <a:lstStyle/>
          <a:p>
            <a:pPr algn="l"/>
            <a:r>
              <a:rPr sz="850" b="0" i="0">
                <a:solidFill>
                  <a:srgbClr val="2C3E50"/>
                </a:solidFill>
              </a:rPr>
              <a:t>CosineAnnealingWarmRestarts: T₀=40, T_mult=2, η_min=1e-5. Smooth convergence without plateau traps.</a:t>
            </a:r>
          </a:p>
        </p:txBody>
      </p:sp>
      <p:sp>
        <p:nvSpPr>
          <p:cNvPr id="16" name="Rectangle 15"/>
          <p:cNvSpPr/>
          <p:nvPr/>
        </p:nvSpPr>
        <p:spPr>
          <a:xfrm>
            <a:off x="6126480" y="859536"/>
            <a:ext cx="2688336" cy="292608"/>
          </a:xfrm>
          <a:prstGeom prst="rect">
            <a:avLst/>
          </a:prstGeom>
          <a:solidFill>
            <a:srgbClr val="21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81344" y="896112"/>
            <a:ext cx="2578608" cy="237744"/>
          </a:xfrm>
          <a:prstGeom prst="rect">
            <a:avLst/>
          </a:prstGeom>
          <a:noFill/>
        </p:spPr>
        <p:txBody>
          <a:bodyPr wrap="square">
            <a:spAutoFit/>
          </a:bodyPr>
          <a:lstStyle/>
          <a:p>
            <a:pPr algn="l"/>
            <a:r>
              <a:rPr sz="900" b="1" i="0">
                <a:solidFill>
                  <a:srgbClr val="FFFFFF"/>
                </a:solidFill>
              </a:rPr>
              <a:t>MixUp Augmentation</a:t>
            </a:r>
          </a:p>
        </p:txBody>
      </p:sp>
      <p:sp>
        <p:nvSpPr>
          <p:cNvPr id="18" name="Rectangle 17"/>
          <p:cNvSpPr/>
          <p:nvPr/>
        </p:nvSpPr>
        <p:spPr>
          <a:xfrm>
            <a:off x="6126480" y="1152144"/>
            <a:ext cx="2688336" cy="102412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99632" y="1207007"/>
            <a:ext cx="2542032" cy="914400"/>
          </a:xfrm>
          <a:prstGeom prst="rect">
            <a:avLst/>
          </a:prstGeom>
          <a:noFill/>
        </p:spPr>
        <p:txBody>
          <a:bodyPr wrap="square">
            <a:spAutoFit/>
          </a:bodyPr>
          <a:lstStyle/>
          <a:p>
            <a:pPr algn="l"/>
            <a:r>
              <a:rPr sz="850" b="0" i="0">
                <a:solidFill>
                  <a:srgbClr val="2C3E50"/>
                </a:solidFill>
              </a:rPr>
              <a:t>Beta distribution α=0.2. Two training samples mixed at each step. Prevents overconfidence and improves generalization.</a:t>
            </a:r>
          </a:p>
        </p:txBody>
      </p:sp>
      <p:sp>
        <p:nvSpPr>
          <p:cNvPr id="20" name="Rectangle 19"/>
          <p:cNvSpPr/>
          <p:nvPr/>
        </p:nvSpPr>
        <p:spPr>
          <a:xfrm>
            <a:off x="274320" y="2231136"/>
            <a:ext cx="2688336" cy="292608"/>
          </a:xfrm>
          <a:prstGeom prst="rect">
            <a:avLst/>
          </a:prstGeom>
          <a:solidFill>
            <a:srgbClr val="93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9184" y="2267712"/>
            <a:ext cx="2578608" cy="237744"/>
          </a:xfrm>
          <a:prstGeom prst="rect">
            <a:avLst/>
          </a:prstGeom>
          <a:noFill/>
        </p:spPr>
        <p:txBody>
          <a:bodyPr wrap="square">
            <a:spAutoFit/>
          </a:bodyPr>
          <a:lstStyle/>
          <a:p>
            <a:pPr algn="l"/>
            <a:r>
              <a:rPr sz="900" b="1" i="0">
                <a:solidFill>
                  <a:srgbClr val="FFFFFF"/>
                </a:solidFill>
              </a:rPr>
              <a:t>Gaussian Noise</a:t>
            </a:r>
          </a:p>
        </p:txBody>
      </p:sp>
      <p:sp>
        <p:nvSpPr>
          <p:cNvPr id="22" name="Rectangle 21"/>
          <p:cNvSpPr/>
          <p:nvPr/>
        </p:nvSpPr>
        <p:spPr>
          <a:xfrm>
            <a:off x="274320" y="2523744"/>
            <a:ext cx="2688336" cy="102412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578608"/>
            <a:ext cx="2542032" cy="914400"/>
          </a:xfrm>
          <a:prstGeom prst="rect">
            <a:avLst/>
          </a:prstGeom>
          <a:noFill/>
        </p:spPr>
        <p:txBody>
          <a:bodyPr wrap="square">
            <a:spAutoFit/>
          </a:bodyPr>
          <a:lstStyle/>
          <a:p>
            <a:pPr algn="l"/>
            <a:r>
              <a:rPr sz="850" b="0" i="0">
                <a:solidFill>
                  <a:srgbClr val="2C3E50"/>
                </a:solidFill>
              </a:rPr>
              <a:t>σ=0.05 additive noise applied during training only. Acts as data augmentation on gene expression vectors.</a:t>
            </a:r>
          </a:p>
        </p:txBody>
      </p:sp>
      <p:sp>
        <p:nvSpPr>
          <p:cNvPr id="24" name="Rectangle 23"/>
          <p:cNvSpPr/>
          <p:nvPr/>
        </p:nvSpPr>
        <p:spPr>
          <a:xfrm>
            <a:off x="3200400" y="2231136"/>
            <a:ext cx="2688336" cy="292608"/>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55264" y="2267712"/>
            <a:ext cx="2578608" cy="237744"/>
          </a:xfrm>
          <a:prstGeom prst="rect">
            <a:avLst/>
          </a:prstGeom>
          <a:noFill/>
        </p:spPr>
        <p:txBody>
          <a:bodyPr wrap="square">
            <a:spAutoFit/>
          </a:bodyPr>
          <a:lstStyle/>
          <a:p>
            <a:pPr algn="l"/>
            <a:r>
              <a:rPr sz="900" b="1" i="0">
                <a:solidFill>
                  <a:srgbClr val="FFFFFF"/>
                </a:solidFill>
              </a:rPr>
              <a:t>Label Smoothing</a:t>
            </a:r>
          </a:p>
        </p:txBody>
      </p:sp>
      <p:sp>
        <p:nvSpPr>
          <p:cNvPr id="26" name="Rectangle 25"/>
          <p:cNvSpPr/>
          <p:nvPr/>
        </p:nvSpPr>
        <p:spPr>
          <a:xfrm>
            <a:off x="3200400" y="2523744"/>
            <a:ext cx="2688336" cy="102412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73552" y="2578608"/>
            <a:ext cx="2542032" cy="914400"/>
          </a:xfrm>
          <a:prstGeom prst="rect">
            <a:avLst/>
          </a:prstGeom>
          <a:noFill/>
        </p:spPr>
        <p:txBody>
          <a:bodyPr wrap="square">
            <a:spAutoFit/>
          </a:bodyPr>
          <a:lstStyle/>
          <a:p>
            <a:pPr algn="l"/>
            <a:r>
              <a:rPr sz="850" b="0" i="0">
                <a:solidFill>
                  <a:srgbClr val="2C3E50"/>
                </a:solidFill>
              </a:rPr>
              <a:t>ε=0.1. Prevents the model from assigning 100% probability to any class. Reduces overfit to noisy labels.</a:t>
            </a:r>
          </a:p>
        </p:txBody>
      </p:sp>
      <p:sp>
        <p:nvSpPr>
          <p:cNvPr id="28" name="Rectangle 27"/>
          <p:cNvSpPr/>
          <p:nvPr/>
        </p:nvSpPr>
        <p:spPr>
          <a:xfrm>
            <a:off x="6126480" y="2231136"/>
            <a:ext cx="2688336" cy="292608"/>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81344" y="2267712"/>
            <a:ext cx="2578608" cy="237744"/>
          </a:xfrm>
          <a:prstGeom prst="rect">
            <a:avLst/>
          </a:prstGeom>
          <a:noFill/>
        </p:spPr>
        <p:txBody>
          <a:bodyPr wrap="square">
            <a:spAutoFit/>
          </a:bodyPr>
          <a:lstStyle/>
          <a:p>
            <a:pPr algn="l"/>
            <a:r>
              <a:rPr sz="900" b="1" i="0">
                <a:solidFill>
                  <a:srgbClr val="FFFFFF"/>
                </a:solidFill>
              </a:rPr>
              <a:t>Early Stopping</a:t>
            </a:r>
          </a:p>
        </p:txBody>
      </p:sp>
      <p:sp>
        <p:nvSpPr>
          <p:cNvPr id="30" name="Rectangle 29"/>
          <p:cNvSpPr/>
          <p:nvPr/>
        </p:nvSpPr>
        <p:spPr>
          <a:xfrm>
            <a:off x="6126480" y="2523744"/>
            <a:ext cx="2688336" cy="102412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99632" y="2578608"/>
            <a:ext cx="2542032" cy="914400"/>
          </a:xfrm>
          <a:prstGeom prst="rect">
            <a:avLst/>
          </a:prstGeom>
          <a:noFill/>
        </p:spPr>
        <p:txBody>
          <a:bodyPr wrap="square">
            <a:spAutoFit/>
          </a:bodyPr>
          <a:lstStyle/>
          <a:p>
            <a:pPr algn="l"/>
            <a:r>
              <a:rPr sz="850" b="0" i="0">
                <a:solidFill>
                  <a:srgbClr val="2C3E50"/>
                </a:solidFill>
              </a:rPr>
              <a:t>Patience=40 epochs. Max 200 epochs. Best val-loss checkpoint saved per seed.</a:t>
            </a:r>
          </a:p>
        </p:txBody>
      </p:sp>
      <p:sp>
        <p:nvSpPr>
          <p:cNvPr id="32" name="Rectangle 31"/>
          <p:cNvSpPr/>
          <p:nvPr/>
        </p:nvSpPr>
        <p:spPr>
          <a:xfrm>
            <a:off x="274320" y="4553712"/>
            <a:ext cx="85953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4320" y="4590288"/>
            <a:ext cx="1463040" cy="201168"/>
          </a:xfrm>
          <a:prstGeom prst="rect">
            <a:avLst/>
          </a:prstGeom>
          <a:noFill/>
        </p:spPr>
        <p:txBody>
          <a:bodyPr wrap="square">
            <a:spAutoFit/>
          </a:bodyPr>
          <a:lstStyle/>
          <a:p>
            <a:pPr algn="l"/>
            <a:r>
              <a:rPr sz="800" b="1" i="0">
                <a:solidFill>
                  <a:srgbClr val="1A5276"/>
                </a:solidFill>
              </a:rPr>
              <a:t>Batch Size</a:t>
            </a:r>
          </a:p>
        </p:txBody>
      </p:sp>
      <p:sp>
        <p:nvSpPr>
          <p:cNvPr id="34" name="TextBox 33"/>
          <p:cNvSpPr txBox="1"/>
          <p:nvPr/>
        </p:nvSpPr>
        <p:spPr>
          <a:xfrm>
            <a:off x="731520" y="4590288"/>
            <a:ext cx="1097280" cy="201168"/>
          </a:xfrm>
          <a:prstGeom prst="rect">
            <a:avLst/>
          </a:prstGeom>
          <a:noFill/>
        </p:spPr>
        <p:txBody>
          <a:bodyPr wrap="square">
            <a:spAutoFit/>
          </a:bodyPr>
          <a:lstStyle/>
          <a:p>
            <a:pPr algn="l"/>
            <a:r>
              <a:rPr sz="800" b="0" i="0">
                <a:solidFill>
                  <a:srgbClr val="2C3E50"/>
                </a:solidFill>
              </a:rPr>
              <a:t>256</a:t>
            </a:r>
          </a:p>
        </p:txBody>
      </p:sp>
      <p:sp>
        <p:nvSpPr>
          <p:cNvPr id="35" name="TextBox 34"/>
          <p:cNvSpPr txBox="1"/>
          <p:nvPr/>
        </p:nvSpPr>
        <p:spPr>
          <a:xfrm>
            <a:off x="1993391" y="4590288"/>
            <a:ext cx="1463040" cy="201168"/>
          </a:xfrm>
          <a:prstGeom prst="rect">
            <a:avLst/>
          </a:prstGeom>
          <a:noFill/>
        </p:spPr>
        <p:txBody>
          <a:bodyPr wrap="square">
            <a:spAutoFit/>
          </a:bodyPr>
          <a:lstStyle/>
          <a:p>
            <a:pPr algn="l"/>
            <a:r>
              <a:rPr sz="800" b="1" i="0">
                <a:solidFill>
                  <a:srgbClr val="1A5276"/>
                </a:solidFill>
              </a:rPr>
              <a:t>Max Epochs</a:t>
            </a:r>
          </a:p>
        </p:txBody>
      </p:sp>
      <p:sp>
        <p:nvSpPr>
          <p:cNvPr id="36" name="TextBox 35"/>
          <p:cNvSpPr txBox="1"/>
          <p:nvPr/>
        </p:nvSpPr>
        <p:spPr>
          <a:xfrm>
            <a:off x="2450591" y="4590288"/>
            <a:ext cx="1097280" cy="201168"/>
          </a:xfrm>
          <a:prstGeom prst="rect">
            <a:avLst/>
          </a:prstGeom>
          <a:noFill/>
        </p:spPr>
        <p:txBody>
          <a:bodyPr wrap="square">
            <a:spAutoFit/>
          </a:bodyPr>
          <a:lstStyle/>
          <a:p>
            <a:pPr algn="l"/>
            <a:r>
              <a:rPr sz="800" b="0" i="0">
                <a:solidFill>
                  <a:srgbClr val="2C3E50"/>
                </a:solidFill>
              </a:rPr>
              <a:t>200</a:t>
            </a:r>
          </a:p>
        </p:txBody>
      </p:sp>
      <p:sp>
        <p:nvSpPr>
          <p:cNvPr id="37" name="TextBox 36"/>
          <p:cNvSpPr txBox="1"/>
          <p:nvPr/>
        </p:nvSpPr>
        <p:spPr>
          <a:xfrm>
            <a:off x="3712463" y="4590288"/>
            <a:ext cx="1463040" cy="201168"/>
          </a:xfrm>
          <a:prstGeom prst="rect">
            <a:avLst/>
          </a:prstGeom>
          <a:noFill/>
        </p:spPr>
        <p:txBody>
          <a:bodyPr wrap="square">
            <a:spAutoFit/>
          </a:bodyPr>
          <a:lstStyle/>
          <a:p>
            <a:pPr algn="l"/>
            <a:r>
              <a:rPr sz="800" b="1" i="0">
                <a:solidFill>
                  <a:srgbClr val="1A5276"/>
                </a:solidFill>
              </a:rPr>
              <a:t>Seeds</a:t>
            </a:r>
          </a:p>
        </p:txBody>
      </p:sp>
      <p:sp>
        <p:nvSpPr>
          <p:cNvPr id="38" name="TextBox 37"/>
          <p:cNvSpPr txBox="1"/>
          <p:nvPr/>
        </p:nvSpPr>
        <p:spPr>
          <a:xfrm>
            <a:off x="4169663" y="4590288"/>
            <a:ext cx="1097280" cy="201168"/>
          </a:xfrm>
          <a:prstGeom prst="rect">
            <a:avLst/>
          </a:prstGeom>
          <a:noFill/>
        </p:spPr>
        <p:txBody>
          <a:bodyPr wrap="square">
            <a:spAutoFit/>
          </a:bodyPr>
          <a:lstStyle/>
          <a:p>
            <a:pPr algn="l"/>
            <a:r>
              <a:rPr sz="800" b="0" i="0">
                <a:solidFill>
                  <a:srgbClr val="2C3E50"/>
                </a:solidFill>
              </a:rPr>
              <a:t>5 models</a:t>
            </a:r>
          </a:p>
        </p:txBody>
      </p:sp>
      <p:sp>
        <p:nvSpPr>
          <p:cNvPr id="39" name="TextBox 38"/>
          <p:cNvSpPr txBox="1"/>
          <p:nvPr/>
        </p:nvSpPr>
        <p:spPr>
          <a:xfrm>
            <a:off x="5431536" y="4590288"/>
            <a:ext cx="1463040" cy="201168"/>
          </a:xfrm>
          <a:prstGeom prst="rect">
            <a:avLst/>
          </a:prstGeom>
          <a:noFill/>
        </p:spPr>
        <p:txBody>
          <a:bodyPr wrap="square">
            <a:spAutoFit/>
          </a:bodyPr>
          <a:lstStyle/>
          <a:p>
            <a:pPr algn="l"/>
            <a:r>
              <a:rPr sz="800" b="1" i="0">
                <a:solidFill>
                  <a:srgbClr val="1A5276"/>
                </a:solidFill>
              </a:rPr>
              <a:t>SMOTE k</a:t>
            </a:r>
          </a:p>
        </p:txBody>
      </p:sp>
      <p:sp>
        <p:nvSpPr>
          <p:cNvPr id="40" name="TextBox 39"/>
          <p:cNvSpPr txBox="1"/>
          <p:nvPr/>
        </p:nvSpPr>
        <p:spPr>
          <a:xfrm>
            <a:off x="5888736" y="4590288"/>
            <a:ext cx="1097280" cy="201168"/>
          </a:xfrm>
          <a:prstGeom prst="rect">
            <a:avLst/>
          </a:prstGeom>
          <a:noFill/>
        </p:spPr>
        <p:txBody>
          <a:bodyPr wrap="square">
            <a:spAutoFit/>
          </a:bodyPr>
          <a:lstStyle/>
          <a:p>
            <a:pPr algn="l"/>
            <a:r>
              <a:rPr sz="800" b="0" i="0">
                <a:solidFill>
                  <a:srgbClr val="2C3E50"/>
                </a:solidFill>
              </a:rPr>
              <a:t>3 neighbors</a:t>
            </a:r>
          </a:p>
        </p:txBody>
      </p:sp>
      <p:sp>
        <p:nvSpPr>
          <p:cNvPr id="41" name="TextBox 40"/>
          <p:cNvSpPr txBox="1"/>
          <p:nvPr/>
        </p:nvSpPr>
        <p:spPr>
          <a:xfrm>
            <a:off x="7150607" y="4590288"/>
            <a:ext cx="1463040" cy="201168"/>
          </a:xfrm>
          <a:prstGeom prst="rect">
            <a:avLst/>
          </a:prstGeom>
          <a:noFill/>
        </p:spPr>
        <p:txBody>
          <a:bodyPr wrap="square">
            <a:spAutoFit/>
          </a:bodyPr>
          <a:lstStyle/>
          <a:p>
            <a:pPr algn="l"/>
            <a:r>
              <a:rPr sz="800" b="1" i="0">
                <a:solidFill>
                  <a:srgbClr val="1A5276"/>
                </a:solidFill>
              </a:rPr>
              <a:t>Dropout</a:t>
            </a:r>
          </a:p>
        </p:txBody>
      </p:sp>
      <p:sp>
        <p:nvSpPr>
          <p:cNvPr id="42" name="TextBox 41"/>
          <p:cNvSpPr txBox="1"/>
          <p:nvPr/>
        </p:nvSpPr>
        <p:spPr>
          <a:xfrm>
            <a:off x="7607808" y="4590288"/>
            <a:ext cx="1097280" cy="201168"/>
          </a:xfrm>
          <a:prstGeom prst="rect">
            <a:avLst/>
          </a:prstGeom>
          <a:noFill/>
        </p:spPr>
        <p:txBody>
          <a:bodyPr wrap="square">
            <a:spAutoFit/>
          </a:bodyPr>
          <a:lstStyle/>
          <a:p>
            <a:pPr algn="l"/>
            <a:r>
              <a:rPr sz="800" b="0" i="0">
                <a:solidFill>
                  <a:srgbClr val="2C3E50"/>
                </a:solidFill>
              </a:rPr>
              <a:t>0.3 per block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ENSEMBLE &amp; TEST-TIME AUGMENTATION PIPELINE</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13</a:t>
            </a:r>
          </a:p>
        </p:txBody>
      </p:sp>
      <p:sp>
        <p:nvSpPr>
          <p:cNvPr id="7" name="TextBox 6"/>
          <p:cNvSpPr txBox="1"/>
          <p:nvPr/>
        </p:nvSpPr>
        <p:spPr>
          <a:xfrm>
            <a:off x="274320" y="548640"/>
            <a:ext cx="8595360" cy="256032"/>
          </a:xfrm>
          <a:prstGeom prst="rect">
            <a:avLst/>
          </a:prstGeom>
          <a:noFill/>
        </p:spPr>
        <p:txBody>
          <a:bodyPr wrap="square">
            <a:spAutoFit/>
          </a:bodyPr>
          <a:lstStyle/>
          <a:p>
            <a:pPr algn="l"/>
            <a:r>
              <a:rPr sz="1050" b="1" i="0">
                <a:solidFill>
                  <a:srgbClr val="1A5276"/>
                </a:solidFill>
              </a:rPr>
              <a:t>From 5 trained models to a single calibrated prediction — 4 stages</a:t>
            </a:r>
          </a:p>
        </p:txBody>
      </p:sp>
      <p:sp>
        <p:nvSpPr>
          <p:cNvPr id="8" name="Rectangle 7"/>
          <p:cNvSpPr/>
          <p:nvPr/>
        </p:nvSpPr>
        <p:spPr>
          <a:xfrm>
            <a:off x="274320" y="804672"/>
            <a:ext cx="85953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896112"/>
            <a:ext cx="2011680" cy="310896"/>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0896" y="914400"/>
            <a:ext cx="1938528" cy="274320"/>
          </a:xfrm>
          <a:prstGeom prst="rect">
            <a:avLst/>
          </a:prstGeom>
          <a:noFill/>
        </p:spPr>
        <p:txBody>
          <a:bodyPr wrap="square">
            <a:spAutoFit/>
          </a:bodyPr>
          <a:lstStyle/>
          <a:p>
            <a:pPr algn="l"/>
            <a:r>
              <a:rPr sz="850" b="1" i="0">
                <a:solidFill>
                  <a:srgbClr val="FFFFFF"/>
                </a:solidFill>
              </a:rPr>
              <a:t>Stage 1</a:t>
            </a:r>
          </a:p>
        </p:txBody>
      </p:sp>
      <p:sp>
        <p:nvSpPr>
          <p:cNvPr id="11" name="TextBox 10"/>
          <p:cNvSpPr txBox="1"/>
          <p:nvPr/>
        </p:nvSpPr>
        <p:spPr>
          <a:xfrm>
            <a:off x="274320" y="1225296"/>
            <a:ext cx="2011680" cy="274320"/>
          </a:xfrm>
          <a:prstGeom prst="rect">
            <a:avLst/>
          </a:prstGeom>
          <a:noFill/>
        </p:spPr>
        <p:txBody>
          <a:bodyPr wrap="square">
            <a:spAutoFit/>
          </a:bodyPr>
          <a:lstStyle/>
          <a:p>
            <a:pPr algn="l"/>
            <a:r>
              <a:rPr sz="900" b="1" i="0">
                <a:solidFill>
                  <a:srgbClr val="1A5276"/>
                </a:solidFill>
              </a:rPr>
              <a:t>5-Model Ensemble</a:t>
            </a:r>
          </a:p>
        </p:txBody>
      </p:sp>
      <p:sp>
        <p:nvSpPr>
          <p:cNvPr id="12" name="TextBox 11"/>
          <p:cNvSpPr txBox="1"/>
          <p:nvPr/>
        </p:nvSpPr>
        <p:spPr>
          <a:xfrm>
            <a:off x="274320" y="1536192"/>
            <a:ext cx="2011680" cy="274320"/>
          </a:xfrm>
          <a:prstGeom prst="rect">
            <a:avLst/>
          </a:prstGeom>
          <a:noFill/>
        </p:spPr>
        <p:txBody>
          <a:bodyPr wrap="square">
            <a:spAutoFit/>
          </a:bodyPr>
          <a:lstStyle/>
          <a:p>
            <a:pPr algn="l"/>
            <a:r>
              <a:rPr sz="800" b="0" i="0">
                <a:solidFill>
                  <a:srgbClr val="2C3E50"/>
                </a:solidFill>
              </a:rPr>
              <a:t>●  5 SE-CNN models trained with seeds 42, 123, 456, 789, 999</a:t>
            </a:r>
          </a:p>
        </p:txBody>
      </p:sp>
      <p:sp>
        <p:nvSpPr>
          <p:cNvPr id="13" name="TextBox 12"/>
          <p:cNvSpPr txBox="1"/>
          <p:nvPr/>
        </p:nvSpPr>
        <p:spPr>
          <a:xfrm>
            <a:off x="274320" y="1828800"/>
            <a:ext cx="2011680" cy="274320"/>
          </a:xfrm>
          <a:prstGeom prst="rect">
            <a:avLst/>
          </a:prstGeom>
          <a:noFill/>
        </p:spPr>
        <p:txBody>
          <a:bodyPr wrap="square">
            <a:spAutoFit/>
          </a:bodyPr>
          <a:lstStyle/>
          <a:p>
            <a:pPr algn="l"/>
            <a:r>
              <a:rPr sz="800" b="0" i="0">
                <a:solidFill>
                  <a:srgbClr val="2C3E50"/>
                </a:solidFill>
              </a:rPr>
              <a:t>●  Same architecture, same data — only random seed differs</a:t>
            </a:r>
          </a:p>
        </p:txBody>
      </p:sp>
      <p:sp>
        <p:nvSpPr>
          <p:cNvPr id="14" name="TextBox 13"/>
          <p:cNvSpPr txBox="1"/>
          <p:nvPr/>
        </p:nvSpPr>
        <p:spPr>
          <a:xfrm>
            <a:off x="274320" y="2121408"/>
            <a:ext cx="2011680" cy="274320"/>
          </a:xfrm>
          <a:prstGeom prst="rect">
            <a:avLst/>
          </a:prstGeom>
          <a:noFill/>
        </p:spPr>
        <p:txBody>
          <a:bodyPr wrap="square">
            <a:spAutoFit/>
          </a:bodyPr>
          <a:lstStyle/>
          <a:p>
            <a:pPr algn="l"/>
            <a:r>
              <a:rPr sz="800" b="0" i="0">
                <a:solidFill>
                  <a:srgbClr val="2C3E50"/>
                </a:solidFill>
              </a:rPr>
              <a:t>●  Diversity from initialization reduces variance</a:t>
            </a:r>
          </a:p>
        </p:txBody>
      </p:sp>
      <p:sp>
        <p:nvSpPr>
          <p:cNvPr id="15" name="Rectangle 14"/>
          <p:cNvSpPr/>
          <p:nvPr/>
        </p:nvSpPr>
        <p:spPr>
          <a:xfrm>
            <a:off x="2468879" y="896112"/>
            <a:ext cx="2011680" cy="310896"/>
          </a:xfrm>
          <a:prstGeom prst="rect">
            <a:avLst/>
          </a:prstGeom>
          <a:solidFill>
            <a:srgbClr val="2184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05456" y="914400"/>
            <a:ext cx="1938528" cy="274320"/>
          </a:xfrm>
          <a:prstGeom prst="rect">
            <a:avLst/>
          </a:prstGeom>
          <a:noFill/>
        </p:spPr>
        <p:txBody>
          <a:bodyPr wrap="square">
            <a:spAutoFit/>
          </a:bodyPr>
          <a:lstStyle/>
          <a:p>
            <a:pPr algn="l"/>
            <a:r>
              <a:rPr sz="850" b="1" i="0">
                <a:solidFill>
                  <a:srgbClr val="FFFFFF"/>
                </a:solidFill>
              </a:rPr>
              <a:t>Stage 2</a:t>
            </a:r>
          </a:p>
        </p:txBody>
      </p:sp>
      <p:sp>
        <p:nvSpPr>
          <p:cNvPr id="17" name="TextBox 16"/>
          <p:cNvSpPr txBox="1"/>
          <p:nvPr/>
        </p:nvSpPr>
        <p:spPr>
          <a:xfrm>
            <a:off x="2468879" y="1225296"/>
            <a:ext cx="2011680" cy="274320"/>
          </a:xfrm>
          <a:prstGeom prst="rect">
            <a:avLst/>
          </a:prstGeom>
          <a:noFill/>
        </p:spPr>
        <p:txBody>
          <a:bodyPr wrap="square">
            <a:spAutoFit/>
          </a:bodyPr>
          <a:lstStyle/>
          <a:p>
            <a:pPr algn="l"/>
            <a:r>
              <a:rPr sz="900" b="1" i="0">
                <a:solidFill>
                  <a:srgbClr val="1A5276"/>
                </a:solidFill>
              </a:rPr>
              <a:t>Test-Time Augmentation (TTA)</a:t>
            </a:r>
          </a:p>
        </p:txBody>
      </p:sp>
      <p:sp>
        <p:nvSpPr>
          <p:cNvPr id="18" name="TextBox 17"/>
          <p:cNvSpPr txBox="1"/>
          <p:nvPr/>
        </p:nvSpPr>
        <p:spPr>
          <a:xfrm>
            <a:off x="2468879" y="1536192"/>
            <a:ext cx="2011680" cy="274320"/>
          </a:xfrm>
          <a:prstGeom prst="rect">
            <a:avLst/>
          </a:prstGeom>
          <a:noFill/>
        </p:spPr>
        <p:txBody>
          <a:bodyPr wrap="square">
            <a:spAutoFit/>
          </a:bodyPr>
          <a:lstStyle/>
          <a:p>
            <a:pPr algn="l"/>
            <a:r>
              <a:rPr sz="800" b="0" i="0">
                <a:solidFill>
                  <a:srgbClr val="2C3E50"/>
                </a:solidFill>
              </a:rPr>
              <a:t>●  Each model runs 10 noisy forward passes per test sample</a:t>
            </a:r>
          </a:p>
        </p:txBody>
      </p:sp>
      <p:sp>
        <p:nvSpPr>
          <p:cNvPr id="19" name="TextBox 18"/>
          <p:cNvSpPr txBox="1"/>
          <p:nvPr/>
        </p:nvSpPr>
        <p:spPr>
          <a:xfrm>
            <a:off x="2468879" y="1828800"/>
            <a:ext cx="2011680" cy="274320"/>
          </a:xfrm>
          <a:prstGeom prst="rect">
            <a:avLst/>
          </a:prstGeom>
          <a:noFill/>
        </p:spPr>
        <p:txBody>
          <a:bodyPr wrap="square">
            <a:spAutoFit/>
          </a:bodyPr>
          <a:lstStyle/>
          <a:p>
            <a:pPr algn="l"/>
            <a:r>
              <a:rPr sz="800" b="0" i="0">
                <a:solidFill>
                  <a:srgbClr val="2C3E50"/>
                </a:solidFill>
              </a:rPr>
              <a:t>●  Gaussian noise σ=0.05 added to input each pass</a:t>
            </a:r>
          </a:p>
        </p:txBody>
      </p:sp>
      <p:sp>
        <p:nvSpPr>
          <p:cNvPr id="20" name="TextBox 19"/>
          <p:cNvSpPr txBox="1"/>
          <p:nvPr/>
        </p:nvSpPr>
        <p:spPr>
          <a:xfrm>
            <a:off x="2468879" y="2121408"/>
            <a:ext cx="2011680" cy="274320"/>
          </a:xfrm>
          <a:prstGeom prst="rect">
            <a:avLst/>
          </a:prstGeom>
          <a:noFill/>
        </p:spPr>
        <p:txBody>
          <a:bodyPr wrap="square">
            <a:spAutoFit/>
          </a:bodyPr>
          <a:lstStyle/>
          <a:p>
            <a:pPr algn="l"/>
            <a:r>
              <a:rPr sz="800" b="0" i="0">
                <a:solidFill>
                  <a:srgbClr val="2C3E50"/>
                </a:solidFill>
              </a:rPr>
              <a:t>●  50 total predictions per sample (5 models × 10 passes)</a:t>
            </a:r>
          </a:p>
        </p:txBody>
      </p:sp>
      <p:sp>
        <p:nvSpPr>
          <p:cNvPr id="21" name="Rectangle 20"/>
          <p:cNvSpPr/>
          <p:nvPr/>
        </p:nvSpPr>
        <p:spPr>
          <a:xfrm>
            <a:off x="4663440" y="896112"/>
            <a:ext cx="2011680" cy="310896"/>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00016" y="914400"/>
            <a:ext cx="1938528" cy="274320"/>
          </a:xfrm>
          <a:prstGeom prst="rect">
            <a:avLst/>
          </a:prstGeom>
          <a:noFill/>
        </p:spPr>
        <p:txBody>
          <a:bodyPr wrap="square">
            <a:spAutoFit/>
          </a:bodyPr>
          <a:lstStyle/>
          <a:p>
            <a:pPr algn="l"/>
            <a:r>
              <a:rPr sz="850" b="1" i="0">
                <a:solidFill>
                  <a:srgbClr val="FFFFFF"/>
                </a:solidFill>
              </a:rPr>
              <a:t>Stage 3</a:t>
            </a:r>
          </a:p>
        </p:txBody>
      </p:sp>
      <p:sp>
        <p:nvSpPr>
          <p:cNvPr id="23" name="TextBox 22"/>
          <p:cNvSpPr txBox="1"/>
          <p:nvPr/>
        </p:nvSpPr>
        <p:spPr>
          <a:xfrm>
            <a:off x="4663440" y="1225296"/>
            <a:ext cx="2011680" cy="274320"/>
          </a:xfrm>
          <a:prstGeom prst="rect">
            <a:avLst/>
          </a:prstGeom>
          <a:noFill/>
        </p:spPr>
        <p:txBody>
          <a:bodyPr wrap="square">
            <a:spAutoFit/>
          </a:bodyPr>
          <a:lstStyle/>
          <a:p>
            <a:pPr algn="l"/>
            <a:r>
              <a:rPr sz="900" b="1" i="0">
                <a:solidFill>
                  <a:srgbClr val="1A5276"/>
                </a:solidFill>
              </a:rPr>
              <a:t>Nelder-Mead Weight Optimization</a:t>
            </a:r>
          </a:p>
        </p:txBody>
      </p:sp>
      <p:sp>
        <p:nvSpPr>
          <p:cNvPr id="24" name="TextBox 23"/>
          <p:cNvSpPr txBox="1"/>
          <p:nvPr/>
        </p:nvSpPr>
        <p:spPr>
          <a:xfrm>
            <a:off x="4663440" y="1536192"/>
            <a:ext cx="2011680" cy="274320"/>
          </a:xfrm>
          <a:prstGeom prst="rect">
            <a:avLst/>
          </a:prstGeom>
          <a:noFill/>
        </p:spPr>
        <p:txBody>
          <a:bodyPr wrap="square">
            <a:spAutoFit/>
          </a:bodyPr>
          <a:lstStyle/>
          <a:p>
            <a:pPr algn="l"/>
            <a:r>
              <a:rPr sz="800" b="0" i="0">
                <a:solidFill>
                  <a:srgbClr val="2C3E50"/>
                </a:solidFill>
              </a:rPr>
              <a:t>●  Optimal weights learned on validation set (not test set)</a:t>
            </a:r>
          </a:p>
        </p:txBody>
      </p:sp>
      <p:sp>
        <p:nvSpPr>
          <p:cNvPr id="25" name="TextBox 24"/>
          <p:cNvSpPr txBox="1"/>
          <p:nvPr/>
        </p:nvSpPr>
        <p:spPr>
          <a:xfrm>
            <a:off x="4663440" y="1828800"/>
            <a:ext cx="2011680" cy="274320"/>
          </a:xfrm>
          <a:prstGeom prst="rect">
            <a:avLst/>
          </a:prstGeom>
          <a:noFill/>
        </p:spPr>
        <p:txBody>
          <a:bodyPr wrap="square">
            <a:spAutoFit/>
          </a:bodyPr>
          <a:lstStyle/>
          <a:p>
            <a:pPr algn="l"/>
            <a:r>
              <a:rPr sz="800" b="0" i="0">
                <a:solidFill>
                  <a:srgbClr val="2C3E50"/>
                </a:solidFill>
              </a:rPr>
              <a:t>●  8 random restarts to avoid local minima</a:t>
            </a:r>
          </a:p>
        </p:txBody>
      </p:sp>
      <p:sp>
        <p:nvSpPr>
          <p:cNvPr id="26" name="TextBox 25"/>
          <p:cNvSpPr txBox="1"/>
          <p:nvPr/>
        </p:nvSpPr>
        <p:spPr>
          <a:xfrm>
            <a:off x="4663440" y="2121408"/>
            <a:ext cx="2011680" cy="274320"/>
          </a:xfrm>
          <a:prstGeom prst="rect">
            <a:avLst/>
          </a:prstGeom>
          <a:noFill/>
        </p:spPr>
        <p:txBody>
          <a:bodyPr wrap="square">
            <a:spAutoFit/>
          </a:bodyPr>
          <a:lstStyle/>
          <a:p>
            <a:pPr algn="l"/>
            <a:r>
              <a:rPr sz="800" b="0" i="0">
                <a:solidFill>
                  <a:srgbClr val="2C3E50"/>
                </a:solidFill>
              </a:rPr>
              <a:t>●  Weights: seed42=0.235, 123=0.090, 456=0.240, 789=0.332, 999=0.103</a:t>
            </a:r>
          </a:p>
        </p:txBody>
      </p:sp>
      <p:sp>
        <p:nvSpPr>
          <p:cNvPr id="27" name="Rectangle 26"/>
          <p:cNvSpPr/>
          <p:nvPr/>
        </p:nvSpPr>
        <p:spPr>
          <a:xfrm>
            <a:off x="6857999" y="896112"/>
            <a:ext cx="2011680" cy="310896"/>
          </a:xfrm>
          <a:prstGeom prst="rect">
            <a:avLst/>
          </a:prstGeom>
          <a:solidFill>
            <a:srgbClr val="93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94575" y="914400"/>
            <a:ext cx="1938528" cy="274320"/>
          </a:xfrm>
          <a:prstGeom prst="rect">
            <a:avLst/>
          </a:prstGeom>
          <a:noFill/>
        </p:spPr>
        <p:txBody>
          <a:bodyPr wrap="square">
            <a:spAutoFit/>
          </a:bodyPr>
          <a:lstStyle/>
          <a:p>
            <a:pPr algn="l"/>
            <a:r>
              <a:rPr sz="850" b="1" i="0">
                <a:solidFill>
                  <a:srgbClr val="FFFFFF"/>
                </a:solidFill>
              </a:rPr>
              <a:t>Stage 4</a:t>
            </a:r>
          </a:p>
        </p:txBody>
      </p:sp>
      <p:sp>
        <p:nvSpPr>
          <p:cNvPr id="29" name="TextBox 28"/>
          <p:cNvSpPr txBox="1"/>
          <p:nvPr/>
        </p:nvSpPr>
        <p:spPr>
          <a:xfrm>
            <a:off x="6857999" y="1225296"/>
            <a:ext cx="2011680" cy="274320"/>
          </a:xfrm>
          <a:prstGeom prst="rect">
            <a:avLst/>
          </a:prstGeom>
          <a:noFill/>
        </p:spPr>
        <p:txBody>
          <a:bodyPr wrap="square">
            <a:spAutoFit/>
          </a:bodyPr>
          <a:lstStyle/>
          <a:p>
            <a:pPr algn="l"/>
            <a:r>
              <a:rPr sz="900" b="1" i="0">
                <a:solidFill>
                  <a:srgbClr val="1A5276"/>
                </a:solidFill>
              </a:rPr>
              <a:t>Temperature Scaling Calibration</a:t>
            </a:r>
          </a:p>
        </p:txBody>
      </p:sp>
      <p:sp>
        <p:nvSpPr>
          <p:cNvPr id="30" name="TextBox 29"/>
          <p:cNvSpPr txBox="1"/>
          <p:nvPr/>
        </p:nvSpPr>
        <p:spPr>
          <a:xfrm>
            <a:off x="6857999" y="1536192"/>
            <a:ext cx="2011680" cy="274320"/>
          </a:xfrm>
          <a:prstGeom prst="rect">
            <a:avLst/>
          </a:prstGeom>
          <a:noFill/>
        </p:spPr>
        <p:txBody>
          <a:bodyPr wrap="square">
            <a:spAutoFit/>
          </a:bodyPr>
          <a:lstStyle/>
          <a:p>
            <a:pPr algn="l"/>
            <a:r>
              <a:rPr sz="800" b="0" i="0">
                <a:solidFill>
                  <a:srgbClr val="2C3E50"/>
                </a:solidFill>
              </a:rPr>
              <a:t>●  Post-hoc calibration: T = 1.006</a:t>
            </a:r>
          </a:p>
        </p:txBody>
      </p:sp>
      <p:sp>
        <p:nvSpPr>
          <p:cNvPr id="31" name="TextBox 30"/>
          <p:cNvSpPr txBox="1"/>
          <p:nvPr/>
        </p:nvSpPr>
        <p:spPr>
          <a:xfrm>
            <a:off x="6857999" y="1828800"/>
            <a:ext cx="2011680" cy="274320"/>
          </a:xfrm>
          <a:prstGeom prst="rect">
            <a:avLst/>
          </a:prstGeom>
          <a:noFill/>
        </p:spPr>
        <p:txBody>
          <a:bodyPr wrap="square">
            <a:spAutoFit/>
          </a:bodyPr>
          <a:lstStyle/>
          <a:p>
            <a:pPr algn="l"/>
            <a:r>
              <a:rPr sz="800" b="0" i="0">
                <a:solidFill>
                  <a:srgbClr val="2C3E50"/>
                </a:solidFill>
              </a:rPr>
              <a:t>●  Confidence scores aligned with actual accuracy</a:t>
            </a:r>
          </a:p>
        </p:txBody>
      </p:sp>
      <p:sp>
        <p:nvSpPr>
          <p:cNvPr id="32" name="TextBox 31"/>
          <p:cNvSpPr txBox="1"/>
          <p:nvPr/>
        </p:nvSpPr>
        <p:spPr>
          <a:xfrm>
            <a:off x="6857999" y="2121408"/>
            <a:ext cx="2011680" cy="274320"/>
          </a:xfrm>
          <a:prstGeom prst="rect">
            <a:avLst/>
          </a:prstGeom>
          <a:noFill/>
        </p:spPr>
        <p:txBody>
          <a:bodyPr wrap="square">
            <a:spAutoFit/>
          </a:bodyPr>
          <a:lstStyle/>
          <a:p>
            <a:pPr algn="l"/>
            <a:r>
              <a:rPr sz="800" b="0" i="0">
                <a:solidFill>
                  <a:srgbClr val="2C3E50"/>
                </a:solidFill>
              </a:rPr>
              <a:t>●  Final blend: 60% TTA + 40% calibrated predictions</a:t>
            </a:r>
          </a:p>
        </p:txBody>
      </p:sp>
      <p:sp>
        <p:nvSpPr>
          <p:cNvPr id="33" name="Rectangle 32"/>
          <p:cNvSpPr/>
          <p:nvPr/>
        </p:nvSpPr>
        <p:spPr>
          <a:xfrm>
            <a:off x="274320" y="4206240"/>
            <a:ext cx="85953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4320" y="4261104"/>
            <a:ext cx="8595360" cy="512064"/>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65760" y="4297680"/>
            <a:ext cx="8412480" cy="219456"/>
          </a:xfrm>
          <a:prstGeom prst="rect">
            <a:avLst/>
          </a:prstGeom>
          <a:noFill/>
        </p:spPr>
        <p:txBody>
          <a:bodyPr wrap="square">
            <a:spAutoFit/>
          </a:bodyPr>
          <a:lstStyle/>
          <a:p>
            <a:pPr algn="ctr"/>
            <a:r>
              <a:rPr sz="950" b="1" i="0">
                <a:solidFill>
                  <a:srgbClr val="1A5276"/>
                </a:solidFill>
              </a:rPr>
              <a:t>Equal-weight ensemble: 94.52%   |   Weighted ensemble: 94.26%   |   Final (weighted + calibrated): 94.33%</a:t>
            </a:r>
          </a:p>
        </p:txBody>
      </p:sp>
      <p:sp>
        <p:nvSpPr>
          <p:cNvPr id="36" name="TextBox 35"/>
          <p:cNvSpPr txBox="1"/>
          <p:nvPr/>
        </p:nvSpPr>
        <p:spPr>
          <a:xfrm>
            <a:off x="365760" y="4498848"/>
            <a:ext cx="8412480" cy="219456"/>
          </a:xfrm>
          <a:prstGeom prst="rect">
            <a:avLst/>
          </a:prstGeom>
          <a:noFill/>
        </p:spPr>
        <p:txBody>
          <a:bodyPr wrap="square">
            <a:spAutoFit/>
          </a:bodyPr>
          <a:lstStyle/>
          <a:p>
            <a:pPr algn="ctr"/>
            <a:r>
              <a:rPr sz="850" b="0" i="1">
                <a:solidFill>
                  <a:srgbClr val="566573"/>
                </a:solidFill>
              </a:rPr>
              <a:t>Note: Calibration slightly reduced accuracy but improved confidence reliability — correct trade-off for clinical use.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TRAINING CONVERGENCE ANALYSIS</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14</a:t>
            </a:r>
          </a:p>
        </p:txBody>
      </p:sp>
      <p:pic>
        <p:nvPicPr>
          <p:cNvPr id="7" name="Picture 6" descr="training_curves.png"/>
          <p:cNvPicPr>
            <a:picLocks noChangeAspect="1"/>
          </p:cNvPicPr>
          <p:nvPr/>
        </p:nvPicPr>
        <p:blipFill>
          <a:blip r:embed="rId2"/>
          <a:stretch>
            <a:fillRect/>
          </a:stretch>
        </p:blipFill>
        <p:spPr>
          <a:xfrm>
            <a:off x="182880" y="548640"/>
            <a:ext cx="5852160" cy="4160520"/>
          </a:xfrm>
          <a:prstGeom prst="rect">
            <a:avLst/>
          </a:prstGeom>
        </p:spPr>
      </p:pic>
      <p:sp>
        <p:nvSpPr>
          <p:cNvPr id="8" name="TextBox 7"/>
          <p:cNvSpPr txBox="1"/>
          <p:nvPr/>
        </p:nvSpPr>
        <p:spPr>
          <a:xfrm>
            <a:off x="6217920" y="548640"/>
            <a:ext cx="2651760" cy="256032"/>
          </a:xfrm>
          <a:prstGeom prst="rect">
            <a:avLst/>
          </a:prstGeom>
          <a:noFill/>
        </p:spPr>
        <p:txBody>
          <a:bodyPr wrap="square">
            <a:spAutoFit/>
          </a:bodyPr>
          <a:lstStyle/>
          <a:p>
            <a:pPr algn="l"/>
            <a:r>
              <a:rPr sz="1050" b="1" i="0">
                <a:solidFill>
                  <a:srgbClr val="1A5276"/>
                </a:solidFill>
              </a:rPr>
              <a:t>Training Phases</a:t>
            </a:r>
          </a:p>
        </p:txBody>
      </p:sp>
      <p:sp>
        <p:nvSpPr>
          <p:cNvPr id="9" name="Rectangle 8"/>
          <p:cNvSpPr/>
          <p:nvPr/>
        </p:nvSpPr>
        <p:spPr>
          <a:xfrm>
            <a:off x="6217920" y="804672"/>
            <a:ext cx="26517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859536"/>
            <a:ext cx="2651760" cy="219456"/>
          </a:xfrm>
          <a:prstGeom prst="rect">
            <a:avLst/>
          </a:prstGeom>
          <a:noFill/>
        </p:spPr>
        <p:txBody>
          <a:bodyPr wrap="square">
            <a:spAutoFit/>
          </a:bodyPr>
          <a:lstStyle/>
          <a:p>
            <a:pPr algn="l"/>
            <a:r>
              <a:rPr sz="900" b="1" i="0">
                <a:solidFill>
                  <a:srgbClr val="1A5276"/>
                </a:solidFill>
              </a:rPr>
              <a:t>Phase 1 (Epochs 1–40):</a:t>
            </a:r>
          </a:p>
        </p:txBody>
      </p:sp>
      <p:sp>
        <p:nvSpPr>
          <p:cNvPr id="11" name="TextBox 10"/>
          <p:cNvSpPr txBox="1"/>
          <p:nvPr/>
        </p:nvSpPr>
        <p:spPr>
          <a:xfrm>
            <a:off x="6217920" y="1060704"/>
            <a:ext cx="2651760" cy="384048"/>
          </a:xfrm>
          <a:prstGeom prst="rect">
            <a:avLst/>
          </a:prstGeom>
          <a:noFill/>
        </p:spPr>
        <p:txBody>
          <a:bodyPr wrap="square">
            <a:spAutoFit/>
          </a:bodyPr>
          <a:lstStyle/>
          <a:p>
            <a:pPr algn="l"/>
            <a:r>
              <a:rPr sz="850" b="0" i="0">
                <a:solidFill>
                  <a:srgbClr val="2C3E50"/>
                </a:solidFill>
              </a:rPr>
              <a:t>Rapid learning. Train acc climbs steeply as model picks up dominant gene expression patterns.</a:t>
            </a:r>
          </a:p>
        </p:txBody>
      </p:sp>
      <p:sp>
        <p:nvSpPr>
          <p:cNvPr id="12" name="TextBox 11"/>
          <p:cNvSpPr txBox="1"/>
          <p:nvPr/>
        </p:nvSpPr>
        <p:spPr>
          <a:xfrm>
            <a:off x="6217920" y="1572768"/>
            <a:ext cx="2651760" cy="219456"/>
          </a:xfrm>
          <a:prstGeom prst="rect">
            <a:avLst/>
          </a:prstGeom>
          <a:noFill/>
        </p:spPr>
        <p:txBody>
          <a:bodyPr wrap="square">
            <a:spAutoFit/>
          </a:bodyPr>
          <a:lstStyle/>
          <a:p>
            <a:pPr algn="l"/>
            <a:r>
              <a:rPr sz="900" b="1" i="0">
                <a:solidFill>
                  <a:srgbClr val="1A5276"/>
                </a:solidFill>
              </a:rPr>
              <a:t>Phase 2 (Epochs 41–120):</a:t>
            </a:r>
          </a:p>
        </p:txBody>
      </p:sp>
      <p:sp>
        <p:nvSpPr>
          <p:cNvPr id="13" name="TextBox 12"/>
          <p:cNvSpPr txBox="1"/>
          <p:nvPr/>
        </p:nvSpPr>
        <p:spPr>
          <a:xfrm>
            <a:off x="6217920" y="1773936"/>
            <a:ext cx="2651760" cy="384048"/>
          </a:xfrm>
          <a:prstGeom prst="rect">
            <a:avLst/>
          </a:prstGeom>
          <a:noFill/>
        </p:spPr>
        <p:txBody>
          <a:bodyPr wrap="square">
            <a:spAutoFit/>
          </a:bodyPr>
          <a:lstStyle/>
          <a:p>
            <a:pPr algn="l"/>
            <a:r>
              <a:rPr sz="850" b="0" i="0">
                <a:solidFill>
                  <a:srgbClr val="2C3E50"/>
                </a:solidFill>
              </a:rPr>
              <a:t>Fine-tuning. Cosine LR warm restarts fire. Val acc stabilizes while train continues improving.</a:t>
            </a:r>
          </a:p>
        </p:txBody>
      </p:sp>
      <p:sp>
        <p:nvSpPr>
          <p:cNvPr id="14" name="TextBox 13"/>
          <p:cNvSpPr txBox="1"/>
          <p:nvPr/>
        </p:nvSpPr>
        <p:spPr>
          <a:xfrm>
            <a:off x="6217920" y="2286000"/>
            <a:ext cx="2651760" cy="219456"/>
          </a:xfrm>
          <a:prstGeom prst="rect">
            <a:avLst/>
          </a:prstGeom>
          <a:noFill/>
        </p:spPr>
        <p:txBody>
          <a:bodyPr wrap="square">
            <a:spAutoFit/>
          </a:bodyPr>
          <a:lstStyle/>
          <a:p>
            <a:pPr algn="l"/>
            <a:r>
              <a:rPr sz="900" b="1" i="0">
                <a:solidFill>
                  <a:srgbClr val="1A5276"/>
                </a:solidFill>
              </a:rPr>
              <a:t>Phase 3 (Plateau &amp; Stop):</a:t>
            </a:r>
          </a:p>
        </p:txBody>
      </p:sp>
      <p:sp>
        <p:nvSpPr>
          <p:cNvPr id="15" name="TextBox 14"/>
          <p:cNvSpPr txBox="1"/>
          <p:nvPr/>
        </p:nvSpPr>
        <p:spPr>
          <a:xfrm>
            <a:off x="6217920" y="2487168"/>
            <a:ext cx="2651760" cy="384048"/>
          </a:xfrm>
          <a:prstGeom prst="rect">
            <a:avLst/>
          </a:prstGeom>
          <a:noFill/>
        </p:spPr>
        <p:txBody>
          <a:bodyPr wrap="square">
            <a:spAutoFit/>
          </a:bodyPr>
          <a:lstStyle/>
          <a:p>
            <a:pPr algn="l"/>
            <a:r>
              <a:rPr sz="850" b="0" i="0">
                <a:solidFill>
                  <a:srgbClr val="2C3E50"/>
                </a:solidFill>
              </a:rPr>
              <a:t>Early stopping fires at patience=40. Best checkpoint per seed is saved.</a:t>
            </a:r>
          </a:p>
        </p:txBody>
      </p:sp>
      <p:sp>
        <p:nvSpPr>
          <p:cNvPr id="16" name="TextBox 15"/>
          <p:cNvSpPr txBox="1"/>
          <p:nvPr/>
        </p:nvSpPr>
        <p:spPr>
          <a:xfrm>
            <a:off x="6217920" y="3054096"/>
            <a:ext cx="2651760" cy="256032"/>
          </a:xfrm>
          <a:prstGeom prst="rect">
            <a:avLst/>
          </a:prstGeom>
          <a:noFill/>
        </p:spPr>
        <p:txBody>
          <a:bodyPr wrap="square">
            <a:spAutoFit/>
          </a:bodyPr>
          <a:lstStyle/>
          <a:p>
            <a:pPr algn="l"/>
            <a:r>
              <a:rPr sz="1050" b="1" i="0">
                <a:solidFill>
                  <a:srgbClr val="1A5276"/>
                </a:solidFill>
              </a:rPr>
              <a:t>Final Numbers</a:t>
            </a:r>
          </a:p>
        </p:txBody>
      </p:sp>
      <p:sp>
        <p:nvSpPr>
          <p:cNvPr id="17" name="Rectangle 16"/>
          <p:cNvSpPr/>
          <p:nvPr/>
        </p:nvSpPr>
        <p:spPr>
          <a:xfrm>
            <a:off x="6217920" y="3310128"/>
            <a:ext cx="26517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0" y="3364992"/>
            <a:ext cx="1371600" cy="219456"/>
          </a:xfrm>
          <a:prstGeom prst="rect">
            <a:avLst/>
          </a:prstGeom>
          <a:noFill/>
        </p:spPr>
        <p:txBody>
          <a:bodyPr wrap="square">
            <a:spAutoFit/>
          </a:bodyPr>
          <a:lstStyle/>
          <a:p>
            <a:pPr algn="l"/>
            <a:r>
              <a:rPr sz="900" b="1" i="0">
                <a:solidFill>
                  <a:srgbClr val="1A5276"/>
                </a:solidFill>
              </a:rPr>
              <a:t>Test Accuracy:</a:t>
            </a:r>
          </a:p>
        </p:txBody>
      </p:sp>
      <p:sp>
        <p:nvSpPr>
          <p:cNvPr id="19" name="TextBox 18"/>
          <p:cNvSpPr txBox="1"/>
          <p:nvPr/>
        </p:nvSpPr>
        <p:spPr>
          <a:xfrm>
            <a:off x="7607808" y="3364992"/>
            <a:ext cx="1280160" cy="219456"/>
          </a:xfrm>
          <a:prstGeom prst="rect">
            <a:avLst/>
          </a:prstGeom>
          <a:noFill/>
        </p:spPr>
        <p:txBody>
          <a:bodyPr wrap="square">
            <a:spAutoFit/>
          </a:bodyPr>
          <a:lstStyle/>
          <a:p>
            <a:pPr algn="l"/>
            <a:r>
              <a:rPr sz="900" b="0" i="0">
                <a:solidFill>
                  <a:srgbClr val="2C3E50"/>
                </a:solidFill>
              </a:rPr>
              <a:t>94.33%</a:t>
            </a:r>
          </a:p>
        </p:txBody>
      </p:sp>
      <p:sp>
        <p:nvSpPr>
          <p:cNvPr id="20" name="TextBox 19"/>
          <p:cNvSpPr txBox="1"/>
          <p:nvPr/>
        </p:nvSpPr>
        <p:spPr>
          <a:xfrm>
            <a:off x="6217920" y="3639312"/>
            <a:ext cx="1371600" cy="219456"/>
          </a:xfrm>
          <a:prstGeom prst="rect">
            <a:avLst/>
          </a:prstGeom>
          <a:noFill/>
        </p:spPr>
        <p:txBody>
          <a:bodyPr wrap="square">
            <a:spAutoFit/>
          </a:bodyPr>
          <a:lstStyle/>
          <a:p>
            <a:pPr algn="l"/>
            <a:r>
              <a:rPr sz="900" b="1" i="0">
                <a:solidFill>
                  <a:srgbClr val="1A5276"/>
                </a:solidFill>
              </a:rPr>
              <a:t>Macro F1:</a:t>
            </a:r>
          </a:p>
        </p:txBody>
      </p:sp>
      <p:sp>
        <p:nvSpPr>
          <p:cNvPr id="21" name="TextBox 20"/>
          <p:cNvSpPr txBox="1"/>
          <p:nvPr/>
        </p:nvSpPr>
        <p:spPr>
          <a:xfrm>
            <a:off x="7607808" y="3639312"/>
            <a:ext cx="1280160" cy="219456"/>
          </a:xfrm>
          <a:prstGeom prst="rect">
            <a:avLst/>
          </a:prstGeom>
          <a:noFill/>
        </p:spPr>
        <p:txBody>
          <a:bodyPr wrap="square">
            <a:spAutoFit/>
          </a:bodyPr>
          <a:lstStyle/>
          <a:p>
            <a:pPr algn="l"/>
            <a:r>
              <a:rPr sz="900" b="0" i="0">
                <a:solidFill>
                  <a:srgbClr val="2C3E50"/>
                </a:solidFill>
              </a:rPr>
              <a:t>0.9250</a:t>
            </a:r>
          </a:p>
        </p:txBody>
      </p:sp>
      <p:sp>
        <p:nvSpPr>
          <p:cNvPr id="22" name="TextBox 21"/>
          <p:cNvSpPr txBox="1"/>
          <p:nvPr/>
        </p:nvSpPr>
        <p:spPr>
          <a:xfrm>
            <a:off x="6217920" y="3913632"/>
            <a:ext cx="1371600" cy="219456"/>
          </a:xfrm>
          <a:prstGeom prst="rect">
            <a:avLst/>
          </a:prstGeom>
          <a:noFill/>
        </p:spPr>
        <p:txBody>
          <a:bodyPr wrap="square">
            <a:spAutoFit/>
          </a:bodyPr>
          <a:lstStyle/>
          <a:p>
            <a:pPr algn="l"/>
            <a:r>
              <a:rPr sz="900" b="1" i="0">
                <a:solidFill>
                  <a:srgbClr val="1A5276"/>
                </a:solidFill>
              </a:rPr>
              <a:t>ROC-AUC:</a:t>
            </a:r>
          </a:p>
        </p:txBody>
      </p:sp>
      <p:sp>
        <p:nvSpPr>
          <p:cNvPr id="23" name="TextBox 22"/>
          <p:cNvSpPr txBox="1"/>
          <p:nvPr/>
        </p:nvSpPr>
        <p:spPr>
          <a:xfrm>
            <a:off x="7607808" y="3913632"/>
            <a:ext cx="1280160" cy="219456"/>
          </a:xfrm>
          <a:prstGeom prst="rect">
            <a:avLst/>
          </a:prstGeom>
          <a:noFill/>
        </p:spPr>
        <p:txBody>
          <a:bodyPr wrap="square">
            <a:spAutoFit/>
          </a:bodyPr>
          <a:lstStyle/>
          <a:p>
            <a:pPr algn="l"/>
            <a:r>
              <a:rPr sz="900" b="0" i="0">
                <a:solidFill>
                  <a:srgbClr val="2C3E50"/>
                </a:solidFill>
              </a:rPr>
              <a:t>0.9957</a:t>
            </a:r>
          </a:p>
        </p:txBody>
      </p:sp>
      <p:sp>
        <p:nvSpPr>
          <p:cNvPr id="24" name="TextBox 23"/>
          <p:cNvSpPr txBox="1"/>
          <p:nvPr/>
        </p:nvSpPr>
        <p:spPr>
          <a:xfrm>
            <a:off x="6217920" y="4187952"/>
            <a:ext cx="1371600" cy="219456"/>
          </a:xfrm>
          <a:prstGeom prst="rect">
            <a:avLst/>
          </a:prstGeom>
          <a:noFill/>
        </p:spPr>
        <p:txBody>
          <a:bodyPr wrap="square">
            <a:spAutoFit/>
          </a:bodyPr>
          <a:lstStyle/>
          <a:p>
            <a:pPr algn="l"/>
            <a:r>
              <a:rPr sz="900" b="1" i="0">
                <a:solidFill>
                  <a:srgbClr val="1A5276"/>
                </a:solidFill>
              </a:rPr>
              <a:t>Training time:</a:t>
            </a:r>
          </a:p>
        </p:txBody>
      </p:sp>
      <p:sp>
        <p:nvSpPr>
          <p:cNvPr id="25" name="TextBox 24"/>
          <p:cNvSpPr txBox="1"/>
          <p:nvPr/>
        </p:nvSpPr>
        <p:spPr>
          <a:xfrm>
            <a:off x="7607808" y="4187952"/>
            <a:ext cx="1280160" cy="219456"/>
          </a:xfrm>
          <a:prstGeom prst="rect">
            <a:avLst/>
          </a:prstGeom>
          <a:noFill/>
        </p:spPr>
        <p:txBody>
          <a:bodyPr wrap="square">
            <a:spAutoFit/>
          </a:bodyPr>
          <a:lstStyle/>
          <a:p>
            <a:pPr algn="l"/>
            <a:r>
              <a:rPr sz="900" b="0" i="0">
                <a:solidFill>
                  <a:srgbClr val="2C3E50"/>
                </a:solidFill>
              </a:rPr>
              <a:t>67.3 minutes total</a:t>
            </a:r>
          </a:p>
        </p:txBody>
      </p:sp>
      <p:sp>
        <p:nvSpPr>
          <p:cNvPr id="26" name="TextBox 25"/>
          <p:cNvSpPr txBox="1"/>
          <p:nvPr/>
        </p:nvSpPr>
        <p:spPr>
          <a:xfrm>
            <a:off x="6217920" y="4462272"/>
            <a:ext cx="1371600" cy="219456"/>
          </a:xfrm>
          <a:prstGeom prst="rect">
            <a:avLst/>
          </a:prstGeom>
          <a:noFill/>
        </p:spPr>
        <p:txBody>
          <a:bodyPr wrap="square">
            <a:spAutoFit/>
          </a:bodyPr>
          <a:lstStyle/>
          <a:p>
            <a:pPr algn="l"/>
            <a:r>
              <a:rPr sz="900" b="1" i="0">
                <a:solidFill>
                  <a:srgbClr val="1A5276"/>
                </a:solidFill>
              </a:rPr>
              <a:t>Device:</a:t>
            </a:r>
          </a:p>
        </p:txBody>
      </p:sp>
      <p:sp>
        <p:nvSpPr>
          <p:cNvPr id="27" name="TextBox 26"/>
          <p:cNvSpPr txBox="1"/>
          <p:nvPr/>
        </p:nvSpPr>
        <p:spPr>
          <a:xfrm>
            <a:off x="7607808" y="4462272"/>
            <a:ext cx="1280160" cy="219456"/>
          </a:xfrm>
          <a:prstGeom prst="rect">
            <a:avLst/>
          </a:prstGeom>
          <a:noFill/>
        </p:spPr>
        <p:txBody>
          <a:bodyPr wrap="square">
            <a:spAutoFit/>
          </a:bodyPr>
          <a:lstStyle/>
          <a:p>
            <a:pPr algn="l"/>
            <a:r>
              <a:rPr sz="900" b="0" i="0">
                <a:solidFill>
                  <a:srgbClr val="2C3E50"/>
                </a:solidFill>
              </a:rPr>
              <a:t>CUDA (RTX GPU)</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FINAL RESULTS</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15</a:t>
            </a:r>
          </a:p>
        </p:txBody>
      </p:sp>
      <p:sp>
        <p:nvSpPr>
          <p:cNvPr id="7" name="TextBox 6"/>
          <p:cNvSpPr txBox="1"/>
          <p:nvPr/>
        </p:nvSpPr>
        <p:spPr>
          <a:xfrm>
            <a:off x="274320" y="530352"/>
            <a:ext cx="8595360" cy="256032"/>
          </a:xfrm>
          <a:prstGeom prst="rect">
            <a:avLst/>
          </a:prstGeom>
          <a:noFill/>
        </p:spPr>
        <p:txBody>
          <a:bodyPr wrap="square">
            <a:spAutoFit/>
          </a:bodyPr>
          <a:lstStyle/>
          <a:p>
            <a:pPr algn="ctr"/>
            <a:r>
              <a:rPr sz="950" b="0" i="1">
                <a:solidFill>
                  <a:srgbClr val="2C3E50"/>
                </a:solidFill>
              </a:rPr>
              <a:t>5-model SE-CNN ensemble | MixUp + SMOTE + TTA + temperature calibration | Test set: 1,569 samples | 32 cancer types</a:t>
            </a:r>
          </a:p>
        </p:txBody>
      </p:sp>
      <p:sp>
        <p:nvSpPr>
          <p:cNvPr id="8" name="Rectangle 7"/>
          <p:cNvSpPr/>
          <p:nvPr/>
        </p:nvSpPr>
        <p:spPr>
          <a:xfrm>
            <a:off x="274320" y="877824"/>
            <a:ext cx="2011680" cy="10972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969264"/>
            <a:ext cx="2011680" cy="640080"/>
          </a:xfrm>
          <a:prstGeom prst="rect">
            <a:avLst/>
          </a:prstGeom>
          <a:noFill/>
        </p:spPr>
        <p:txBody>
          <a:bodyPr wrap="square">
            <a:spAutoFit/>
          </a:bodyPr>
          <a:lstStyle/>
          <a:p>
            <a:pPr algn="ctr"/>
            <a:r>
              <a:rPr sz="3200" b="1" i="0">
                <a:solidFill>
                  <a:srgbClr val="69B3E7"/>
                </a:solidFill>
              </a:rPr>
              <a:t>94.33%</a:t>
            </a:r>
          </a:p>
        </p:txBody>
      </p:sp>
      <p:sp>
        <p:nvSpPr>
          <p:cNvPr id="10" name="TextBox 9"/>
          <p:cNvSpPr txBox="1"/>
          <p:nvPr/>
        </p:nvSpPr>
        <p:spPr>
          <a:xfrm>
            <a:off x="274320" y="1609344"/>
            <a:ext cx="2011680" cy="274320"/>
          </a:xfrm>
          <a:prstGeom prst="rect">
            <a:avLst/>
          </a:prstGeom>
          <a:noFill/>
        </p:spPr>
        <p:txBody>
          <a:bodyPr wrap="square">
            <a:spAutoFit/>
          </a:bodyPr>
          <a:lstStyle/>
          <a:p>
            <a:pPr algn="ctr"/>
            <a:r>
              <a:rPr sz="900" b="0" i="0">
                <a:solidFill>
                  <a:srgbClr val="566573"/>
                </a:solidFill>
              </a:rPr>
              <a:t>Test Accuracy</a:t>
            </a:r>
          </a:p>
        </p:txBody>
      </p:sp>
      <p:sp>
        <p:nvSpPr>
          <p:cNvPr id="11" name="Rectangle 10"/>
          <p:cNvSpPr/>
          <p:nvPr/>
        </p:nvSpPr>
        <p:spPr>
          <a:xfrm>
            <a:off x="2468879" y="877824"/>
            <a:ext cx="2011680" cy="10972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68879" y="969264"/>
            <a:ext cx="2011680" cy="640080"/>
          </a:xfrm>
          <a:prstGeom prst="rect">
            <a:avLst/>
          </a:prstGeom>
          <a:noFill/>
        </p:spPr>
        <p:txBody>
          <a:bodyPr wrap="square">
            <a:spAutoFit/>
          </a:bodyPr>
          <a:lstStyle/>
          <a:p>
            <a:pPr algn="ctr"/>
            <a:r>
              <a:rPr sz="3200" b="1" i="0">
                <a:solidFill>
                  <a:srgbClr val="1A5276"/>
                </a:solidFill>
              </a:rPr>
              <a:t>0.9250</a:t>
            </a:r>
          </a:p>
        </p:txBody>
      </p:sp>
      <p:sp>
        <p:nvSpPr>
          <p:cNvPr id="13" name="TextBox 12"/>
          <p:cNvSpPr txBox="1"/>
          <p:nvPr/>
        </p:nvSpPr>
        <p:spPr>
          <a:xfrm>
            <a:off x="2468879" y="1609344"/>
            <a:ext cx="2011680" cy="274320"/>
          </a:xfrm>
          <a:prstGeom prst="rect">
            <a:avLst/>
          </a:prstGeom>
          <a:noFill/>
        </p:spPr>
        <p:txBody>
          <a:bodyPr wrap="square">
            <a:spAutoFit/>
          </a:bodyPr>
          <a:lstStyle/>
          <a:p>
            <a:pPr algn="ctr"/>
            <a:r>
              <a:rPr sz="900" b="0" i="0">
                <a:solidFill>
                  <a:srgbClr val="566573"/>
                </a:solidFill>
              </a:rPr>
              <a:t>Macro Avg F1</a:t>
            </a:r>
          </a:p>
        </p:txBody>
      </p:sp>
      <p:sp>
        <p:nvSpPr>
          <p:cNvPr id="14" name="Rectangle 13"/>
          <p:cNvSpPr/>
          <p:nvPr/>
        </p:nvSpPr>
        <p:spPr>
          <a:xfrm>
            <a:off x="4663440" y="877824"/>
            <a:ext cx="2011680" cy="10972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63440" y="969264"/>
            <a:ext cx="2011680" cy="640080"/>
          </a:xfrm>
          <a:prstGeom prst="rect">
            <a:avLst/>
          </a:prstGeom>
          <a:noFill/>
        </p:spPr>
        <p:txBody>
          <a:bodyPr wrap="square">
            <a:spAutoFit/>
          </a:bodyPr>
          <a:lstStyle/>
          <a:p>
            <a:pPr algn="ctr"/>
            <a:r>
              <a:rPr sz="3200" b="1" i="0">
                <a:solidFill>
                  <a:srgbClr val="218449"/>
                </a:solidFill>
              </a:rPr>
              <a:t>0.9957</a:t>
            </a:r>
          </a:p>
        </p:txBody>
      </p:sp>
      <p:sp>
        <p:nvSpPr>
          <p:cNvPr id="16" name="TextBox 15"/>
          <p:cNvSpPr txBox="1"/>
          <p:nvPr/>
        </p:nvSpPr>
        <p:spPr>
          <a:xfrm>
            <a:off x="4663440" y="1609344"/>
            <a:ext cx="2011680" cy="274320"/>
          </a:xfrm>
          <a:prstGeom prst="rect">
            <a:avLst/>
          </a:prstGeom>
          <a:noFill/>
        </p:spPr>
        <p:txBody>
          <a:bodyPr wrap="square">
            <a:spAutoFit/>
          </a:bodyPr>
          <a:lstStyle/>
          <a:p>
            <a:pPr algn="ctr"/>
            <a:r>
              <a:rPr sz="900" b="0" i="0">
                <a:solidFill>
                  <a:srgbClr val="566573"/>
                </a:solidFill>
              </a:rPr>
              <a:t>Mean ROC-AUC</a:t>
            </a:r>
          </a:p>
        </p:txBody>
      </p:sp>
      <p:sp>
        <p:nvSpPr>
          <p:cNvPr id="17" name="Rectangle 16"/>
          <p:cNvSpPr/>
          <p:nvPr/>
        </p:nvSpPr>
        <p:spPr>
          <a:xfrm>
            <a:off x="6857999" y="877824"/>
            <a:ext cx="2011680" cy="109728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7999" y="969264"/>
            <a:ext cx="2011680" cy="640080"/>
          </a:xfrm>
          <a:prstGeom prst="rect">
            <a:avLst/>
          </a:prstGeom>
          <a:noFill/>
        </p:spPr>
        <p:txBody>
          <a:bodyPr wrap="square">
            <a:spAutoFit/>
          </a:bodyPr>
          <a:lstStyle/>
          <a:p>
            <a:pPr algn="ctr"/>
            <a:r>
              <a:rPr sz="3200" b="1" i="0">
                <a:solidFill>
                  <a:srgbClr val="ED7D31"/>
                </a:solidFill>
              </a:rPr>
              <a:t>32</a:t>
            </a:r>
          </a:p>
        </p:txBody>
      </p:sp>
      <p:sp>
        <p:nvSpPr>
          <p:cNvPr id="19" name="TextBox 18"/>
          <p:cNvSpPr txBox="1"/>
          <p:nvPr/>
        </p:nvSpPr>
        <p:spPr>
          <a:xfrm>
            <a:off x="6857999" y="1609344"/>
            <a:ext cx="2011680" cy="274320"/>
          </a:xfrm>
          <a:prstGeom prst="rect">
            <a:avLst/>
          </a:prstGeom>
          <a:noFill/>
        </p:spPr>
        <p:txBody>
          <a:bodyPr wrap="square">
            <a:spAutoFit/>
          </a:bodyPr>
          <a:lstStyle/>
          <a:p>
            <a:pPr algn="ctr"/>
            <a:r>
              <a:rPr sz="900" b="0" i="0">
                <a:solidFill>
                  <a:srgbClr val="566573"/>
                </a:solidFill>
              </a:rPr>
              <a:t>Cancer Types Classified</a:t>
            </a:r>
          </a:p>
        </p:txBody>
      </p:sp>
      <p:sp>
        <p:nvSpPr>
          <p:cNvPr id="20" name="TextBox 19"/>
          <p:cNvSpPr txBox="1"/>
          <p:nvPr/>
        </p:nvSpPr>
        <p:spPr>
          <a:xfrm>
            <a:off x="274320" y="2121408"/>
            <a:ext cx="4114800" cy="256032"/>
          </a:xfrm>
          <a:prstGeom prst="rect">
            <a:avLst/>
          </a:prstGeom>
          <a:noFill/>
        </p:spPr>
        <p:txBody>
          <a:bodyPr wrap="square">
            <a:spAutoFit/>
          </a:bodyPr>
          <a:lstStyle/>
          <a:p>
            <a:pPr algn="l"/>
            <a:r>
              <a:rPr sz="1050" b="1" i="0">
                <a:solidFill>
                  <a:srgbClr val="1A5276"/>
                </a:solidFill>
              </a:rPr>
              <a:t>Top Performers (F1 = 1.0)</a:t>
            </a:r>
          </a:p>
        </p:txBody>
      </p:sp>
      <p:sp>
        <p:nvSpPr>
          <p:cNvPr id="21" name="Rectangle 20"/>
          <p:cNvSpPr/>
          <p:nvPr/>
        </p:nvSpPr>
        <p:spPr>
          <a:xfrm>
            <a:off x="274320" y="2377440"/>
            <a:ext cx="411480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4048" y="2432304"/>
            <a:ext cx="3931920" cy="219456"/>
          </a:xfrm>
          <a:prstGeom prst="rect">
            <a:avLst/>
          </a:prstGeom>
          <a:noFill/>
        </p:spPr>
        <p:txBody>
          <a:bodyPr wrap="square">
            <a:spAutoFit/>
          </a:bodyPr>
          <a:lstStyle/>
          <a:p>
            <a:pPr algn="l"/>
            <a:r>
              <a:rPr sz="900" b="0" i="0">
                <a:solidFill>
                  <a:srgbClr val="1E8449"/>
                </a:solidFill>
              </a:rPr>
              <a:t>★  THCA (Thyroid Carcinoma)</a:t>
            </a:r>
          </a:p>
        </p:txBody>
      </p:sp>
      <p:sp>
        <p:nvSpPr>
          <p:cNvPr id="23" name="TextBox 22"/>
          <p:cNvSpPr txBox="1"/>
          <p:nvPr/>
        </p:nvSpPr>
        <p:spPr>
          <a:xfrm>
            <a:off x="384048" y="2688336"/>
            <a:ext cx="3931920" cy="219456"/>
          </a:xfrm>
          <a:prstGeom prst="rect">
            <a:avLst/>
          </a:prstGeom>
          <a:noFill/>
        </p:spPr>
        <p:txBody>
          <a:bodyPr wrap="square">
            <a:spAutoFit/>
          </a:bodyPr>
          <a:lstStyle/>
          <a:p>
            <a:pPr algn="l"/>
            <a:r>
              <a:rPr sz="900" b="0" i="0">
                <a:solidFill>
                  <a:srgbClr val="1E8449"/>
                </a:solidFill>
              </a:rPr>
              <a:t>★  PRAD (Prostate Adenocarcinoma)</a:t>
            </a:r>
          </a:p>
        </p:txBody>
      </p:sp>
      <p:sp>
        <p:nvSpPr>
          <p:cNvPr id="24" name="TextBox 23"/>
          <p:cNvSpPr txBox="1"/>
          <p:nvPr/>
        </p:nvSpPr>
        <p:spPr>
          <a:xfrm>
            <a:off x="384048" y="2944368"/>
            <a:ext cx="3931920" cy="219456"/>
          </a:xfrm>
          <a:prstGeom prst="rect">
            <a:avLst/>
          </a:prstGeom>
          <a:noFill/>
        </p:spPr>
        <p:txBody>
          <a:bodyPr wrap="square">
            <a:spAutoFit/>
          </a:bodyPr>
          <a:lstStyle/>
          <a:p>
            <a:pPr algn="l"/>
            <a:r>
              <a:rPr sz="900" b="0" i="0">
                <a:solidFill>
                  <a:srgbClr val="1E8449"/>
                </a:solidFill>
              </a:rPr>
              <a:t>★  PCPG (Pheochromocytoma)</a:t>
            </a:r>
          </a:p>
        </p:txBody>
      </p:sp>
      <p:sp>
        <p:nvSpPr>
          <p:cNvPr id="25" name="TextBox 24"/>
          <p:cNvSpPr txBox="1"/>
          <p:nvPr/>
        </p:nvSpPr>
        <p:spPr>
          <a:xfrm>
            <a:off x="384048" y="3200400"/>
            <a:ext cx="3931920" cy="219456"/>
          </a:xfrm>
          <a:prstGeom prst="rect">
            <a:avLst/>
          </a:prstGeom>
          <a:noFill/>
        </p:spPr>
        <p:txBody>
          <a:bodyPr wrap="square">
            <a:spAutoFit/>
          </a:bodyPr>
          <a:lstStyle/>
          <a:p>
            <a:pPr algn="l"/>
            <a:r>
              <a:rPr sz="900" b="0" i="0">
                <a:solidFill>
                  <a:srgbClr val="1E8449"/>
                </a:solidFill>
              </a:rPr>
              <a:t>★  LAML (Acute Myeloid Leukemia)</a:t>
            </a:r>
          </a:p>
        </p:txBody>
      </p:sp>
      <p:sp>
        <p:nvSpPr>
          <p:cNvPr id="26" name="TextBox 25"/>
          <p:cNvSpPr txBox="1"/>
          <p:nvPr/>
        </p:nvSpPr>
        <p:spPr>
          <a:xfrm>
            <a:off x="384048" y="3456432"/>
            <a:ext cx="3931920" cy="219456"/>
          </a:xfrm>
          <a:prstGeom prst="rect">
            <a:avLst/>
          </a:prstGeom>
          <a:noFill/>
        </p:spPr>
        <p:txBody>
          <a:bodyPr wrap="square">
            <a:spAutoFit/>
          </a:bodyPr>
          <a:lstStyle/>
          <a:p>
            <a:pPr algn="l"/>
            <a:r>
              <a:rPr sz="900" b="0" i="0">
                <a:solidFill>
                  <a:srgbClr val="1E8449"/>
                </a:solidFill>
              </a:rPr>
              <a:t>★  LUAD (Lung Adenocarcinoma)</a:t>
            </a:r>
          </a:p>
        </p:txBody>
      </p:sp>
      <p:sp>
        <p:nvSpPr>
          <p:cNvPr id="27" name="TextBox 26"/>
          <p:cNvSpPr txBox="1"/>
          <p:nvPr/>
        </p:nvSpPr>
        <p:spPr>
          <a:xfrm>
            <a:off x="384048" y="3712464"/>
            <a:ext cx="3931920" cy="219456"/>
          </a:xfrm>
          <a:prstGeom prst="rect">
            <a:avLst/>
          </a:prstGeom>
          <a:noFill/>
        </p:spPr>
        <p:txBody>
          <a:bodyPr wrap="square">
            <a:spAutoFit/>
          </a:bodyPr>
          <a:lstStyle/>
          <a:p>
            <a:pPr algn="l"/>
            <a:r>
              <a:rPr sz="900" b="0" i="0">
                <a:solidFill>
                  <a:srgbClr val="1E8449"/>
                </a:solidFill>
              </a:rPr>
              <a:t>★  STAD (Stomach Adenocarcinoma)</a:t>
            </a:r>
          </a:p>
        </p:txBody>
      </p:sp>
      <p:sp>
        <p:nvSpPr>
          <p:cNvPr id="28" name="TextBox 27"/>
          <p:cNvSpPr txBox="1"/>
          <p:nvPr/>
        </p:nvSpPr>
        <p:spPr>
          <a:xfrm>
            <a:off x="384048" y="3968496"/>
            <a:ext cx="3931920" cy="219456"/>
          </a:xfrm>
          <a:prstGeom prst="rect">
            <a:avLst/>
          </a:prstGeom>
          <a:noFill/>
        </p:spPr>
        <p:txBody>
          <a:bodyPr wrap="square">
            <a:spAutoFit/>
          </a:bodyPr>
          <a:lstStyle/>
          <a:p>
            <a:pPr algn="l"/>
            <a:r>
              <a:rPr sz="900" b="0" i="0">
                <a:solidFill>
                  <a:srgbClr val="1E8449"/>
                </a:solidFill>
              </a:rPr>
              <a:t>★  CHOL (Cholangiocarcinoma)</a:t>
            </a:r>
          </a:p>
        </p:txBody>
      </p:sp>
      <p:sp>
        <p:nvSpPr>
          <p:cNvPr id="29" name="TextBox 28"/>
          <p:cNvSpPr txBox="1"/>
          <p:nvPr/>
        </p:nvSpPr>
        <p:spPr>
          <a:xfrm>
            <a:off x="4663440" y="2121408"/>
            <a:ext cx="4206240" cy="256032"/>
          </a:xfrm>
          <a:prstGeom prst="rect">
            <a:avLst/>
          </a:prstGeom>
          <a:noFill/>
        </p:spPr>
        <p:txBody>
          <a:bodyPr wrap="square">
            <a:spAutoFit/>
          </a:bodyPr>
          <a:lstStyle/>
          <a:p>
            <a:pPr algn="l"/>
            <a:r>
              <a:rPr sz="1050" b="1" i="0">
                <a:solidFill>
                  <a:srgbClr val="1A5276"/>
                </a:solidFill>
              </a:rPr>
              <a:t>Hardest Cases (Biologically Expected)</a:t>
            </a:r>
          </a:p>
        </p:txBody>
      </p:sp>
      <p:sp>
        <p:nvSpPr>
          <p:cNvPr id="30" name="Rectangle 29"/>
          <p:cNvSpPr/>
          <p:nvPr/>
        </p:nvSpPr>
        <p:spPr>
          <a:xfrm>
            <a:off x="4663440" y="2377440"/>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63440" y="2432304"/>
            <a:ext cx="2286000" cy="219456"/>
          </a:xfrm>
          <a:prstGeom prst="rect">
            <a:avLst/>
          </a:prstGeom>
          <a:noFill/>
        </p:spPr>
        <p:txBody>
          <a:bodyPr wrap="square">
            <a:spAutoFit/>
          </a:bodyPr>
          <a:lstStyle/>
          <a:p>
            <a:pPr algn="l"/>
            <a:r>
              <a:rPr sz="900" b="1" i="0">
                <a:solidFill>
                  <a:srgbClr val="C0392B"/>
                </a:solidFill>
              </a:rPr>
              <a:t>ACC (Adrenocortical Cancer)</a:t>
            </a:r>
          </a:p>
        </p:txBody>
      </p:sp>
      <p:sp>
        <p:nvSpPr>
          <p:cNvPr id="32" name="TextBox 31"/>
          <p:cNvSpPr txBox="1"/>
          <p:nvPr/>
        </p:nvSpPr>
        <p:spPr>
          <a:xfrm>
            <a:off x="6967728" y="2432304"/>
            <a:ext cx="1828800" cy="219456"/>
          </a:xfrm>
          <a:prstGeom prst="rect">
            <a:avLst/>
          </a:prstGeom>
          <a:noFill/>
        </p:spPr>
        <p:txBody>
          <a:bodyPr wrap="square">
            <a:spAutoFit/>
          </a:bodyPr>
          <a:lstStyle/>
          <a:p>
            <a:pPr algn="l"/>
            <a:r>
              <a:rPr sz="850" b="0" i="0">
                <a:solidFill>
                  <a:srgbClr val="2C3E50"/>
                </a:solidFill>
              </a:rPr>
              <a:t>F1 = 0.5455 — rare, limited samples</a:t>
            </a:r>
          </a:p>
        </p:txBody>
      </p:sp>
      <p:sp>
        <p:nvSpPr>
          <p:cNvPr id="33" name="TextBox 32"/>
          <p:cNvSpPr txBox="1"/>
          <p:nvPr/>
        </p:nvSpPr>
        <p:spPr>
          <a:xfrm>
            <a:off x="4663440" y="2706624"/>
            <a:ext cx="2286000" cy="219456"/>
          </a:xfrm>
          <a:prstGeom prst="rect">
            <a:avLst/>
          </a:prstGeom>
          <a:noFill/>
        </p:spPr>
        <p:txBody>
          <a:bodyPr wrap="square">
            <a:spAutoFit/>
          </a:bodyPr>
          <a:lstStyle/>
          <a:p>
            <a:pPr algn="l"/>
            <a:r>
              <a:rPr sz="900" b="1" i="0">
                <a:solidFill>
                  <a:srgbClr val="C0392B"/>
                </a:solidFill>
              </a:rPr>
              <a:t>UVM (Uveal Melanoma)</a:t>
            </a:r>
          </a:p>
        </p:txBody>
      </p:sp>
      <p:sp>
        <p:nvSpPr>
          <p:cNvPr id="34" name="TextBox 33"/>
          <p:cNvSpPr txBox="1"/>
          <p:nvPr/>
        </p:nvSpPr>
        <p:spPr>
          <a:xfrm>
            <a:off x="6967728" y="2706624"/>
            <a:ext cx="1828800" cy="219456"/>
          </a:xfrm>
          <a:prstGeom prst="rect">
            <a:avLst/>
          </a:prstGeom>
          <a:noFill/>
        </p:spPr>
        <p:txBody>
          <a:bodyPr wrap="square">
            <a:spAutoFit/>
          </a:bodyPr>
          <a:lstStyle/>
          <a:p>
            <a:pPr algn="l"/>
            <a:r>
              <a:rPr sz="850" b="0" i="0">
                <a:solidFill>
                  <a:srgbClr val="2C3E50"/>
                </a:solidFill>
              </a:rPr>
              <a:t>F1 = 0.7200 — rare class</a:t>
            </a:r>
          </a:p>
        </p:txBody>
      </p:sp>
      <p:sp>
        <p:nvSpPr>
          <p:cNvPr id="35" name="TextBox 34"/>
          <p:cNvSpPr txBox="1"/>
          <p:nvPr/>
        </p:nvSpPr>
        <p:spPr>
          <a:xfrm>
            <a:off x="4663440" y="2980944"/>
            <a:ext cx="2286000" cy="219456"/>
          </a:xfrm>
          <a:prstGeom prst="rect">
            <a:avLst/>
          </a:prstGeom>
          <a:noFill/>
        </p:spPr>
        <p:txBody>
          <a:bodyPr wrap="square">
            <a:spAutoFit/>
          </a:bodyPr>
          <a:lstStyle/>
          <a:p>
            <a:pPr algn="l"/>
            <a:r>
              <a:rPr sz="900" b="1" i="0">
                <a:solidFill>
                  <a:srgbClr val="C0392B"/>
                </a:solidFill>
              </a:rPr>
              <a:t>ESCA (Esophageal Carcinoma)</a:t>
            </a:r>
          </a:p>
        </p:txBody>
      </p:sp>
      <p:sp>
        <p:nvSpPr>
          <p:cNvPr id="36" name="TextBox 35"/>
          <p:cNvSpPr txBox="1"/>
          <p:nvPr/>
        </p:nvSpPr>
        <p:spPr>
          <a:xfrm>
            <a:off x="6967728" y="2980944"/>
            <a:ext cx="1828800" cy="219456"/>
          </a:xfrm>
          <a:prstGeom prst="rect">
            <a:avLst/>
          </a:prstGeom>
          <a:noFill/>
        </p:spPr>
        <p:txBody>
          <a:bodyPr wrap="square">
            <a:spAutoFit/>
          </a:bodyPr>
          <a:lstStyle/>
          <a:p>
            <a:pPr algn="l"/>
            <a:r>
              <a:rPr sz="850" b="0" i="0">
                <a:solidFill>
                  <a:srgbClr val="2C3E50"/>
                </a:solidFill>
              </a:rPr>
              <a:t>F1 = 0.7692 — tissue proximity confusion</a:t>
            </a:r>
          </a:p>
        </p:txBody>
      </p:sp>
      <p:sp>
        <p:nvSpPr>
          <p:cNvPr id="37" name="TextBox 36"/>
          <p:cNvSpPr txBox="1"/>
          <p:nvPr/>
        </p:nvSpPr>
        <p:spPr>
          <a:xfrm>
            <a:off x="4663440" y="3255263"/>
            <a:ext cx="2286000" cy="219456"/>
          </a:xfrm>
          <a:prstGeom prst="rect">
            <a:avLst/>
          </a:prstGeom>
          <a:noFill/>
        </p:spPr>
        <p:txBody>
          <a:bodyPr wrap="square">
            <a:spAutoFit/>
          </a:bodyPr>
          <a:lstStyle/>
          <a:p>
            <a:pPr algn="l"/>
            <a:r>
              <a:rPr sz="900" b="1" i="0">
                <a:solidFill>
                  <a:srgbClr val="C0392B"/>
                </a:solidFill>
              </a:rPr>
              <a:t>THYM (Thymoma)</a:t>
            </a:r>
          </a:p>
        </p:txBody>
      </p:sp>
      <p:sp>
        <p:nvSpPr>
          <p:cNvPr id="38" name="TextBox 37"/>
          <p:cNvSpPr txBox="1"/>
          <p:nvPr/>
        </p:nvSpPr>
        <p:spPr>
          <a:xfrm>
            <a:off x="6967728" y="3255263"/>
            <a:ext cx="1828800" cy="219456"/>
          </a:xfrm>
          <a:prstGeom prst="rect">
            <a:avLst/>
          </a:prstGeom>
          <a:noFill/>
        </p:spPr>
        <p:txBody>
          <a:bodyPr wrap="square">
            <a:spAutoFit/>
          </a:bodyPr>
          <a:lstStyle/>
          <a:p>
            <a:pPr algn="l"/>
            <a:r>
              <a:rPr sz="850" b="0" i="0">
                <a:solidFill>
                  <a:srgbClr val="2C3E50"/>
                </a:solidFill>
              </a:rPr>
              <a:t>F1 = 0.8571 — small class size</a:t>
            </a:r>
          </a:p>
        </p:txBody>
      </p:sp>
      <p:sp>
        <p:nvSpPr>
          <p:cNvPr id="39" name="TextBox 38"/>
          <p:cNvSpPr txBox="1"/>
          <p:nvPr/>
        </p:nvSpPr>
        <p:spPr>
          <a:xfrm>
            <a:off x="4663440" y="3529583"/>
            <a:ext cx="2286000" cy="219456"/>
          </a:xfrm>
          <a:prstGeom prst="rect">
            <a:avLst/>
          </a:prstGeom>
          <a:noFill/>
        </p:spPr>
        <p:txBody>
          <a:bodyPr wrap="square">
            <a:spAutoFit/>
          </a:bodyPr>
          <a:lstStyle/>
          <a:p>
            <a:pPr algn="l"/>
            <a:r>
              <a:rPr sz="900" b="1" i="0">
                <a:solidFill>
                  <a:srgbClr val="C0392B"/>
                </a:solidFill>
              </a:rPr>
              <a:t>MESO (Mesothelioma)</a:t>
            </a:r>
          </a:p>
        </p:txBody>
      </p:sp>
      <p:sp>
        <p:nvSpPr>
          <p:cNvPr id="40" name="TextBox 39"/>
          <p:cNvSpPr txBox="1"/>
          <p:nvPr/>
        </p:nvSpPr>
        <p:spPr>
          <a:xfrm>
            <a:off x="6967728" y="3529583"/>
            <a:ext cx="1828800" cy="219456"/>
          </a:xfrm>
          <a:prstGeom prst="rect">
            <a:avLst/>
          </a:prstGeom>
          <a:noFill/>
        </p:spPr>
        <p:txBody>
          <a:bodyPr wrap="square">
            <a:spAutoFit/>
          </a:bodyPr>
          <a:lstStyle/>
          <a:p>
            <a:pPr algn="l"/>
            <a:r>
              <a:rPr sz="850" b="0" i="0">
                <a:solidFill>
                  <a:srgbClr val="2C3E50"/>
                </a:solidFill>
              </a:rPr>
              <a:t>F1 = 0.8571 — limited training signal</a:t>
            </a:r>
          </a:p>
        </p:txBody>
      </p:sp>
      <p:sp>
        <p:nvSpPr>
          <p:cNvPr id="41" name="TextBox 40"/>
          <p:cNvSpPr txBox="1"/>
          <p:nvPr/>
        </p:nvSpPr>
        <p:spPr>
          <a:xfrm>
            <a:off x="274320" y="4553712"/>
            <a:ext cx="8595360" cy="201168"/>
          </a:xfrm>
          <a:prstGeom prst="rect">
            <a:avLst/>
          </a:prstGeom>
          <a:noFill/>
        </p:spPr>
        <p:txBody>
          <a:bodyPr wrap="square">
            <a:spAutoFit/>
          </a:bodyPr>
          <a:lstStyle/>
          <a:p>
            <a:r>
              <a:rPr sz="900" b="0" i="1">
                <a:solidFill>
                  <a:srgbClr val="566573"/>
                </a:solidFill>
              </a:rPr>
              <a:t>Misclassifications occur at biological tissue boundaries — where even human pathologists disagree. Not random model errors.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PER-CLASS F1-SCORE ANALYSIS</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16</a:t>
            </a:r>
          </a:p>
        </p:txBody>
      </p:sp>
      <p:pic>
        <p:nvPicPr>
          <p:cNvPr id="7" name="Picture 6" descr="f1_scores_per_class.png"/>
          <p:cNvPicPr>
            <a:picLocks noChangeAspect="1"/>
          </p:cNvPicPr>
          <p:nvPr/>
        </p:nvPicPr>
        <p:blipFill>
          <a:blip r:embed="rId2"/>
          <a:stretch>
            <a:fillRect/>
          </a:stretch>
        </p:blipFill>
        <p:spPr>
          <a:xfrm>
            <a:off x="182880" y="548640"/>
            <a:ext cx="5943600" cy="4160520"/>
          </a:xfrm>
          <a:prstGeom prst="rect">
            <a:avLst/>
          </a:prstGeom>
        </p:spPr>
      </p:pic>
      <p:sp>
        <p:nvSpPr>
          <p:cNvPr id="8" name="TextBox 7"/>
          <p:cNvSpPr txBox="1"/>
          <p:nvPr/>
        </p:nvSpPr>
        <p:spPr>
          <a:xfrm>
            <a:off x="6309360" y="548640"/>
            <a:ext cx="2651760" cy="256032"/>
          </a:xfrm>
          <a:prstGeom prst="rect">
            <a:avLst/>
          </a:prstGeom>
          <a:noFill/>
        </p:spPr>
        <p:txBody>
          <a:bodyPr wrap="square">
            <a:spAutoFit/>
          </a:bodyPr>
          <a:lstStyle/>
          <a:p>
            <a:pPr algn="l"/>
            <a:r>
              <a:rPr sz="1050" b="1" i="0">
                <a:solidFill>
                  <a:srgbClr val="1A5276"/>
                </a:solidFill>
              </a:rPr>
              <a:t>Summary</a:t>
            </a:r>
          </a:p>
        </p:txBody>
      </p:sp>
      <p:sp>
        <p:nvSpPr>
          <p:cNvPr id="9" name="Rectangle 8"/>
          <p:cNvSpPr/>
          <p:nvPr/>
        </p:nvSpPr>
        <p:spPr>
          <a:xfrm>
            <a:off x="6309360" y="804672"/>
            <a:ext cx="26517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859536"/>
            <a:ext cx="1463040" cy="237744"/>
          </a:xfrm>
          <a:prstGeom prst="rect">
            <a:avLst/>
          </a:prstGeom>
          <a:noFill/>
        </p:spPr>
        <p:txBody>
          <a:bodyPr wrap="square">
            <a:spAutoFit/>
          </a:bodyPr>
          <a:lstStyle/>
          <a:p>
            <a:pPr algn="l"/>
            <a:r>
              <a:rPr sz="900" b="1" i="0">
                <a:solidFill>
                  <a:srgbClr val="1A5276"/>
                </a:solidFill>
              </a:rPr>
              <a:t>Macro Avg F1:</a:t>
            </a:r>
          </a:p>
        </p:txBody>
      </p:sp>
      <p:sp>
        <p:nvSpPr>
          <p:cNvPr id="11" name="TextBox 10"/>
          <p:cNvSpPr txBox="1"/>
          <p:nvPr/>
        </p:nvSpPr>
        <p:spPr>
          <a:xfrm>
            <a:off x="7790688" y="859536"/>
            <a:ext cx="1097280" cy="237744"/>
          </a:xfrm>
          <a:prstGeom prst="rect">
            <a:avLst/>
          </a:prstGeom>
          <a:noFill/>
        </p:spPr>
        <p:txBody>
          <a:bodyPr wrap="square">
            <a:spAutoFit/>
          </a:bodyPr>
          <a:lstStyle/>
          <a:p>
            <a:pPr algn="l"/>
            <a:r>
              <a:rPr sz="900" b="1" i="0">
                <a:solidFill>
                  <a:srgbClr val="2C3E50"/>
                </a:solidFill>
              </a:rPr>
              <a:t>0.9250</a:t>
            </a:r>
          </a:p>
        </p:txBody>
      </p:sp>
      <p:sp>
        <p:nvSpPr>
          <p:cNvPr id="12" name="TextBox 11"/>
          <p:cNvSpPr txBox="1"/>
          <p:nvPr/>
        </p:nvSpPr>
        <p:spPr>
          <a:xfrm>
            <a:off x="6309360" y="1152144"/>
            <a:ext cx="1463040" cy="237744"/>
          </a:xfrm>
          <a:prstGeom prst="rect">
            <a:avLst/>
          </a:prstGeom>
          <a:noFill/>
        </p:spPr>
        <p:txBody>
          <a:bodyPr wrap="square">
            <a:spAutoFit/>
          </a:bodyPr>
          <a:lstStyle/>
          <a:p>
            <a:pPr algn="l"/>
            <a:r>
              <a:rPr sz="900" b="1" i="0">
                <a:solidFill>
                  <a:srgbClr val="1A5276"/>
                </a:solidFill>
              </a:rPr>
              <a:t>F1 = 1.0:</a:t>
            </a:r>
          </a:p>
        </p:txBody>
      </p:sp>
      <p:sp>
        <p:nvSpPr>
          <p:cNvPr id="13" name="TextBox 12"/>
          <p:cNvSpPr txBox="1"/>
          <p:nvPr/>
        </p:nvSpPr>
        <p:spPr>
          <a:xfrm>
            <a:off x="7790688" y="1152144"/>
            <a:ext cx="1097280" cy="237744"/>
          </a:xfrm>
          <a:prstGeom prst="rect">
            <a:avLst/>
          </a:prstGeom>
          <a:noFill/>
        </p:spPr>
        <p:txBody>
          <a:bodyPr wrap="square">
            <a:spAutoFit/>
          </a:bodyPr>
          <a:lstStyle/>
          <a:p>
            <a:pPr algn="l"/>
            <a:r>
              <a:rPr sz="900" b="1" i="0">
                <a:solidFill>
                  <a:srgbClr val="2C3E50"/>
                </a:solidFill>
              </a:rPr>
              <a:t>7 cancer types</a:t>
            </a:r>
          </a:p>
        </p:txBody>
      </p:sp>
      <p:sp>
        <p:nvSpPr>
          <p:cNvPr id="14" name="TextBox 13"/>
          <p:cNvSpPr txBox="1"/>
          <p:nvPr/>
        </p:nvSpPr>
        <p:spPr>
          <a:xfrm>
            <a:off x="6309360" y="1444752"/>
            <a:ext cx="1463040" cy="237744"/>
          </a:xfrm>
          <a:prstGeom prst="rect">
            <a:avLst/>
          </a:prstGeom>
          <a:noFill/>
        </p:spPr>
        <p:txBody>
          <a:bodyPr wrap="square">
            <a:spAutoFit/>
          </a:bodyPr>
          <a:lstStyle/>
          <a:p>
            <a:pPr algn="l"/>
            <a:r>
              <a:rPr sz="900" b="1" i="0">
                <a:solidFill>
                  <a:srgbClr val="1A5276"/>
                </a:solidFill>
              </a:rPr>
              <a:t>F1 ≥ 0.95:</a:t>
            </a:r>
          </a:p>
        </p:txBody>
      </p:sp>
      <p:sp>
        <p:nvSpPr>
          <p:cNvPr id="15" name="TextBox 14"/>
          <p:cNvSpPr txBox="1"/>
          <p:nvPr/>
        </p:nvSpPr>
        <p:spPr>
          <a:xfrm>
            <a:off x="7790688" y="1444752"/>
            <a:ext cx="1097280" cy="237744"/>
          </a:xfrm>
          <a:prstGeom prst="rect">
            <a:avLst/>
          </a:prstGeom>
          <a:noFill/>
        </p:spPr>
        <p:txBody>
          <a:bodyPr wrap="square">
            <a:spAutoFit/>
          </a:bodyPr>
          <a:lstStyle/>
          <a:p>
            <a:pPr algn="l"/>
            <a:r>
              <a:rPr sz="900" b="1" i="0">
                <a:solidFill>
                  <a:srgbClr val="2C3E50"/>
                </a:solidFill>
              </a:rPr>
              <a:t>15 cancer types</a:t>
            </a:r>
          </a:p>
        </p:txBody>
      </p:sp>
      <p:sp>
        <p:nvSpPr>
          <p:cNvPr id="16" name="TextBox 15"/>
          <p:cNvSpPr txBox="1"/>
          <p:nvPr/>
        </p:nvSpPr>
        <p:spPr>
          <a:xfrm>
            <a:off x="6309360" y="1737360"/>
            <a:ext cx="1463040" cy="237744"/>
          </a:xfrm>
          <a:prstGeom prst="rect">
            <a:avLst/>
          </a:prstGeom>
          <a:noFill/>
        </p:spPr>
        <p:txBody>
          <a:bodyPr wrap="square">
            <a:spAutoFit/>
          </a:bodyPr>
          <a:lstStyle/>
          <a:p>
            <a:pPr algn="l"/>
            <a:r>
              <a:rPr sz="900" b="1" i="0">
                <a:solidFill>
                  <a:srgbClr val="1A5276"/>
                </a:solidFill>
              </a:rPr>
              <a:t>F1 &lt; 0.80:</a:t>
            </a:r>
          </a:p>
        </p:txBody>
      </p:sp>
      <p:sp>
        <p:nvSpPr>
          <p:cNvPr id="17" name="TextBox 16"/>
          <p:cNvSpPr txBox="1"/>
          <p:nvPr/>
        </p:nvSpPr>
        <p:spPr>
          <a:xfrm>
            <a:off x="7790688" y="1737360"/>
            <a:ext cx="1097280" cy="237744"/>
          </a:xfrm>
          <a:prstGeom prst="rect">
            <a:avLst/>
          </a:prstGeom>
          <a:noFill/>
        </p:spPr>
        <p:txBody>
          <a:bodyPr wrap="square">
            <a:spAutoFit/>
          </a:bodyPr>
          <a:lstStyle/>
          <a:p>
            <a:pPr algn="l"/>
            <a:r>
              <a:rPr sz="900" b="1" i="0">
                <a:solidFill>
                  <a:srgbClr val="2C3E50"/>
                </a:solidFill>
              </a:rPr>
              <a:t>3 cancer types</a:t>
            </a:r>
          </a:p>
        </p:txBody>
      </p:sp>
      <p:sp>
        <p:nvSpPr>
          <p:cNvPr id="18" name="TextBox 17"/>
          <p:cNvSpPr txBox="1"/>
          <p:nvPr/>
        </p:nvSpPr>
        <p:spPr>
          <a:xfrm>
            <a:off x="6309360" y="2011680"/>
            <a:ext cx="2651760" cy="256032"/>
          </a:xfrm>
          <a:prstGeom prst="rect">
            <a:avLst/>
          </a:prstGeom>
          <a:noFill/>
        </p:spPr>
        <p:txBody>
          <a:bodyPr wrap="square">
            <a:spAutoFit/>
          </a:bodyPr>
          <a:lstStyle/>
          <a:p>
            <a:pPr algn="l"/>
            <a:r>
              <a:rPr sz="1050" b="1" i="0">
                <a:solidFill>
                  <a:srgbClr val="1A5276"/>
                </a:solidFill>
              </a:rPr>
              <a:t>Observations</a:t>
            </a:r>
          </a:p>
        </p:txBody>
      </p:sp>
      <p:sp>
        <p:nvSpPr>
          <p:cNvPr id="19" name="Rectangle 18"/>
          <p:cNvSpPr/>
          <p:nvPr/>
        </p:nvSpPr>
        <p:spPr>
          <a:xfrm>
            <a:off x="6309360" y="2267712"/>
            <a:ext cx="26517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2322576"/>
            <a:ext cx="2651760" cy="274320"/>
          </a:xfrm>
          <a:prstGeom prst="rect">
            <a:avLst/>
          </a:prstGeom>
          <a:noFill/>
        </p:spPr>
        <p:txBody>
          <a:bodyPr wrap="square">
            <a:spAutoFit/>
          </a:bodyPr>
          <a:lstStyle/>
          <a:p>
            <a:pPr algn="l"/>
            <a:r>
              <a:rPr sz="850" b="0" i="0">
                <a:solidFill>
                  <a:srgbClr val="2C3E50"/>
                </a:solidFill>
              </a:rPr>
              <a:t>●  7 types achieve perfect F1 = 1.0</a:t>
            </a:r>
          </a:p>
        </p:txBody>
      </p:sp>
      <p:sp>
        <p:nvSpPr>
          <p:cNvPr id="21" name="TextBox 20"/>
          <p:cNvSpPr txBox="1"/>
          <p:nvPr/>
        </p:nvSpPr>
        <p:spPr>
          <a:xfrm>
            <a:off x="6309360" y="2670048"/>
            <a:ext cx="2651760" cy="274320"/>
          </a:xfrm>
          <a:prstGeom prst="rect">
            <a:avLst/>
          </a:prstGeom>
          <a:noFill/>
        </p:spPr>
        <p:txBody>
          <a:bodyPr wrap="square">
            <a:spAutoFit/>
          </a:bodyPr>
          <a:lstStyle/>
          <a:p>
            <a:pPr algn="l"/>
            <a:r>
              <a:rPr sz="850" b="0" i="0">
                <a:solidFill>
                  <a:srgbClr val="2C3E50"/>
                </a:solidFill>
              </a:rPr>
              <a:t>●  Rare classes (ACC, UVM) score lowest — limited training signal, not model failure</a:t>
            </a:r>
          </a:p>
        </p:txBody>
      </p:sp>
      <p:sp>
        <p:nvSpPr>
          <p:cNvPr id="22" name="TextBox 21"/>
          <p:cNvSpPr txBox="1"/>
          <p:nvPr/>
        </p:nvSpPr>
        <p:spPr>
          <a:xfrm>
            <a:off x="6309360" y="3017520"/>
            <a:ext cx="2651760" cy="274320"/>
          </a:xfrm>
          <a:prstGeom prst="rect">
            <a:avLst/>
          </a:prstGeom>
          <a:noFill/>
        </p:spPr>
        <p:txBody>
          <a:bodyPr wrap="square">
            <a:spAutoFit/>
          </a:bodyPr>
          <a:lstStyle/>
          <a:p>
            <a:pPr algn="l"/>
            <a:r>
              <a:rPr sz="850" b="0" i="0">
                <a:solidFill>
                  <a:srgbClr val="2C3E50"/>
                </a:solidFill>
              </a:rPr>
              <a:t>●  CRC (merged COAD+READ) = 0.9924 — merge decision validated</a:t>
            </a:r>
          </a:p>
        </p:txBody>
      </p:sp>
      <p:sp>
        <p:nvSpPr>
          <p:cNvPr id="23" name="TextBox 22"/>
          <p:cNvSpPr txBox="1"/>
          <p:nvPr/>
        </p:nvSpPr>
        <p:spPr>
          <a:xfrm>
            <a:off x="6309360" y="3364991"/>
            <a:ext cx="2651760" cy="274320"/>
          </a:xfrm>
          <a:prstGeom prst="rect">
            <a:avLst/>
          </a:prstGeom>
          <a:noFill/>
        </p:spPr>
        <p:txBody>
          <a:bodyPr wrap="square">
            <a:spAutoFit/>
          </a:bodyPr>
          <a:lstStyle/>
          <a:p>
            <a:pPr algn="l"/>
            <a:r>
              <a:rPr sz="850" b="0" i="0">
                <a:solidFill>
                  <a:srgbClr val="2C3E50"/>
                </a:solidFill>
              </a:rPr>
              <a:t>●  Overall Macro F1 of 0.9250 is strong for 32-class problem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CONFUSION MATRIX — 32 × 32 TEST SET</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17</a:t>
            </a:r>
          </a:p>
        </p:txBody>
      </p:sp>
      <p:pic>
        <p:nvPicPr>
          <p:cNvPr id="7" name="Picture 6" descr="confusion_matrix_final_merged.png"/>
          <p:cNvPicPr>
            <a:picLocks noChangeAspect="1"/>
          </p:cNvPicPr>
          <p:nvPr/>
        </p:nvPicPr>
        <p:blipFill>
          <a:blip r:embed="rId2"/>
          <a:stretch>
            <a:fillRect/>
          </a:stretch>
        </p:blipFill>
        <p:spPr>
          <a:xfrm>
            <a:off x="182880" y="530352"/>
            <a:ext cx="5852160" cy="4187952"/>
          </a:xfrm>
          <a:prstGeom prst="rect">
            <a:avLst/>
          </a:prstGeom>
        </p:spPr>
      </p:pic>
      <p:sp>
        <p:nvSpPr>
          <p:cNvPr id="8" name="TextBox 7"/>
          <p:cNvSpPr txBox="1"/>
          <p:nvPr/>
        </p:nvSpPr>
        <p:spPr>
          <a:xfrm>
            <a:off x="6217920" y="548640"/>
            <a:ext cx="2651760" cy="256032"/>
          </a:xfrm>
          <a:prstGeom prst="rect">
            <a:avLst/>
          </a:prstGeom>
          <a:noFill/>
        </p:spPr>
        <p:txBody>
          <a:bodyPr wrap="square">
            <a:spAutoFit/>
          </a:bodyPr>
          <a:lstStyle/>
          <a:p>
            <a:pPr algn="l"/>
            <a:r>
              <a:rPr sz="1050" b="1" i="0">
                <a:solidFill>
                  <a:srgbClr val="1A5276"/>
                </a:solidFill>
              </a:rPr>
              <a:t>Key Observations</a:t>
            </a:r>
          </a:p>
        </p:txBody>
      </p:sp>
      <p:sp>
        <p:nvSpPr>
          <p:cNvPr id="9" name="Rectangle 8"/>
          <p:cNvSpPr/>
          <p:nvPr/>
        </p:nvSpPr>
        <p:spPr>
          <a:xfrm>
            <a:off x="6217920" y="804672"/>
            <a:ext cx="26517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859536"/>
            <a:ext cx="2651760" cy="219456"/>
          </a:xfrm>
          <a:prstGeom prst="rect">
            <a:avLst/>
          </a:prstGeom>
          <a:noFill/>
        </p:spPr>
        <p:txBody>
          <a:bodyPr wrap="square">
            <a:spAutoFit/>
          </a:bodyPr>
          <a:lstStyle/>
          <a:p>
            <a:pPr algn="l"/>
            <a:r>
              <a:rPr sz="900" b="1" i="0">
                <a:solidFill>
                  <a:srgbClr val="1A5276"/>
                </a:solidFill>
              </a:rPr>
              <a:t>Strong Diagonal:</a:t>
            </a:r>
          </a:p>
        </p:txBody>
      </p:sp>
      <p:sp>
        <p:nvSpPr>
          <p:cNvPr id="11" name="TextBox 10"/>
          <p:cNvSpPr txBox="1"/>
          <p:nvPr/>
        </p:nvSpPr>
        <p:spPr>
          <a:xfrm>
            <a:off x="6217920" y="1060704"/>
            <a:ext cx="2651760" cy="329184"/>
          </a:xfrm>
          <a:prstGeom prst="rect">
            <a:avLst/>
          </a:prstGeom>
          <a:noFill/>
        </p:spPr>
        <p:txBody>
          <a:bodyPr wrap="square">
            <a:spAutoFit/>
          </a:bodyPr>
          <a:lstStyle/>
          <a:p>
            <a:pPr algn="l"/>
            <a:r>
              <a:rPr sz="850" b="0" i="0">
                <a:solidFill>
                  <a:srgbClr val="2C3E50"/>
                </a:solidFill>
              </a:rPr>
              <a:t>Most samples correctly classified. Dark cells run top-left to bottom-right across all 32 types.</a:t>
            </a:r>
          </a:p>
        </p:txBody>
      </p:sp>
      <p:sp>
        <p:nvSpPr>
          <p:cNvPr id="12" name="TextBox 11"/>
          <p:cNvSpPr txBox="1"/>
          <p:nvPr/>
        </p:nvSpPr>
        <p:spPr>
          <a:xfrm>
            <a:off x="6217920" y="1499616"/>
            <a:ext cx="2651760" cy="219456"/>
          </a:xfrm>
          <a:prstGeom prst="rect">
            <a:avLst/>
          </a:prstGeom>
          <a:noFill/>
        </p:spPr>
        <p:txBody>
          <a:bodyPr wrap="square">
            <a:spAutoFit/>
          </a:bodyPr>
          <a:lstStyle/>
          <a:p>
            <a:pPr algn="l"/>
            <a:r>
              <a:rPr sz="900" b="1" i="0">
                <a:solidFill>
                  <a:srgbClr val="1A5276"/>
                </a:solidFill>
              </a:rPr>
              <a:t>CRC (COAD+READ):</a:t>
            </a:r>
          </a:p>
        </p:txBody>
      </p:sp>
      <p:sp>
        <p:nvSpPr>
          <p:cNvPr id="13" name="TextBox 12"/>
          <p:cNvSpPr txBox="1"/>
          <p:nvPr/>
        </p:nvSpPr>
        <p:spPr>
          <a:xfrm>
            <a:off x="6217920" y="1700784"/>
            <a:ext cx="2651760" cy="329184"/>
          </a:xfrm>
          <a:prstGeom prst="rect">
            <a:avLst/>
          </a:prstGeom>
          <a:noFill/>
        </p:spPr>
        <p:txBody>
          <a:bodyPr wrap="square">
            <a:spAutoFit/>
          </a:bodyPr>
          <a:lstStyle/>
          <a:p>
            <a:pPr algn="l"/>
            <a:r>
              <a:rPr sz="850" b="0" i="0">
                <a:solidFill>
                  <a:srgbClr val="2C3E50"/>
                </a:solidFill>
              </a:rPr>
              <a:t>Very dark diagonal cell — F1=0.9924. READ/COAD merge was the right call.</a:t>
            </a:r>
          </a:p>
        </p:txBody>
      </p:sp>
      <p:sp>
        <p:nvSpPr>
          <p:cNvPr id="14" name="TextBox 13"/>
          <p:cNvSpPr txBox="1"/>
          <p:nvPr/>
        </p:nvSpPr>
        <p:spPr>
          <a:xfrm>
            <a:off x="6217920" y="2139696"/>
            <a:ext cx="2651760" cy="219456"/>
          </a:xfrm>
          <a:prstGeom prst="rect">
            <a:avLst/>
          </a:prstGeom>
          <a:noFill/>
        </p:spPr>
        <p:txBody>
          <a:bodyPr wrap="square">
            <a:spAutoFit/>
          </a:bodyPr>
          <a:lstStyle/>
          <a:p>
            <a:pPr algn="l"/>
            <a:r>
              <a:rPr sz="900" b="1" i="0">
                <a:solidFill>
                  <a:srgbClr val="1A5276"/>
                </a:solidFill>
              </a:rPr>
              <a:t>KIRC (Kidney):</a:t>
            </a:r>
          </a:p>
        </p:txBody>
      </p:sp>
      <p:sp>
        <p:nvSpPr>
          <p:cNvPr id="15" name="TextBox 14"/>
          <p:cNvSpPr txBox="1"/>
          <p:nvPr/>
        </p:nvSpPr>
        <p:spPr>
          <a:xfrm>
            <a:off x="6217920" y="2340864"/>
            <a:ext cx="2651760" cy="329184"/>
          </a:xfrm>
          <a:prstGeom prst="rect">
            <a:avLst/>
          </a:prstGeom>
          <a:noFill/>
        </p:spPr>
        <p:txBody>
          <a:bodyPr wrap="square">
            <a:spAutoFit/>
          </a:bodyPr>
          <a:lstStyle/>
          <a:p>
            <a:pPr algn="l"/>
            <a:r>
              <a:rPr sz="850" b="0" i="0">
                <a:solidFill>
                  <a:srgbClr val="2C3E50"/>
                </a:solidFill>
              </a:rPr>
              <a:t>Strongest predictor. Kidney Clear Cell has the most distinct gene signature in the dataset.</a:t>
            </a:r>
          </a:p>
        </p:txBody>
      </p:sp>
      <p:sp>
        <p:nvSpPr>
          <p:cNvPr id="16" name="TextBox 15"/>
          <p:cNvSpPr txBox="1"/>
          <p:nvPr/>
        </p:nvSpPr>
        <p:spPr>
          <a:xfrm>
            <a:off x="6217920" y="2779776"/>
            <a:ext cx="2651760" cy="219456"/>
          </a:xfrm>
          <a:prstGeom prst="rect">
            <a:avLst/>
          </a:prstGeom>
          <a:noFill/>
        </p:spPr>
        <p:txBody>
          <a:bodyPr wrap="square">
            <a:spAutoFit/>
          </a:bodyPr>
          <a:lstStyle/>
          <a:p>
            <a:pPr algn="l"/>
            <a:r>
              <a:rPr sz="900" b="1" i="0">
                <a:solidFill>
                  <a:srgbClr val="1A5276"/>
                </a:solidFill>
              </a:rPr>
              <a:t>ACC (Adrenocortical):</a:t>
            </a:r>
          </a:p>
        </p:txBody>
      </p:sp>
      <p:sp>
        <p:nvSpPr>
          <p:cNvPr id="17" name="TextBox 16"/>
          <p:cNvSpPr txBox="1"/>
          <p:nvPr/>
        </p:nvSpPr>
        <p:spPr>
          <a:xfrm>
            <a:off x="6217920" y="2980944"/>
            <a:ext cx="2651760" cy="329184"/>
          </a:xfrm>
          <a:prstGeom prst="rect">
            <a:avLst/>
          </a:prstGeom>
          <a:noFill/>
        </p:spPr>
        <p:txBody>
          <a:bodyPr wrap="square">
            <a:spAutoFit/>
          </a:bodyPr>
          <a:lstStyle/>
          <a:p>
            <a:pPr algn="l"/>
            <a:r>
              <a:rPr sz="850" b="0" i="0">
                <a:solidFill>
                  <a:srgbClr val="2C3E50"/>
                </a:solidFill>
              </a:rPr>
              <a:t>Some spread visible — rarest class, limited training signal.</a:t>
            </a:r>
          </a:p>
        </p:txBody>
      </p:sp>
      <p:sp>
        <p:nvSpPr>
          <p:cNvPr id="18" name="TextBox 17"/>
          <p:cNvSpPr txBox="1"/>
          <p:nvPr/>
        </p:nvSpPr>
        <p:spPr>
          <a:xfrm>
            <a:off x="6217920" y="3419856"/>
            <a:ext cx="2651760" cy="219456"/>
          </a:xfrm>
          <a:prstGeom prst="rect">
            <a:avLst/>
          </a:prstGeom>
          <a:noFill/>
        </p:spPr>
        <p:txBody>
          <a:bodyPr wrap="square">
            <a:spAutoFit/>
          </a:bodyPr>
          <a:lstStyle/>
          <a:p>
            <a:pPr algn="l"/>
            <a:r>
              <a:rPr sz="900" b="1" i="0">
                <a:solidFill>
                  <a:srgbClr val="1A5276"/>
                </a:solidFill>
              </a:rPr>
              <a:t>Biological coherence:</a:t>
            </a:r>
          </a:p>
        </p:txBody>
      </p:sp>
      <p:sp>
        <p:nvSpPr>
          <p:cNvPr id="19" name="TextBox 18"/>
          <p:cNvSpPr txBox="1"/>
          <p:nvPr/>
        </p:nvSpPr>
        <p:spPr>
          <a:xfrm>
            <a:off x="6217920" y="3621024"/>
            <a:ext cx="2651760" cy="329184"/>
          </a:xfrm>
          <a:prstGeom prst="rect">
            <a:avLst/>
          </a:prstGeom>
          <a:noFill/>
        </p:spPr>
        <p:txBody>
          <a:bodyPr wrap="square">
            <a:spAutoFit/>
          </a:bodyPr>
          <a:lstStyle/>
          <a:p>
            <a:pPr algn="l"/>
            <a:r>
              <a:rPr sz="850" b="0" i="0">
                <a:solidFill>
                  <a:srgbClr val="2C3E50"/>
                </a:solidFill>
              </a:rPr>
              <a:t>All confusions happen at tissue boundaries — lung subtypes, kidney subtypes. Not random errors.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ROC-AUC CURVES — ALL 32 CANCER TYPES</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18</a:t>
            </a:r>
          </a:p>
        </p:txBody>
      </p:sp>
      <p:pic>
        <p:nvPicPr>
          <p:cNvPr id="7" name="Picture 6" descr="roc_curves.png"/>
          <p:cNvPicPr>
            <a:picLocks noChangeAspect="1"/>
          </p:cNvPicPr>
          <p:nvPr/>
        </p:nvPicPr>
        <p:blipFill>
          <a:blip r:embed="rId2"/>
          <a:stretch>
            <a:fillRect/>
          </a:stretch>
        </p:blipFill>
        <p:spPr>
          <a:xfrm>
            <a:off x="137160" y="548640"/>
            <a:ext cx="8869680" cy="3566160"/>
          </a:xfrm>
          <a:prstGeom prst="rect">
            <a:avLst/>
          </a:prstGeom>
        </p:spPr>
      </p:pic>
      <p:sp>
        <p:nvSpPr>
          <p:cNvPr id="8" name="TextBox 7"/>
          <p:cNvSpPr txBox="1"/>
          <p:nvPr/>
        </p:nvSpPr>
        <p:spPr>
          <a:xfrm>
            <a:off x="274320" y="4187952"/>
            <a:ext cx="8595360" cy="256032"/>
          </a:xfrm>
          <a:prstGeom prst="rect">
            <a:avLst/>
          </a:prstGeom>
          <a:noFill/>
        </p:spPr>
        <p:txBody>
          <a:bodyPr wrap="square">
            <a:spAutoFit/>
          </a:bodyPr>
          <a:lstStyle/>
          <a:p>
            <a:pPr algn="l"/>
            <a:r>
              <a:rPr sz="1050" b="1" i="0">
                <a:solidFill>
                  <a:srgbClr val="1A5276"/>
                </a:solidFill>
              </a:rPr>
              <a:t>Key Numbers</a:t>
            </a:r>
          </a:p>
        </p:txBody>
      </p:sp>
      <p:sp>
        <p:nvSpPr>
          <p:cNvPr id="9" name="Rectangle 8"/>
          <p:cNvSpPr/>
          <p:nvPr/>
        </p:nvSpPr>
        <p:spPr>
          <a:xfrm>
            <a:off x="274320" y="4443984"/>
            <a:ext cx="85953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4320" y="4498848"/>
            <a:ext cx="1188720" cy="201168"/>
          </a:xfrm>
          <a:prstGeom prst="rect">
            <a:avLst/>
          </a:prstGeom>
          <a:noFill/>
        </p:spPr>
        <p:txBody>
          <a:bodyPr wrap="square">
            <a:spAutoFit/>
          </a:bodyPr>
          <a:lstStyle/>
          <a:p>
            <a:pPr algn="l"/>
            <a:r>
              <a:rPr sz="850" b="1" i="0">
                <a:solidFill>
                  <a:srgbClr val="1A5276"/>
                </a:solidFill>
              </a:rPr>
              <a:t>Mean AUC:</a:t>
            </a:r>
          </a:p>
        </p:txBody>
      </p:sp>
      <p:sp>
        <p:nvSpPr>
          <p:cNvPr id="11" name="TextBox 10"/>
          <p:cNvSpPr txBox="1"/>
          <p:nvPr/>
        </p:nvSpPr>
        <p:spPr>
          <a:xfrm>
            <a:off x="1481328" y="4498848"/>
            <a:ext cx="1645920" cy="201168"/>
          </a:xfrm>
          <a:prstGeom prst="rect">
            <a:avLst/>
          </a:prstGeom>
          <a:noFill/>
        </p:spPr>
        <p:txBody>
          <a:bodyPr wrap="square">
            <a:spAutoFit/>
          </a:bodyPr>
          <a:lstStyle/>
          <a:p>
            <a:pPr algn="l"/>
            <a:r>
              <a:rPr sz="850" b="0" i="0">
                <a:solidFill>
                  <a:srgbClr val="2C3E50"/>
                </a:solidFill>
              </a:rPr>
              <a:t>0.9960</a:t>
            </a:r>
          </a:p>
        </p:txBody>
      </p:sp>
      <p:sp>
        <p:nvSpPr>
          <p:cNvPr id="12" name="TextBox 11"/>
          <p:cNvSpPr txBox="1"/>
          <p:nvPr/>
        </p:nvSpPr>
        <p:spPr>
          <a:xfrm>
            <a:off x="3200400" y="4498848"/>
            <a:ext cx="1188720" cy="201168"/>
          </a:xfrm>
          <a:prstGeom prst="rect">
            <a:avLst/>
          </a:prstGeom>
          <a:noFill/>
        </p:spPr>
        <p:txBody>
          <a:bodyPr wrap="square">
            <a:spAutoFit/>
          </a:bodyPr>
          <a:lstStyle/>
          <a:p>
            <a:pPr algn="l"/>
            <a:r>
              <a:rPr sz="850" b="1" i="0">
                <a:solidFill>
                  <a:srgbClr val="1A5276"/>
                </a:solidFill>
              </a:rPr>
              <a:t>Classes at AUC=1.0:</a:t>
            </a:r>
          </a:p>
        </p:txBody>
      </p:sp>
      <p:sp>
        <p:nvSpPr>
          <p:cNvPr id="13" name="TextBox 12"/>
          <p:cNvSpPr txBox="1"/>
          <p:nvPr/>
        </p:nvSpPr>
        <p:spPr>
          <a:xfrm>
            <a:off x="4407408" y="4498848"/>
            <a:ext cx="1645920" cy="201168"/>
          </a:xfrm>
          <a:prstGeom prst="rect">
            <a:avLst/>
          </a:prstGeom>
          <a:noFill/>
        </p:spPr>
        <p:txBody>
          <a:bodyPr wrap="square">
            <a:spAutoFit/>
          </a:bodyPr>
          <a:lstStyle/>
          <a:p>
            <a:pPr algn="l"/>
            <a:r>
              <a:rPr sz="850" b="0" i="0">
                <a:solidFill>
                  <a:srgbClr val="2C3E50"/>
                </a:solidFill>
              </a:rPr>
              <a:t>THCA, PRAD, PCPG, LAML, UVM, ACC, STAD, CHOL</a:t>
            </a:r>
          </a:p>
        </p:txBody>
      </p:sp>
      <p:sp>
        <p:nvSpPr>
          <p:cNvPr id="14" name="TextBox 13"/>
          <p:cNvSpPr txBox="1"/>
          <p:nvPr/>
        </p:nvSpPr>
        <p:spPr>
          <a:xfrm>
            <a:off x="6126480" y="4498848"/>
            <a:ext cx="1188720" cy="201168"/>
          </a:xfrm>
          <a:prstGeom prst="rect">
            <a:avLst/>
          </a:prstGeom>
          <a:noFill/>
        </p:spPr>
        <p:txBody>
          <a:bodyPr wrap="square">
            <a:spAutoFit/>
          </a:bodyPr>
          <a:lstStyle/>
          <a:p>
            <a:pPr algn="l"/>
            <a:r>
              <a:rPr sz="850" b="1" i="0">
                <a:solidFill>
                  <a:srgbClr val="1A5276"/>
                </a:solidFill>
              </a:rPr>
              <a:t>Lowest AUC:</a:t>
            </a:r>
          </a:p>
        </p:txBody>
      </p:sp>
      <p:sp>
        <p:nvSpPr>
          <p:cNvPr id="15" name="TextBox 14"/>
          <p:cNvSpPr txBox="1"/>
          <p:nvPr/>
        </p:nvSpPr>
        <p:spPr>
          <a:xfrm>
            <a:off x="7333488" y="4498848"/>
            <a:ext cx="1645920" cy="201168"/>
          </a:xfrm>
          <a:prstGeom prst="rect">
            <a:avLst/>
          </a:prstGeom>
          <a:noFill/>
        </p:spPr>
        <p:txBody>
          <a:bodyPr wrap="square">
            <a:spAutoFit/>
          </a:bodyPr>
          <a:lstStyle/>
          <a:p>
            <a:pPr algn="l"/>
            <a:r>
              <a:rPr sz="850" b="0" i="0">
                <a:solidFill>
                  <a:srgbClr val="2C3E50"/>
                </a:solidFill>
              </a:rPr>
              <a:t>MESO — 0.9655 (still excellent)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COMPARISON WITH MOSTAVI ET AL. (2020)</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19</a:t>
            </a:r>
          </a:p>
        </p:txBody>
      </p:sp>
      <p:sp>
        <p:nvSpPr>
          <p:cNvPr id="7" name="TextBox 6"/>
          <p:cNvSpPr txBox="1"/>
          <p:nvPr/>
        </p:nvSpPr>
        <p:spPr>
          <a:xfrm>
            <a:off x="274320" y="548640"/>
            <a:ext cx="8595360" cy="256032"/>
          </a:xfrm>
          <a:prstGeom prst="rect">
            <a:avLst/>
          </a:prstGeom>
          <a:noFill/>
        </p:spPr>
        <p:txBody>
          <a:bodyPr wrap="square">
            <a:spAutoFit/>
          </a:bodyPr>
          <a:lstStyle/>
          <a:p>
            <a:pPr algn="l"/>
            <a:r>
              <a:rPr sz="1050" b="1" i="0">
                <a:solidFill>
                  <a:srgbClr val="1A5276"/>
                </a:solidFill>
              </a:rPr>
              <a:t>Head-to-head on the same TCGA dataset — same evaluation protocol</a:t>
            </a:r>
          </a:p>
        </p:txBody>
      </p:sp>
      <p:sp>
        <p:nvSpPr>
          <p:cNvPr id="8" name="Rectangle 7"/>
          <p:cNvSpPr/>
          <p:nvPr/>
        </p:nvSpPr>
        <p:spPr>
          <a:xfrm>
            <a:off x="274320" y="804672"/>
            <a:ext cx="859536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896112"/>
            <a:ext cx="2011680" cy="237744"/>
          </a:xfrm>
          <a:prstGeom prst="rect">
            <a:avLst/>
          </a:prstGeom>
          <a:noFill/>
        </p:spPr>
        <p:txBody>
          <a:bodyPr wrap="square">
            <a:spAutoFit/>
          </a:bodyPr>
          <a:lstStyle/>
          <a:p>
            <a:pPr algn="l"/>
            <a:r>
              <a:rPr sz="900" b="1" i="0">
                <a:solidFill>
                  <a:srgbClr val="1A5276"/>
                </a:solidFill>
              </a:rPr>
              <a:t>Metric</a:t>
            </a:r>
          </a:p>
        </p:txBody>
      </p:sp>
      <p:sp>
        <p:nvSpPr>
          <p:cNvPr id="10" name="TextBox 9"/>
          <p:cNvSpPr txBox="1"/>
          <p:nvPr/>
        </p:nvSpPr>
        <p:spPr>
          <a:xfrm>
            <a:off x="2377440" y="896112"/>
            <a:ext cx="2286000" cy="237744"/>
          </a:xfrm>
          <a:prstGeom prst="rect">
            <a:avLst/>
          </a:prstGeom>
          <a:noFill/>
        </p:spPr>
        <p:txBody>
          <a:bodyPr wrap="square">
            <a:spAutoFit/>
          </a:bodyPr>
          <a:lstStyle/>
          <a:p>
            <a:pPr algn="l"/>
            <a:r>
              <a:rPr sz="900" b="1" i="0">
                <a:solidFill>
                  <a:srgbClr val="1A5276"/>
                </a:solidFill>
              </a:rPr>
              <a:t>Mostavi (2020)</a:t>
            </a:r>
          </a:p>
        </p:txBody>
      </p:sp>
      <p:sp>
        <p:nvSpPr>
          <p:cNvPr id="11" name="TextBox 10"/>
          <p:cNvSpPr txBox="1"/>
          <p:nvPr/>
        </p:nvSpPr>
        <p:spPr>
          <a:xfrm>
            <a:off x="4754880" y="896112"/>
            <a:ext cx="2011680" cy="237744"/>
          </a:xfrm>
          <a:prstGeom prst="rect">
            <a:avLst/>
          </a:prstGeom>
          <a:noFill/>
        </p:spPr>
        <p:txBody>
          <a:bodyPr wrap="square">
            <a:spAutoFit/>
          </a:bodyPr>
          <a:lstStyle/>
          <a:p>
            <a:pPr algn="l"/>
            <a:r>
              <a:rPr sz="900" b="1" i="0">
                <a:solidFill>
                  <a:srgbClr val="1A5276"/>
                </a:solidFill>
              </a:rPr>
              <a:t>Our Final Result</a:t>
            </a:r>
          </a:p>
        </p:txBody>
      </p:sp>
      <p:sp>
        <p:nvSpPr>
          <p:cNvPr id="12" name="TextBox 11"/>
          <p:cNvSpPr txBox="1"/>
          <p:nvPr/>
        </p:nvSpPr>
        <p:spPr>
          <a:xfrm>
            <a:off x="6858000" y="896112"/>
            <a:ext cx="2011680" cy="237744"/>
          </a:xfrm>
          <a:prstGeom prst="rect">
            <a:avLst/>
          </a:prstGeom>
          <a:noFill/>
        </p:spPr>
        <p:txBody>
          <a:bodyPr wrap="square">
            <a:spAutoFit/>
          </a:bodyPr>
          <a:lstStyle/>
          <a:p>
            <a:pPr algn="l"/>
            <a:r>
              <a:rPr sz="900" b="1" i="0">
                <a:solidFill>
                  <a:srgbClr val="1A5276"/>
                </a:solidFill>
              </a:rPr>
              <a:t>Gap / Advantage</a:t>
            </a:r>
          </a:p>
        </p:txBody>
      </p:sp>
      <p:sp>
        <p:nvSpPr>
          <p:cNvPr id="13" name="Rectangle 12"/>
          <p:cNvSpPr/>
          <p:nvPr/>
        </p:nvSpPr>
        <p:spPr>
          <a:xfrm>
            <a:off x="274320" y="1170432"/>
            <a:ext cx="8595360" cy="237744"/>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1170432"/>
            <a:ext cx="2011680" cy="237744"/>
          </a:xfrm>
          <a:prstGeom prst="rect">
            <a:avLst/>
          </a:prstGeom>
          <a:noFill/>
        </p:spPr>
        <p:txBody>
          <a:bodyPr wrap="square">
            <a:spAutoFit/>
          </a:bodyPr>
          <a:lstStyle/>
          <a:p>
            <a:pPr algn="l"/>
            <a:r>
              <a:rPr sz="850" b="0" i="0">
                <a:solidFill>
                  <a:srgbClr val="2C3E50"/>
                </a:solidFill>
              </a:rPr>
              <a:t>Accuracy</a:t>
            </a:r>
          </a:p>
        </p:txBody>
      </p:sp>
      <p:sp>
        <p:nvSpPr>
          <p:cNvPr id="15" name="TextBox 14"/>
          <p:cNvSpPr txBox="1"/>
          <p:nvPr/>
        </p:nvSpPr>
        <p:spPr>
          <a:xfrm>
            <a:off x="2377440" y="1170432"/>
            <a:ext cx="2286000" cy="237744"/>
          </a:xfrm>
          <a:prstGeom prst="rect">
            <a:avLst/>
          </a:prstGeom>
          <a:noFill/>
        </p:spPr>
        <p:txBody>
          <a:bodyPr wrap="square">
            <a:spAutoFit/>
          </a:bodyPr>
          <a:lstStyle/>
          <a:p>
            <a:pPr algn="l"/>
            <a:r>
              <a:rPr sz="850" b="0" i="0">
                <a:solidFill>
                  <a:srgbClr val="2C3E50"/>
                </a:solidFill>
              </a:rPr>
              <a:t>~95.0%</a:t>
            </a:r>
          </a:p>
        </p:txBody>
      </p:sp>
      <p:sp>
        <p:nvSpPr>
          <p:cNvPr id="16" name="TextBox 15"/>
          <p:cNvSpPr txBox="1"/>
          <p:nvPr/>
        </p:nvSpPr>
        <p:spPr>
          <a:xfrm>
            <a:off x="4754880" y="1170432"/>
            <a:ext cx="2011680" cy="237744"/>
          </a:xfrm>
          <a:prstGeom prst="rect">
            <a:avLst/>
          </a:prstGeom>
          <a:noFill/>
        </p:spPr>
        <p:txBody>
          <a:bodyPr wrap="square">
            <a:spAutoFit/>
          </a:bodyPr>
          <a:lstStyle/>
          <a:p>
            <a:pPr algn="l"/>
            <a:r>
              <a:rPr sz="850" b="0" i="0">
                <a:solidFill>
                  <a:srgbClr val="2C3E50"/>
                </a:solidFill>
              </a:rPr>
              <a:t>94.33%</a:t>
            </a:r>
          </a:p>
        </p:txBody>
      </p:sp>
      <p:sp>
        <p:nvSpPr>
          <p:cNvPr id="17" name="TextBox 16"/>
          <p:cNvSpPr txBox="1"/>
          <p:nvPr/>
        </p:nvSpPr>
        <p:spPr>
          <a:xfrm>
            <a:off x="6858000" y="1170432"/>
            <a:ext cx="2011680" cy="237744"/>
          </a:xfrm>
          <a:prstGeom prst="rect">
            <a:avLst/>
          </a:prstGeom>
          <a:noFill/>
        </p:spPr>
        <p:txBody>
          <a:bodyPr wrap="square">
            <a:spAutoFit/>
          </a:bodyPr>
          <a:lstStyle/>
          <a:p>
            <a:pPr algn="l"/>
            <a:r>
              <a:rPr sz="850" b="0" i="0">
                <a:solidFill>
                  <a:srgbClr val="2C3E50"/>
                </a:solidFill>
              </a:rPr>
              <a:t>≈95% — we match</a:t>
            </a:r>
          </a:p>
        </p:txBody>
      </p:sp>
      <p:sp>
        <p:nvSpPr>
          <p:cNvPr id="18" name="Rectangle 17"/>
          <p:cNvSpPr/>
          <p:nvPr/>
        </p:nvSpPr>
        <p:spPr>
          <a:xfrm>
            <a:off x="274320" y="1426464"/>
            <a:ext cx="859536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 y="1426464"/>
            <a:ext cx="2011680" cy="237744"/>
          </a:xfrm>
          <a:prstGeom prst="rect">
            <a:avLst/>
          </a:prstGeom>
          <a:noFill/>
        </p:spPr>
        <p:txBody>
          <a:bodyPr wrap="square">
            <a:spAutoFit/>
          </a:bodyPr>
          <a:lstStyle/>
          <a:p>
            <a:pPr algn="l"/>
            <a:r>
              <a:rPr sz="850" b="0" i="0">
                <a:solidFill>
                  <a:srgbClr val="2C3E50"/>
                </a:solidFill>
              </a:rPr>
              <a:t>Macro F1</a:t>
            </a:r>
          </a:p>
        </p:txBody>
      </p:sp>
      <p:sp>
        <p:nvSpPr>
          <p:cNvPr id="20" name="TextBox 19"/>
          <p:cNvSpPr txBox="1"/>
          <p:nvPr/>
        </p:nvSpPr>
        <p:spPr>
          <a:xfrm>
            <a:off x="2377440" y="1426464"/>
            <a:ext cx="2286000" cy="237744"/>
          </a:xfrm>
          <a:prstGeom prst="rect">
            <a:avLst/>
          </a:prstGeom>
          <a:noFill/>
        </p:spPr>
        <p:txBody>
          <a:bodyPr wrap="square">
            <a:spAutoFit/>
          </a:bodyPr>
          <a:lstStyle/>
          <a:p>
            <a:pPr algn="l"/>
            <a:r>
              <a:rPr sz="850" b="0" i="0">
                <a:solidFill>
                  <a:srgbClr val="2C3E50"/>
                </a:solidFill>
              </a:rPr>
              <a:t>~0.93</a:t>
            </a:r>
          </a:p>
        </p:txBody>
      </p:sp>
      <p:sp>
        <p:nvSpPr>
          <p:cNvPr id="21" name="TextBox 20"/>
          <p:cNvSpPr txBox="1"/>
          <p:nvPr/>
        </p:nvSpPr>
        <p:spPr>
          <a:xfrm>
            <a:off x="4754880" y="1426464"/>
            <a:ext cx="2011680" cy="237744"/>
          </a:xfrm>
          <a:prstGeom prst="rect">
            <a:avLst/>
          </a:prstGeom>
          <a:noFill/>
        </p:spPr>
        <p:txBody>
          <a:bodyPr wrap="square">
            <a:spAutoFit/>
          </a:bodyPr>
          <a:lstStyle/>
          <a:p>
            <a:pPr algn="l"/>
            <a:r>
              <a:rPr sz="850" b="0" i="0">
                <a:solidFill>
                  <a:srgbClr val="2C3E50"/>
                </a:solidFill>
              </a:rPr>
              <a:t>0.9250</a:t>
            </a:r>
          </a:p>
        </p:txBody>
      </p:sp>
      <p:sp>
        <p:nvSpPr>
          <p:cNvPr id="22" name="TextBox 21"/>
          <p:cNvSpPr txBox="1"/>
          <p:nvPr/>
        </p:nvSpPr>
        <p:spPr>
          <a:xfrm>
            <a:off x="6858000" y="1426464"/>
            <a:ext cx="2011680" cy="237744"/>
          </a:xfrm>
          <a:prstGeom prst="rect">
            <a:avLst/>
          </a:prstGeom>
          <a:noFill/>
        </p:spPr>
        <p:txBody>
          <a:bodyPr wrap="square">
            <a:spAutoFit/>
          </a:bodyPr>
          <a:lstStyle/>
          <a:p>
            <a:pPr algn="l"/>
            <a:r>
              <a:rPr sz="850" b="0" i="0">
                <a:solidFill>
                  <a:srgbClr val="2C3E50"/>
                </a:solidFill>
              </a:rPr>
              <a:t>≈Match</a:t>
            </a:r>
          </a:p>
        </p:txBody>
      </p:sp>
      <p:sp>
        <p:nvSpPr>
          <p:cNvPr id="23" name="Rectangle 22"/>
          <p:cNvSpPr/>
          <p:nvPr/>
        </p:nvSpPr>
        <p:spPr>
          <a:xfrm>
            <a:off x="274320" y="1682496"/>
            <a:ext cx="8595360" cy="237744"/>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4320" y="1682496"/>
            <a:ext cx="2011680" cy="237744"/>
          </a:xfrm>
          <a:prstGeom prst="rect">
            <a:avLst/>
          </a:prstGeom>
          <a:noFill/>
        </p:spPr>
        <p:txBody>
          <a:bodyPr wrap="square">
            <a:spAutoFit/>
          </a:bodyPr>
          <a:lstStyle/>
          <a:p>
            <a:pPr algn="l"/>
            <a:r>
              <a:rPr sz="850" b="0" i="0">
                <a:solidFill>
                  <a:srgbClr val="2C3E50"/>
                </a:solidFill>
              </a:rPr>
              <a:t>Mean ROC-AUC</a:t>
            </a:r>
          </a:p>
        </p:txBody>
      </p:sp>
      <p:sp>
        <p:nvSpPr>
          <p:cNvPr id="25" name="TextBox 24"/>
          <p:cNvSpPr txBox="1"/>
          <p:nvPr/>
        </p:nvSpPr>
        <p:spPr>
          <a:xfrm>
            <a:off x="2377440" y="1682496"/>
            <a:ext cx="2286000" cy="237744"/>
          </a:xfrm>
          <a:prstGeom prst="rect">
            <a:avLst/>
          </a:prstGeom>
          <a:noFill/>
        </p:spPr>
        <p:txBody>
          <a:bodyPr wrap="square">
            <a:spAutoFit/>
          </a:bodyPr>
          <a:lstStyle/>
          <a:p>
            <a:pPr algn="l"/>
            <a:r>
              <a:rPr sz="850" b="0" i="0">
                <a:solidFill>
                  <a:srgbClr val="2C3E50"/>
                </a:solidFill>
              </a:rPr>
              <a:t>Not reported</a:t>
            </a:r>
          </a:p>
        </p:txBody>
      </p:sp>
      <p:sp>
        <p:nvSpPr>
          <p:cNvPr id="26" name="TextBox 25"/>
          <p:cNvSpPr txBox="1"/>
          <p:nvPr/>
        </p:nvSpPr>
        <p:spPr>
          <a:xfrm>
            <a:off x="4754880" y="1682496"/>
            <a:ext cx="2011680" cy="237744"/>
          </a:xfrm>
          <a:prstGeom prst="rect">
            <a:avLst/>
          </a:prstGeom>
          <a:noFill/>
        </p:spPr>
        <p:txBody>
          <a:bodyPr wrap="square">
            <a:spAutoFit/>
          </a:bodyPr>
          <a:lstStyle/>
          <a:p>
            <a:pPr algn="l"/>
            <a:r>
              <a:rPr sz="850" b="0" i="0">
                <a:solidFill>
                  <a:srgbClr val="2C3E50"/>
                </a:solidFill>
              </a:rPr>
              <a:t>0.9957</a:t>
            </a:r>
          </a:p>
        </p:txBody>
      </p:sp>
      <p:sp>
        <p:nvSpPr>
          <p:cNvPr id="27" name="TextBox 26"/>
          <p:cNvSpPr txBox="1"/>
          <p:nvPr/>
        </p:nvSpPr>
        <p:spPr>
          <a:xfrm>
            <a:off x="6858000" y="1682496"/>
            <a:ext cx="2011680" cy="237744"/>
          </a:xfrm>
          <a:prstGeom prst="rect">
            <a:avLst/>
          </a:prstGeom>
          <a:noFill/>
        </p:spPr>
        <p:txBody>
          <a:bodyPr wrap="square">
            <a:spAutoFit/>
          </a:bodyPr>
          <a:lstStyle/>
          <a:p>
            <a:pPr algn="l"/>
            <a:r>
              <a:rPr sz="850" b="0" i="0">
                <a:solidFill>
                  <a:srgbClr val="1E8449"/>
                </a:solidFill>
              </a:rPr>
              <a:t>⬆ We lead</a:t>
            </a:r>
          </a:p>
        </p:txBody>
      </p:sp>
      <p:sp>
        <p:nvSpPr>
          <p:cNvPr id="28" name="Rectangle 27"/>
          <p:cNvSpPr/>
          <p:nvPr/>
        </p:nvSpPr>
        <p:spPr>
          <a:xfrm>
            <a:off x="274320" y="1938528"/>
            <a:ext cx="859536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4320" y="1938528"/>
            <a:ext cx="2011680" cy="237744"/>
          </a:xfrm>
          <a:prstGeom prst="rect">
            <a:avLst/>
          </a:prstGeom>
          <a:noFill/>
        </p:spPr>
        <p:txBody>
          <a:bodyPr wrap="square">
            <a:spAutoFit/>
          </a:bodyPr>
          <a:lstStyle/>
          <a:p>
            <a:pPr algn="l"/>
            <a:r>
              <a:rPr sz="850" b="0" i="0">
                <a:solidFill>
                  <a:srgbClr val="2C3E50"/>
                </a:solidFill>
              </a:rPr>
              <a:t>READ F1</a:t>
            </a:r>
          </a:p>
        </p:txBody>
      </p:sp>
      <p:sp>
        <p:nvSpPr>
          <p:cNvPr id="30" name="TextBox 29"/>
          <p:cNvSpPr txBox="1"/>
          <p:nvPr/>
        </p:nvSpPr>
        <p:spPr>
          <a:xfrm>
            <a:off x="2377440" y="1938528"/>
            <a:ext cx="2286000" cy="237744"/>
          </a:xfrm>
          <a:prstGeom prst="rect">
            <a:avLst/>
          </a:prstGeom>
          <a:noFill/>
        </p:spPr>
        <p:txBody>
          <a:bodyPr wrap="square">
            <a:spAutoFit/>
          </a:bodyPr>
          <a:lstStyle/>
          <a:p>
            <a:pPr algn="l"/>
            <a:r>
              <a:rPr sz="850" b="0" i="0">
                <a:solidFill>
                  <a:srgbClr val="C0392B"/>
                </a:solidFill>
              </a:rPr>
              <a:t>0.40 (worst)</a:t>
            </a:r>
          </a:p>
        </p:txBody>
      </p:sp>
      <p:sp>
        <p:nvSpPr>
          <p:cNvPr id="31" name="TextBox 30"/>
          <p:cNvSpPr txBox="1"/>
          <p:nvPr/>
        </p:nvSpPr>
        <p:spPr>
          <a:xfrm>
            <a:off x="4754880" y="1938528"/>
            <a:ext cx="2011680" cy="237744"/>
          </a:xfrm>
          <a:prstGeom prst="rect">
            <a:avLst/>
          </a:prstGeom>
          <a:noFill/>
        </p:spPr>
        <p:txBody>
          <a:bodyPr wrap="square">
            <a:spAutoFit/>
          </a:bodyPr>
          <a:lstStyle/>
          <a:p>
            <a:pPr algn="l"/>
            <a:r>
              <a:rPr sz="850" b="0" i="0">
                <a:solidFill>
                  <a:srgbClr val="2C3E50"/>
                </a:solidFill>
              </a:rPr>
              <a:t>Merged → CRC 0.9924</a:t>
            </a:r>
          </a:p>
        </p:txBody>
      </p:sp>
      <p:sp>
        <p:nvSpPr>
          <p:cNvPr id="32" name="TextBox 31"/>
          <p:cNvSpPr txBox="1"/>
          <p:nvPr/>
        </p:nvSpPr>
        <p:spPr>
          <a:xfrm>
            <a:off x="6858000" y="1938528"/>
            <a:ext cx="2011680" cy="237744"/>
          </a:xfrm>
          <a:prstGeom prst="rect">
            <a:avLst/>
          </a:prstGeom>
          <a:noFill/>
        </p:spPr>
        <p:txBody>
          <a:bodyPr wrap="square">
            <a:spAutoFit/>
          </a:bodyPr>
          <a:lstStyle/>
          <a:p>
            <a:pPr algn="l"/>
            <a:r>
              <a:rPr sz="850" b="0" i="0">
                <a:solidFill>
                  <a:srgbClr val="1E8449"/>
                </a:solidFill>
              </a:rPr>
              <a:t>⬆ Solved</a:t>
            </a:r>
          </a:p>
        </p:txBody>
      </p:sp>
      <p:sp>
        <p:nvSpPr>
          <p:cNvPr id="33" name="Rectangle 32"/>
          <p:cNvSpPr/>
          <p:nvPr/>
        </p:nvSpPr>
        <p:spPr>
          <a:xfrm>
            <a:off x="274320" y="2194560"/>
            <a:ext cx="8595360" cy="237744"/>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74320" y="2194560"/>
            <a:ext cx="2011680" cy="237744"/>
          </a:xfrm>
          <a:prstGeom prst="rect">
            <a:avLst/>
          </a:prstGeom>
          <a:noFill/>
        </p:spPr>
        <p:txBody>
          <a:bodyPr wrap="square">
            <a:spAutoFit/>
          </a:bodyPr>
          <a:lstStyle/>
          <a:p>
            <a:pPr algn="l"/>
            <a:r>
              <a:rPr sz="850" b="0" i="0">
                <a:solidFill>
                  <a:srgbClr val="2C3E50"/>
                </a:solidFill>
              </a:rPr>
              <a:t>Interpretability</a:t>
            </a:r>
          </a:p>
        </p:txBody>
      </p:sp>
      <p:sp>
        <p:nvSpPr>
          <p:cNvPr id="35" name="TextBox 34"/>
          <p:cNvSpPr txBox="1"/>
          <p:nvPr/>
        </p:nvSpPr>
        <p:spPr>
          <a:xfrm>
            <a:off x="2377440" y="2194560"/>
            <a:ext cx="2286000" cy="237744"/>
          </a:xfrm>
          <a:prstGeom prst="rect">
            <a:avLst/>
          </a:prstGeom>
          <a:noFill/>
        </p:spPr>
        <p:txBody>
          <a:bodyPr wrap="square">
            <a:spAutoFit/>
          </a:bodyPr>
          <a:lstStyle/>
          <a:p>
            <a:pPr algn="l"/>
            <a:r>
              <a:rPr sz="850" b="0" i="0">
                <a:solidFill>
                  <a:srgbClr val="2C3E50"/>
                </a:solidFill>
              </a:rPr>
              <a:t>None (black box)</a:t>
            </a:r>
          </a:p>
        </p:txBody>
      </p:sp>
      <p:sp>
        <p:nvSpPr>
          <p:cNvPr id="36" name="TextBox 35"/>
          <p:cNvSpPr txBox="1"/>
          <p:nvPr/>
        </p:nvSpPr>
        <p:spPr>
          <a:xfrm>
            <a:off x="4754880" y="2194560"/>
            <a:ext cx="2011680" cy="237744"/>
          </a:xfrm>
          <a:prstGeom prst="rect">
            <a:avLst/>
          </a:prstGeom>
          <a:noFill/>
        </p:spPr>
        <p:txBody>
          <a:bodyPr wrap="square">
            <a:spAutoFit/>
          </a:bodyPr>
          <a:lstStyle/>
          <a:p>
            <a:pPr algn="l"/>
            <a:r>
              <a:rPr sz="850" b="0" i="0">
                <a:solidFill>
                  <a:srgbClr val="2C3E50"/>
                </a:solidFill>
              </a:rPr>
              <a:t>Gradient biomarkers</a:t>
            </a:r>
          </a:p>
        </p:txBody>
      </p:sp>
      <p:sp>
        <p:nvSpPr>
          <p:cNvPr id="37" name="TextBox 36"/>
          <p:cNvSpPr txBox="1"/>
          <p:nvPr/>
        </p:nvSpPr>
        <p:spPr>
          <a:xfrm>
            <a:off x="6858000" y="2194560"/>
            <a:ext cx="2011680" cy="237744"/>
          </a:xfrm>
          <a:prstGeom prst="rect">
            <a:avLst/>
          </a:prstGeom>
          <a:noFill/>
        </p:spPr>
        <p:txBody>
          <a:bodyPr wrap="square">
            <a:spAutoFit/>
          </a:bodyPr>
          <a:lstStyle/>
          <a:p>
            <a:pPr algn="l"/>
            <a:r>
              <a:rPr sz="850" b="0" i="0">
                <a:solidFill>
                  <a:srgbClr val="1E8449"/>
                </a:solidFill>
              </a:rPr>
              <a:t>⬆ We lead</a:t>
            </a:r>
          </a:p>
        </p:txBody>
      </p:sp>
      <p:sp>
        <p:nvSpPr>
          <p:cNvPr id="38" name="Rectangle 37"/>
          <p:cNvSpPr/>
          <p:nvPr/>
        </p:nvSpPr>
        <p:spPr>
          <a:xfrm>
            <a:off x="274320" y="2450592"/>
            <a:ext cx="859536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74320" y="2450592"/>
            <a:ext cx="2011680" cy="237744"/>
          </a:xfrm>
          <a:prstGeom prst="rect">
            <a:avLst/>
          </a:prstGeom>
          <a:noFill/>
        </p:spPr>
        <p:txBody>
          <a:bodyPr wrap="square">
            <a:spAutoFit/>
          </a:bodyPr>
          <a:lstStyle/>
          <a:p>
            <a:pPr algn="l"/>
            <a:r>
              <a:rPr sz="850" b="0" i="0">
                <a:solidFill>
                  <a:srgbClr val="2C3E50"/>
                </a:solidFill>
              </a:rPr>
              <a:t>Code released</a:t>
            </a:r>
          </a:p>
        </p:txBody>
      </p:sp>
      <p:sp>
        <p:nvSpPr>
          <p:cNvPr id="40" name="TextBox 39"/>
          <p:cNvSpPr txBox="1"/>
          <p:nvPr/>
        </p:nvSpPr>
        <p:spPr>
          <a:xfrm>
            <a:off x="2377440" y="2450592"/>
            <a:ext cx="2286000" cy="237744"/>
          </a:xfrm>
          <a:prstGeom prst="rect">
            <a:avLst/>
          </a:prstGeom>
          <a:noFill/>
        </p:spPr>
        <p:txBody>
          <a:bodyPr wrap="square">
            <a:spAutoFit/>
          </a:bodyPr>
          <a:lstStyle/>
          <a:p>
            <a:pPr algn="l"/>
            <a:r>
              <a:rPr sz="850" b="0" i="0">
                <a:solidFill>
                  <a:srgbClr val="2C3E50"/>
                </a:solidFill>
              </a:rPr>
              <a:t>No</a:t>
            </a:r>
          </a:p>
        </p:txBody>
      </p:sp>
      <p:sp>
        <p:nvSpPr>
          <p:cNvPr id="41" name="TextBox 40"/>
          <p:cNvSpPr txBox="1"/>
          <p:nvPr/>
        </p:nvSpPr>
        <p:spPr>
          <a:xfrm>
            <a:off x="4754880" y="2450592"/>
            <a:ext cx="2011680" cy="237744"/>
          </a:xfrm>
          <a:prstGeom prst="rect">
            <a:avLst/>
          </a:prstGeom>
          <a:noFill/>
        </p:spPr>
        <p:txBody>
          <a:bodyPr wrap="square">
            <a:spAutoFit/>
          </a:bodyPr>
          <a:lstStyle/>
          <a:p>
            <a:pPr algn="l"/>
            <a:r>
              <a:rPr sz="850" b="0" i="0">
                <a:solidFill>
                  <a:srgbClr val="2C3E50"/>
                </a:solidFill>
              </a:rPr>
              <a:t>Full Python pipeline</a:t>
            </a:r>
          </a:p>
        </p:txBody>
      </p:sp>
      <p:sp>
        <p:nvSpPr>
          <p:cNvPr id="42" name="TextBox 41"/>
          <p:cNvSpPr txBox="1"/>
          <p:nvPr/>
        </p:nvSpPr>
        <p:spPr>
          <a:xfrm>
            <a:off x="6858000" y="2450592"/>
            <a:ext cx="2011680" cy="237744"/>
          </a:xfrm>
          <a:prstGeom prst="rect">
            <a:avLst/>
          </a:prstGeom>
          <a:noFill/>
        </p:spPr>
        <p:txBody>
          <a:bodyPr wrap="square">
            <a:spAutoFit/>
          </a:bodyPr>
          <a:lstStyle/>
          <a:p>
            <a:pPr algn="l"/>
            <a:r>
              <a:rPr sz="850" b="0" i="0">
                <a:solidFill>
                  <a:srgbClr val="1E8449"/>
                </a:solidFill>
              </a:rPr>
              <a:t>⬆ We lead</a:t>
            </a:r>
          </a:p>
        </p:txBody>
      </p:sp>
      <p:sp>
        <p:nvSpPr>
          <p:cNvPr id="43" name="Rectangle 42"/>
          <p:cNvSpPr/>
          <p:nvPr/>
        </p:nvSpPr>
        <p:spPr>
          <a:xfrm>
            <a:off x="274320" y="2706624"/>
            <a:ext cx="8595360" cy="237744"/>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74320" y="2706624"/>
            <a:ext cx="2011680" cy="237744"/>
          </a:xfrm>
          <a:prstGeom prst="rect">
            <a:avLst/>
          </a:prstGeom>
          <a:noFill/>
        </p:spPr>
        <p:txBody>
          <a:bodyPr wrap="square">
            <a:spAutoFit/>
          </a:bodyPr>
          <a:lstStyle/>
          <a:p>
            <a:pPr algn="l"/>
            <a:r>
              <a:rPr sz="850" b="0" i="0">
                <a:solidFill>
                  <a:srgbClr val="2C3E50"/>
                </a:solidFill>
              </a:rPr>
              <a:t>Imbalance method</a:t>
            </a:r>
          </a:p>
        </p:txBody>
      </p:sp>
      <p:sp>
        <p:nvSpPr>
          <p:cNvPr id="45" name="TextBox 44"/>
          <p:cNvSpPr txBox="1"/>
          <p:nvPr/>
        </p:nvSpPr>
        <p:spPr>
          <a:xfrm>
            <a:off x="2377440" y="2706624"/>
            <a:ext cx="2286000" cy="237744"/>
          </a:xfrm>
          <a:prstGeom prst="rect">
            <a:avLst/>
          </a:prstGeom>
          <a:noFill/>
        </p:spPr>
        <p:txBody>
          <a:bodyPr wrap="square">
            <a:spAutoFit/>
          </a:bodyPr>
          <a:lstStyle/>
          <a:p>
            <a:pPr algn="l"/>
            <a:r>
              <a:rPr sz="850" b="0" i="0">
                <a:solidFill>
                  <a:srgbClr val="2C3E50"/>
                </a:solidFill>
              </a:rPr>
              <a:t>Not disclosed</a:t>
            </a:r>
          </a:p>
        </p:txBody>
      </p:sp>
      <p:sp>
        <p:nvSpPr>
          <p:cNvPr id="46" name="TextBox 45"/>
          <p:cNvSpPr txBox="1"/>
          <p:nvPr/>
        </p:nvSpPr>
        <p:spPr>
          <a:xfrm>
            <a:off x="4754880" y="2706624"/>
            <a:ext cx="2011680" cy="237744"/>
          </a:xfrm>
          <a:prstGeom prst="rect">
            <a:avLst/>
          </a:prstGeom>
          <a:noFill/>
        </p:spPr>
        <p:txBody>
          <a:bodyPr wrap="square">
            <a:spAutoFit/>
          </a:bodyPr>
          <a:lstStyle/>
          <a:p>
            <a:pPr algn="l"/>
            <a:r>
              <a:rPr sz="850" b="0" i="0">
                <a:solidFill>
                  <a:srgbClr val="2C3E50"/>
                </a:solidFill>
              </a:rPr>
              <a:t>SMOTE + label smoothing</a:t>
            </a:r>
          </a:p>
        </p:txBody>
      </p:sp>
      <p:sp>
        <p:nvSpPr>
          <p:cNvPr id="47" name="TextBox 46"/>
          <p:cNvSpPr txBox="1"/>
          <p:nvPr/>
        </p:nvSpPr>
        <p:spPr>
          <a:xfrm>
            <a:off x="6858000" y="2706624"/>
            <a:ext cx="2011680" cy="237744"/>
          </a:xfrm>
          <a:prstGeom prst="rect">
            <a:avLst/>
          </a:prstGeom>
          <a:noFill/>
        </p:spPr>
        <p:txBody>
          <a:bodyPr wrap="square">
            <a:spAutoFit/>
          </a:bodyPr>
          <a:lstStyle/>
          <a:p>
            <a:pPr algn="l"/>
            <a:r>
              <a:rPr sz="850" b="0" i="0">
                <a:solidFill>
                  <a:srgbClr val="1E8449"/>
                </a:solidFill>
              </a:rPr>
              <a:t>⬆ We lead</a:t>
            </a:r>
          </a:p>
        </p:txBody>
      </p:sp>
      <p:sp>
        <p:nvSpPr>
          <p:cNvPr id="48" name="Rectangle 47"/>
          <p:cNvSpPr/>
          <p:nvPr/>
        </p:nvSpPr>
        <p:spPr>
          <a:xfrm>
            <a:off x="274320" y="2962656"/>
            <a:ext cx="859536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74320" y="2962656"/>
            <a:ext cx="2011680" cy="237744"/>
          </a:xfrm>
          <a:prstGeom prst="rect">
            <a:avLst/>
          </a:prstGeom>
          <a:noFill/>
        </p:spPr>
        <p:txBody>
          <a:bodyPr wrap="square">
            <a:spAutoFit/>
          </a:bodyPr>
          <a:lstStyle/>
          <a:p>
            <a:pPr algn="l"/>
            <a:r>
              <a:rPr sz="850" b="0" i="0">
                <a:solidFill>
                  <a:srgbClr val="2C3E50"/>
                </a:solidFill>
              </a:rPr>
              <a:t>TTA / Ensemble</a:t>
            </a:r>
          </a:p>
        </p:txBody>
      </p:sp>
      <p:sp>
        <p:nvSpPr>
          <p:cNvPr id="50" name="TextBox 49"/>
          <p:cNvSpPr txBox="1"/>
          <p:nvPr/>
        </p:nvSpPr>
        <p:spPr>
          <a:xfrm>
            <a:off x="2377440" y="2962656"/>
            <a:ext cx="2286000" cy="237744"/>
          </a:xfrm>
          <a:prstGeom prst="rect">
            <a:avLst/>
          </a:prstGeom>
          <a:noFill/>
        </p:spPr>
        <p:txBody>
          <a:bodyPr wrap="square">
            <a:spAutoFit/>
          </a:bodyPr>
          <a:lstStyle/>
          <a:p>
            <a:pPr algn="l"/>
            <a:r>
              <a:rPr sz="850" b="0" i="0">
                <a:solidFill>
                  <a:srgbClr val="2C3E50"/>
                </a:solidFill>
              </a:rPr>
              <a:t>CNN+LSTM ensemble</a:t>
            </a:r>
          </a:p>
        </p:txBody>
      </p:sp>
      <p:sp>
        <p:nvSpPr>
          <p:cNvPr id="51" name="TextBox 50"/>
          <p:cNvSpPr txBox="1"/>
          <p:nvPr/>
        </p:nvSpPr>
        <p:spPr>
          <a:xfrm>
            <a:off x="4754880" y="2962656"/>
            <a:ext cx="2011680" cy="237744"/>
          </a:xfrm>
          <a:prstGeom prst="rect">
            <a:avLst/>
          </a:prstGeom>
          <a:noFill/>
        </p:spPr>
        <p:txBody>
          <a:bodyPr wrap="square">
            <a:spAutoFit/>
          </a:bodyPr>
          <a:lstStyle/>
          <a:p>
            <a:pPr algn="l"/>
            <a:r>
              <a:rPr sz="850" b="0" i="0">
                <a:solidFill>
                  <a:srgbClr val="2C3E50"/>
                </a:solidFill>
              </a:rPr>
              <a:t>5 SE-CNN + TTA + calibration</a:t>
            </a:r>
          </a:p>
        </p:txBody>
      </p:sp>
      <p:sp>
        <p:nvSpPr>
          <p:cNvPr id="52" name="TextBox 51"/>
          <p:cNvSpPr txBox="1"/>
          <p:nvPr/>
        </p:nvSpPr>
        <p:spPr>
          <a:xfrm>
            <a:off x="6858000" y="2962656"/>
            <a:ext cx="2011680" cy="237744"/>
          </a:xfrm>
          <a:prstGeom prst="rect">
            <a:avLst/>
          </a:prstGeom>
          <a:noFill/>
        </p:spPr>
        <p:txBody>
          <a:bodyPr wrap="square">
            <a:spAutoFit/>
          </a:bodyPr>
          <a:lstStyle/>
          <a:p>
            <a:pPr algn="l"/>
            <a:r>
              <a:rPr sz="850" b="0" i="0">
                <a:solidFill>
                  <a:srgbClr val="1E8449"/>
                </a:solidFill>
              </a:rPr>
              <a:t>⬆ More robust</a:t>
            </a:r>
          </a:p>
        </p:txBody>
      </p:sp>
      <p:sp>
        <p:nvSpPr>
          <p:cNvPr id="53" name="TextBox 52"/>
          <p:cNvSpPr txBox="1"/>
          <p:nvPr/>
        </p:nvSpPr>
        <p:spPr>
          <a:xfrm>
            <a:off x="274320" y="3108960"/>
            <a:ext cx="4114800" cy="256032"/>
          </a:xfrm>
          <a:prstGeom prst="rect">
            <a:avLst/>
          </a:prstGeom>
          <a:noFill/>
        </p:spPr>
        <p:txBody>
          <a:bodyPr wrap="square">
            <a:spAutoFit/>
          </a:bodyPr>
          <a:lstStyle/>
          <a:p>
            <a:pPr algn="l"/>
            <a:r>
              <a:rPr sz="1050" b="1" i="0">
                <a:solidFill>
                  <a:srgbClr val="1A5276"/>
                </a:solidFill>
              </a:rPr>
              <a:t>Where We Match</a:t>
            </a:r>
          </a:p>
        </p:txBody>
      </p:sp>
      <p:sp>
        <p:nvSpPr>
          <p:cNvPr id="54" name="Rectangle 53"/>
          <p:cNvSpPr/>
          <p:nvPr/>
        </p:nvSpPr>
        <p:spPr>
          <a:xfrm>
            <a:off x="274320" y="3364992"/>
            <a:ext cx="411480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3419856"/>
            <a:ext cx="3931920" cy="237744"/>
          </a:xfrm>
          <a:prstGeom prst="rect">
            <a:avLst/>
          </a:prstGeom>
          <a:noFill/>
        </p:spPr>
        <p:txBody>
          <a:bodyPr wrap="square">
            <a:spAutoFit/>
          </a:bodyPr>
          <a:lstStyle/>
          <a:p>
            <a:pPr algn="l"/>
            <a:r>
              <a:rPr sz="900" b="0" i="0">
                <a:solidFill>
                  <a:srgbClr val="1E8449"/>
                </a:solidFill>
              </a:rPr>
              <a:t>✓  Accuracy within 0.67% of Mostavi's benchmark</a:t>
            </a:r>
          </a:p>
        </p:txBody>
      </p:sp>
      <p:sp>
        <p:nvSpPr>
          <p:cNvPr id="56" name="TextBox 55"/>
          <p:cNvSpPr txBox="1"/>
          <p:nvPr/>
        </p:nvSpPr>
        <p:spPr>
          <a:xfrm>
            <a:off x="384048" y="3694176"/>
            <a:ext cx="3931920" cy="237744"/>
          </a:xfrm>
          <a:prstGeom prst="rect">
            <a:avLst/>
          </a:prstGeom>
          <a:noFill/>
        </p:spPr>
        <p:txBody>
          <a:bodyPr wrap="square">
            <a:spAutoFit/>
          </a:bodyPr>
          <a:lstStyle/>
          <a:p>
            <a:pPr algn="l"/>
            <a:r>
              <a:rPr sz="900" b="0" i="0">
                <a:solidFill>
                  <a:srgbClr val="1E8449"/>
                </a:solidFill>
              </a:rPr>
              <a:t>✓  Macro F1 comparable at 0.9250 vs ~0.93</a:t>
            </a:r>
          </a:p>
        </p:txBody>
      </p:sp>
      <p:sp>
        <p:nvSpPr>
          <p:cNvPr id="57" name="TextBox 56"/>
          <p:cNvSpPr txBox="1"/>
          <p:nvPr/>
        </p:nvSpPr>
        <p:spPr>
          <a:xfrm>
            <a:off x="384048" y="3968496"/>
            <a:ext cx="3931920" cy="237744"/>
          </a:xfrm>
          <a:prstGeom prst="rect">
            <a:avLst/>
          </a:prstGeom>
          <a:noFill/>
        </p:spPr>
        <p:txBody>
          <a:bodyPr wrap="square">
            <a:spAutoFit/>
          </a:bodyPr>
          <a:lstStyle/>
          <a:p>
            <a:pPr algn="l"/>
            <a:r>
              <a:rPr sz="900" b="0" i="0">
                <a:solidFill>
                  <a:srgbClr val="1E8449"/>
                </a:solidFill>
              </a:rPr>
              <a:t>✓  Same TCGA dataset and evaluation protocol</a:t>
            </a:r>
          </a:p>
        </p:txBody>
      </p:sp>
      <p:sp>
        <p:nvSpPr>
          <p:cNvPr id="58" name="TextBox 57"/>
          <p:cNvSpPr txBox="1"/>
          <p:nvPr/>
        </p:nvSpPr>
        <p:spPr>
          <a:xfrm>
            <a:off x="4663440" y="3108960"/>
            <a:ext cx="4206240" cy="256032"/>
          </a:xfrm>
          <a:prstGeom prst="rect">
            <a:avLst/>
          </a:prstGeom>
          <a:noFill/>
        </p:spPr>
        <p:txBody>
          <a:bodyPr wrap="square">
            <a:spAutoFit/>
          </a:bodyPr>
          <a:lstStyle/>
          <a:p>
            <a:pPr algn="l"/>
            <a:r>
              <a:rPr sz="1050" b="1" i="0">
                <a:solidFill>
                  <a:srgbClr val="1A5276"/>
                </a:solidFill>
              </a:rPr>
              <a:t>Where We Exceed</a:t>
            </a:r>
          </a:p>
        </p:txBody>
      </p:sp>
      <p:sp>
        <p:nvSpPr>
          <p:cNvPr id="59" name="Rectangle 58"/>
          <p:cNvSpPr/>
          <p:nvPr/>
        </p:nvSpPr>
        <p:spPr>
          <a:xfrm>
            <a:off x="4663440" y="3364992"/>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773168" y="3419856"/>
            <a:ext cx="4023360" cy="237744"/>
          </a:xfrm>
          <a:prstGeom prst="rect">
            <a:avLst/>
          </a:prstGeom>
          <a:noFill/>
        </p:spPr>
        <p:txBody>
          <a:bodyPr wrap="square">
            <a:spAutoFit/>
          </a:bodyPr>
          <a:lstStyle/>
          <a:p>
            <a:pPr algn="l"/>
            <a:r>
              <a:rPr sz="900" b="0" i="0">
                <a:solidFill>
                  <a:srgbClr val="1E8449"/>
                </a:solidFill>
              </a:rPr>
              <a:t>⬆  READ/COAD merge — fixed their worst failure (F1 0.40 → 0.9924)</a:t>
            </a:r>
          </a:p>
        </p:txBody>
      </p:sp>
      <p:sp>
        <p:nvSpPr>
          <p:cNvPr id="61" name="TextBox 60"/>
          <p:cNvSpPr txBox="1"/>
          <p:nvPr/>
        </p:nvSpPr>
        <p:spPr>
          <a:xfrm>
            <a:off x="4773168" y="3694176"/>
            <a:ext cx="4023360" cy="237744"/>
          </a:xfrm>
          <a:prstGeom prst="rect">
            <a:avLst/>
          </a:prstGeom>
          <a:noFill/>
        </p:spPr>
        <p:txBody>
          <a:bodyPr wrap="square">
            <a:spAutoFit/>
          </a:bodyPr>
          <a:lstStyle/>
          <a:p>
            <a:pPr algn="l"/>
            <a:r>
              <a:rPr sz="900" b="0" i="0">
                <a:solidFill>
                  <a:srgbClr val="1E8449"/>
                </a:solidFill>
              </a:rPr>
              <a:t>⬆  Gradient biomarkers — full gene importance extraction</a:t>
            </a:r>
          </a:p>
        </p:txBody>
      </p:sp>
      <p:sp>
        <p:nvSpPr>
          <p:cNvPr id="62" name="TextBox 61"/>
          <p:cNvSpPr txBox="1"/>
          <p:nvPr/>
        </p:nvSpPr>
        <p:spPr>
          <a:xfrm>
            <a:off x="4773168" y="3968496"/>
            <a:ext cx="4023360" cy="237744"/>
          </a:xfrm>
          <a:prstGeom prst="rect">
            <a:avLst/>
          </a:prstGeom>
          <a:noFill/>
        </p:spPr>
        <p:txBody>
          <a:bodyPr wrap="square">
            <a:spAutoFit/>
          </a:bodyPr>
          <a:lstStyle/>
          <a:p>
            <a:pPr algn="l"/>
            <a:r>
              <a:rPr sz="900" b="0" i="0">
                <a:solidFill>
                  <a:srgbClr val="1E8449"/>
                </a:solidFill>
              </a:rPr>
              <a:t>⬆  Full reproducibility — code, seeds, hyperparameters released</a:t>
            </a:r>
          </a:p>
        </p:txBody>
      </p:sp>
      <p:sp>
        <p:nvSpPr>
          <p:cNvPr id="63" name="TextBox 62"/>
          <p:cNvSpPr txBox="1"/>
          <p:nvPr/>
        </p:nvSpPr>
        <p:spPr>
          <a:xfrm>
            <a:off x="4773168" y="4242816"/>
            <a:ext cx="4023360" cy="237744"/>
          </a:xfrm>
          <a:prstGeom prst="rect">
            <a:avLst/>
          </a:prstGeom>
          <a:noFill/>
        </p:spPr>
        <p:txBody>
          <a:bodyPr wrap="square">
            <a:spAutoFit/>
          </a:bodyPr>
          <a:lstStyle/>
          <a:p>
            <a:pPr algn="l"/>
            <a:r>
              <a:rPr sz="900" b="0" i="0">
                <a:solidFill>
                  <a:srgbClr val="1E8449"/>
                </a:solidFill>
              </a:rPr>
              <a:t>⬆  TTA + calibration — confidence reliability for clinical use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BIOMARKER &amp; GENE IMPORTANCE DISCOVERY</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20</a:t>
            </a:r>
          </a:p>
        </p:txBody>
      </p:sp>
      <p:pic>
        <p:nvPicPr>
          <p:cNvPr id="7" name="Picture 6" descr="biomarker_importance.png"/>
          <p:cNvPicPr>
            <a:picLocks noChangeAspect="1"/>
          </p:cNvPicPr>
          <p:nvPr/>
        </p:nvPicPr>
        <p:blipFill>
          <a:blip r:embed="rId2"/>
          <a:stretch>
            <a:fillRect/>
          </a:stretch>
        </p:blipFill>
        <p:spPr>
          <a:xfrm>
            <a:off x="137160" y="548640"/>
            <a:ext cx="6400800" cy="4206240"/>
          </a:xfrm>
          <a:prstGeom prst="rect">
            <a:avLst/>
          </a:prstGeom>
        </p:spPr>
      </p:pic>
      <p:sp>
        <p:nvSpPr>
          <p:cNvPr id="8" name="TextBox 7"/>
          <p:cNvSpPr txBox="1"/>
          <p:nvPr/>
        </p:nvSpPr>
        <p:spPr>
          <a:xfrm>
            <a:off x="6675120" y="548640"/>
            <a:ext cx="2286000" cy="256032"/>
          </a:xfrm>
          <a:prstGeom prst="rect">
            <a:avLst/>
          </a:prstGeom>
          <a:noFill/>
        </p:spPr>
        <p:txBody>
          <a:bodyPr wrap="square">
            <a:spAutoFit/>
          </a:bodyPr>
          <a:lstStyle/>
          <a:p>
            <a:pPr algn="l"/>
            <a:r>
              <a:rPr sz="1050" b="1" i="0">
                <a:solidFill>
                  <a:srgbClr val="1A5276"/>
                </a:solidFill>
              </a:rPr>
              <a:t>Methodology</a:t>
            </a:r>
          </a:p>
        </p:txBody>
      </p:sp>
      <p:sp>
        <p:nvSpPr>
          <p:cNvPr id="9" name="Rectangle 8"/>
          <p:cNvSpPr/>
          <p:nvPr/>
        </p:nvSpPr>
        <p:spPr>
          <a:xfrm>
            <a:off x="6675120" y="804672"/>
            <a:ext cx="228600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859536"/>
            <a:ext cx="2286000" cy="914400"/>
          </a:xfrm>
          <a:prstGeom prst="rect">
            <a:avLst/>
          </a:prstGeom>
          <a:noFill/>
        </p:spPr>
        <p:txBody>
          <a:bodyPr wrap="square">
            <a:spAutoFit/>
          </a:bodyPr>
          <a:lstStyle/>
          <a:p>
            <a:r>
              <a:rPr sz="850" b="0" i="0">
                <a:solidFill>
                  <a:srgbClr val="2C3E50"/>
                </a:solidFill>
              </a:rPr>
              <a:t>Gradient of predicted class score with respect to each input gene. High gradient = gene contributed most to that prediction. Averaged across all test samples per cancer type.</a:t>
            </a:r>
          </a:p>
        </p:txBody>
      </p:sp>
      <p:sp>
        <p:nvSpPr>
          <p:cNvPr id="11" name="TextBox 10"/>
          <p:cNvSpPr txBox="1"/>
          <p:nvPr/>
        </p:nvSpPr>
        <p:spPr>
          <a:xfrm>
            <a:off x="6675120" y="1847088"/>
            <a:ext cx="2286000" cy="256032"/>
          </a:xfrm>
          <a:prstGeom prst="rect">
            <a:avLst/>
          </a:prstGeom>
          <a:noFill/>
        </p:spPr>
        <p:txBody>
          <a:bodyPr wrap="square">
            <a:spAutoFit/>
          </a:bodyPr>
          <a:lstStyle/>
          <a:p>
            <a:pPr algn="l"/>
            <a:r>
              <a:rPr sz="1050" b="1" i="0">
                <a:solidFill>
                  <a:srgbClr val="1A5276"/>
                </a:solidFill>
              </a:rPr>
              <a:t>Results</a:t>
            </a:r>
          </a:p>
        </p:txBody>
      </p:sp>
      <p:sp>
        <p:nvSpPr>
          <p:cNvPr id="12" name="TextBox 11"/>
          <p:cNvSpPr txBox="1"/>
          <p:nvPr/>
        </p:nvSpPr>
        <p:spPr>
          <a:xfrm>
            <a:off x="6675120" y="2103120"/>
            <a:ext cx="2286000" cy="237744"/>
          </a:xfrm>
          <a:prstGeom prst="rect">
            <a:avLst/>
          </a:prstGeom>
          <a:noFill/>
        </p:spPr>
        <p:txBody>
          <a:bodyPr wrap="square">
            <a:spAutoFit/>
          </a:bodyPr>
          <a:lstStyle/>
          <a:p>
            <a:pPr algn="l"/>
            <a:r>
              <a:rPr sz="850" b="0" i="0">
                <a:solidFill>
                  <a:srgbClr val="2C3E50"/>
                </a:solidFill>
              </a:rPr>
              <a:t>✓  Top 10 genes extracted per cancer type</a:t>
            </a:r>
          </a:p>
        </p:txBody>
      </p:sp>
      <p:sp>
        <p:nvSpPr>
          <p:cNvPr id="13" name="TextBox 12"/>
          <p:cNvSpPr txBox="1"/>
          <p:nvPr/>
        </p:nvSpPr>
        <p:spPr>
          <a:xfrm>
            <a:off x="6675120" y="2377439"/>
            <a:ext cx="2286000" cy="237744"/>
          </a:xfrm>
          <a:prstGeom prst="rect">
            <a:avLst/>
          </a:prstGeom>
          <a:noFill/>
        </p:spPr>
        <p:txBody>
          <a:bodyPr wrap="square">
            <a:spAutoFit/>
          </a:bodyPr>
          <a:lstStyle/>
          <a:p>
            <a:pPr algn="l"/>
            <a:r>
              <a:rPr sz="850" b="0" i="0">
                <a:solidFill>
                  <a:srgbClr val="2C3E50"/>
                </a:solidFill>
              </a:rPr>
              <a:t>✓  Top 50 genes across full dataset</a:t>
            </a:r>
          </a:p>
        </p:txBody>
      </p:sp>
      <p:sp>
        <p:nvSpPr>
          <p:cNvPr id="14" name="TextBox 13"/>
          <p:cNvSpPr txBox="1"/>
          <p:nvPr/>
        </p:nvSpPr>
        <p:spPr>
          <a:xfrm>
            <a:off x="6675120" y="2651759"/>
            <a:ext cx="2286000" cy="237744"/>
          </a:xfrm>
          <a:prstGeom prst="rect">
            <a:avLst/>
          </a:prstGeom>
          <a:noFill/>
        </p:spPr>
        <p:txBody>
          <a:bodyPr wrap="square">
            <a:spAutoFit/>
          </a:bodyPr>
          <a:lstStyle/>
          <a:p>
            <a:pPr algn="l"/>
            <a:r>
              <a:rPr sz="850" b="0" i="0">
                <a:solidFill>
                  <a:srgbClr val="2C3E50"/>
                </a:solidFill>
              </a:rPr>
              <a:t>✓  Scores stored per-sample for traceability</a:t>
            </a:r>
          </a:p>
        </p:txBody>
      </p:sp>
      <p:sp>
        <p:nvSpPr>
          <p:cNvPr id="15" name="TextBox 14"/>
          <p:cNvSpPr txBox="1"/>
          <p:nvPr/>
        </p:nvSpPr>
        <p:spPr>
          <a:xfrm>
            <a:off x="6675120" y="2944368"/>
            <a:ext cx="2286000" cy="256032"/>
          </a:xfrm>
          <a:prstGeom prst="rect">
            <a:avLst/>
          </a:prstGeom>
          <a:noFill/>
        </p:spPr>
        <p:txBody>
          <a:bodyPr wrap="square">
            <a:spAutoFit/>
          </a:bodyPr>
          <a:lstStyle/>
          <a:p>
            <a:pPr algn="l"/>
            <a:r>
              <a:rPr sz="1050" b="1" i="0">
                <a:solidFill>
                  <a:srgbClr val="1A5276"/>
                </a:solidFill>
              </a:rPr>
              <a:t>Gene IDs</a:t>
            </a:r>
          </a:p>
        </p:txBody>
      </p:sp>
      <p:sp>
        <p:nvSpPr>
          <p:cNvPr id="16" name="Rectangle 15"/>
          <p:cNvSpPr/>
          <p:nvPr/>
        </p:nvSpPr>
        <p:spPr>
          <a:xfrm>
            <a:off x="6675120" y="3200400"/>
            <a:ext cx="228600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0" y="3255264"/>
            <a:ext cx="2286000" cy="822960"/>
          </a:xfrm>
          <a:prstGeom prst="rect">
            <a:avLst/>
          </a:prstGeom>
          <a:noFill/>
        </p:spPr>
        <p:txBody>
          <a:bodyPr wrap="square">
            <a:spAutoFit/>
          </a:bodyPr>
          <a:lstStyle/>
          <a:p>
            <a:r>
              <a:rPr sz="850" b="0" i="1">
                <a:solidFill>
                  <a:srgbClr val="566573"/>
                </a:solidFill>
              </a:rPr>
              <a:t>Genes shown as TCGA feature indices (e.g., Gene #52). HGNC name mapping is pending. Cross-validation with clinical literature is the next step.</a:t>
            </a:r>
          </a:p>
        </p:txBody>
      </p:sp>
      <p:sp>
        <p:nvSpPr>
          <p:cNvPr id="18" name="TextBox 17"/>
          <p:cNvSpPr txBox="1"/>
          <p:nvPr/>
        </p:nvSpPr>
        <p:spPr>
          <a:xfrm>
            <a:off x="6675120" y="4169663"/>
            <a:ext cx="2286000" cy="256032"/>
          </a:xfrm>
          <a:prstGeom prst="rect">
            <a:avLst/>
          </a:prstGeom>
          <a:noFill/>
        </p:spPr>
        <p:txBody>
          <a:bodyPr wrap="square">
            <a:spAutoFit/>
          </a:bodyPr>
          <a:lstStyle/>
          <a:p>
            <a:pPr algn="l"/>
            <a:r>
              <a:rPr sz="1050" b="1" i="0">
                <a:solidFill>
                  <a:srgbClr val="1A5276"/>
                </a:solidFill>
              </a:rPr>
              <a:t>Next Step</a:t>
            </a:r>
          </a:p>
        </p:txBody>
      </p:sp>
      <p:sp>
        <p:nvSpPr>
          <p:cNvPr id="19" name="TextBox 18"/>
          <p:cNvSpPr txBox="1"/>
          <p:nvPr/>
        </p:nvSpPr>
        <p:spPr>
          <a:xfrm>
            <a:off x="6675120" y="4425696"/>
            <a:ext cx="2286000" cy="329184"/>
          </a:xfrm>
          <a:prstGeom prst="rect">
            <a:avLst/>
          </a:prstGeom>
          <a:noFill/>
        </p:spPr>
        <p:txBody>
          <a:bodyPr wrap="square">
            <a:spAutoFit/>
          </a:bodyPr>
          <a:lstStyle/>
          <a:p>
            <a:r>
              <a:rPr sz="850" b="0" i="0">
                <a:solidFill>
                  <a:srgbClr val="2C3E50"/>
                </a:solidFill>
              </a:rPr>
              <a:t>Map indices to gene names, then validate against known biomarkers (e.g., GATA3 for BRCA, KLK3 for PRAD).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LIMITATIONS &amp; FUTURE WORK</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21</a:t>
            </a:r>
          </a:p>
        </p:txBody>
      </p:sp>
      <p:sp>
        <p:nvSpPr>
          <p:cNvPr id="7" name="TextBox 6"/>
          <p:cNvSpPr txBox="1"/>
          <p:nvPr/>
        </p:nvSpPr>
        <p:spPr>
          <a:xfrm>
            <a:off x="274320" y="548640"/>
            <a:ext cx="4114800" cy="256032"/>
          </a:xfrm>
          <a:prstGeom prst="rect">
            <a:avLst/>
          </a:prstGeom>
          <a:noFill/>
        </p:spPr>
        <p:txBody>
          <a:bodyPr wrap="square">
            <a:spAutoFit/>
          </a:bodyPr>
          <a:lstStyle/>
          <a:p>
            <a:pPr algn="l"/>
            <a:r>
              <a:rPr sz="1050" b="1" i="0">
                <a:solidFill>
                  <a:srgbClr val="1A5276"/>
                </a:solidFill>
              </a:rPr>
              <a:t>Current Limitations</a:t>
            </a:r>
          </a:p>
        </p:txBody>
      </p:sp>
      <p:sp>
        <p:nvSpPr>
          <p:cNvPr id="8" name="Rectangle 7"/>
          <p:cNvSpPr/>
          <p:nvPr/>
        </p:nvSpPr>
        <p:spPr>
          <a:xfrm>
            <a:off x="274320" y="804672"/>
            <a:ext cx="411480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877824"/>
            <a:ext cx="54864" cy="475488"/>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02336" y="877824"/>
            <a:ext cx="3931920" cy="219456"/>
          </a:xfrm>
          <a:prstGeom prst="rect">
            <a:avLst/>
          </a:prstGeom>
          <a:noFill/>
        </p:spPr>
        <p:txBody>
          <a:bodyPr wrap="square">
            <a:spAutoFit/>
          </a:bodyPr>
          <a:lstStyle/>
          <a:p>
            <a:pPr algn="l"/>
            <a:r>
              <a:rPr sz="900" b="1" i="0">
                <a:solidFill>
                  <a:srgbClr val="1A5276"/>
                </a:solidFill>
              </a:rPr>
              <a:t>Gene IDs, not names:</a:t>
            </a:r>
          </a:p>
        </p:txBody>
      </p:sp>
      <p:sp>
        <p:nvSpPr>
          <p:cNvPr id="11" name="TextBox 10"/>
          <p:cNvSpPr txBox="1"/>
          <p:nvPr/>
        </p:nvSpPr>
        <p:spPr>
          <a:xfrm>
            <a:off x="402336" y="1097280"/>
            <a:ext cx="3931920" cy="274320"/>
          </a:xfrm>
          <a:prstGeom prst="rect">
            <a:avLst/>
          </a:prstGeom>
          <a:noFill/>
        </p:spPr>
        <p:txBody>
          <a:bodyPr wrap="square">
            <a:spAutoFit/>
          </a:bodyPr>
          <a:lstStyle/>
          <a:p>
            <a:pPr algn="l"/>
            <a:r>
              <a:rPr sz="850" b="0" i="0">
                <a:solidFill>
                  <a:srgbClr val="2C3E50"/>
                </a:solidFill>
              </a:rPr>
              <a:t>Feature indices in the CSV are not yet mapped to official HGNC gene symbols. Biological cross-validation pending.</a:t>
            </a:r>
          </a:p>
        </p:txBody>
      </p:sp>
      <p:sp>
        <p:nvSpPr>
          <p:cNvPr id="12" name="Rectangle 11"/>
          <p:cNvSpPr/>
          <p:nvPr/>
        </p:nvSpPr>
        <p:spPr>
          <a:xfrm>
            <a:off x="274320" y="1536192"/>
            <a:ext cx="54864" cy="475488"/>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2336" y="1536192"/>
            <a:ext cx="3931920" cy="219456"/>
          </a:xfrm>
          <a:prstGeom prst="rect">
            <a:avLst/>
          </a:prstGeom>
          <a:noFill/>
        </p:spPr>
        <p:txBody>
          <a:bodyPr wrap="square">
            <a:spAutoFit/>
          </a:bodyPr>
          <a:lstStyle/>
          <a:p>
            <a:pPr algn="l"/>
            <a:r>
              <a:rPr sz="900" b="1" i="0">
                <a:solidFill>
                  <a:srgbClr val="1A5276"/>
                </a:solidFill>
              </a:rPr>
              <a:t>Accuracy gap:</a:t>
            </a:r>
          </a:p>
        </p:txBody>
      </p:sp>
      <p:sp>
        <p:nvSpPr>
          <p:cNvPr id="14" name="TextBox 13"/>
          <p:cNvSpPr txBox="1"/>
          <p:nvPr/>
        </p:nvSpPr>
        <p:spPr>
          <a:xfrm>
            <a:off x="402336" y="1755648"/>
            <a:ext cx="3931920" cy="274320"/>
          </a:xfrm>
          <a:prstGeom prst="rect">
            <a:avLst/>
          </a:prstGeom>
          <a:noFill/>
        </p:spPr>
        <p:txBody>
          <a:bodyPr wrap="square">
            <a:spAutoFit/>
          </a:bodyPr>
          <a:lstStyle/>
          <a:p>
            <a:pPr algn="l"/>
            <a:r>
              <a:rPr sz="850" b="0" i="0">
                <a:solidFill>
                  <a:srgbClr val="2C3E50"/>
                </a:solidFill>
              </a:rPr>
              <a:t>94.33% vs Mostavi's ~95% — 0.67% gap remains. Deeper architecture or more seeds may close this.</a:t>
            </a:r>
          </a:p>
        </p:txBody>
      </p:sp>
      <p:sp>
        <p:nvSpPr>
          <p:cNvPr id="15" name="Rectangle 14"/>
          <p:cNvSpPr/>
          <p:nvPr/>
        </p:nvSpPr>
        <p:spPr>
          <a:xfrm>
            <a:off x="274320" y="2194560"/>
            <a:ext cx="54864" cy="47548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2336" y="2194560"/>
            <a:ext cx="3931920" cy="219456"/>
          </a:xfrm>
          <a:prstGeom prst="rect">
            <a:avLst/>
          </a:prstGeom>
          <a:noFill/>
        </p:spPr>
        <p:txBody>
          <a:bodyPr wrap="square">
            <a:spAutoFit/>
          </a:bodyPr>
          <a:lstStyle/>
          <a:p>
            <a:pPr algn="l"/>
            <a:r>
              <a:rPr sz="900" b="1" i="0">
                <a:solidFill>
                  <a:srgbClr val="1A5276"/>
                </a:solidFill>
              </a:rPr>
              <a:t>Rare classes:</a:t>
            </a:r>
          </a:p>
        </p:txBody>
      </p:sp>
      <p:sp>
        <p:nvSpPr>
          <p:cNvPr id="17" name="TextBox 16"/>
          <p:cNvSpPr txBox="1"/>
          <p:nvPr/>
        </p:nvSpPr>
        <p:spPr>
          <a:xfrm>
            <a:off x="402336" y="2414015"/>
            <a:ext cx="3931920" cy="274320"/>
          </a:xfrm>
          <a:prstGeom prst="rect">
            <a:avLst/>
          </a:prstGeom>
          <a:noFill/>
        </p:spPr>
        <p:txBody>
          <a:bodyPr wrap="square">
            <a:spAutoFit/>
          </a:bodyPr>
          <a:lstStyle/>
          <a:p>
            <a:pPr algn="l"/>
            <a:r>
              <a:rPr sz="850" b="0" i="0">
                <a:solidFill>
                  <a:srgbClr val="2C3E50"/>
                </a:solidFill>
              </a:rPr>
              <a:t>ACC (F1=0.5455) and UVM (0.7200) still underperform. Limited samples are the root cause, not the model.</a:t>
            </a:r>
          </a:p>
        </p:txBody>
      </p:sp>
      <p:sp>
        <p:nvSpPr>
          <p:cNvPr id="18" name="Rectangle 17"/>
          <p:cNvSpPr/>
          <p:nvPr/>
        </p:nvSpPr>
        <p:spPr>
          <a:xfrm>
            <a:off x="274320" y="2852928"/>
            <a:ext cx="54864" cy="475488"/>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02336" y="2852928"/>
            <a:ext cx="3931920" cy="219456"/>
          </a:xfrm>
          <a:prstGeom prst="rect">
            <a:avLst/>
          </a:prstGeom>
          <a:noFill/>
        </p:spPr>
        <p:txBody>
          <a:bodyPr wrap="square">
            <a:spAutoFit/>
          </a:bodyPr>
          <a:lstStyle/>
          <a:p>
            <a:pPr algn="l"/>
            <a:r>
              <a:rPr sz="900" b="1" i="0">
                <a:solidFill>
                  <a:srgbClr val="1A5276"/>
                </a:solidFill>
              </a:rPr>
              <a:t>Single modality:</a:t>
            </a:r>
          </a:p>
        </p:txBody>
      </p:sp>
      <p:sp>
        <p:nvSpPr>
          <p:cNvPr id="20" name="TextBox 19"/>
          <p:cNvSpPr txBox="1"/>
          <p:nvPr/>
        </p:nvSpPr>
        <p:spPr>
          <a:xfrm>
            <a:off x="402336" y="3072384"/>
            <a:ext cx="3931920" cy="274320"/>
          </a:xfrm>
          <a:prstGeom prst="rect">
            <a:avLst/>
          </a:prstGeom>
          <a:noFill/>
        </p:spPr>
        <p:txBody>
          <a:bodyPr wrap="square">
            <a:spAutoFit/>
          </a:bodyPr>
          <a:lstStyle/>
          <a:p>
            <a:pPr algn="l"/>
            <a:r>
              <a:rPr sz="850" b="0" i="0">
                <a:solidFill>
                  <a:srgbClr val="2C3E50"/>
                </a:solidFill>
              </a:rPr>
              <a:t>Only RNA-Seq used. Adding mutation data or methylation could improve hard cases.</a:t>
            </a:r>
          </a:p>
        </p:txBody>
      </p:sp>
      <p:sp>
        <p:nvSpPr>
          <p:cNvPr id="21" name="TextBox 20"/>
          <p:cNvSpPr txBox="1"/>
          <p:nvPr/>
        </p:nvSpPr>
        <p:spPr>
          <a:xfrm>
            <a:off x="4663440" y="548640"/>
            <a:ext cx="4206240" cy="256032"/>
          </a:xfrm>
          <a:prstGeom prst="rect">
            <a:avLst/>
          </a:prstGeom>
          <a:noFill/>
        </p:spPr>
        <p:txBody>
          <a:bodyPr wrap="square">
            <a:spAutoFit/>
          </a:bodyPr>
          <a:lstStyle/>
          <a:p>
            <a:pPr algn="l"/>
            <a:r>
              <a:rPr sz="1050" b="1" i="0">
                <a:solidFill>
                  <a:srgbClr val="1A5276"/>
                </a:solidFill>
              </a:rPr>
              <a:t>Future Work</a:t>
            </a:r>
          </a:p>
        </p:txBody>
      </p:sp>
      <p:sp>
        <p:nvSpPr>
          <p:cNvPr id="22" name="Rectangle 21"/>
          <p:cNvSpPr/>
          <p:nvPr/>
        </p:nvSpPr>
        <p:spPr>
          <a:xfrm>
            <a:off x="4663440" y="804672"/>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63440" y="877824"/>
            <a:ext cx="4206240" cy="237744"/>
          </a:xfrm>
          <a:prstGeom prst="rect">
            <a:avLst/>
          </a:prstGeom>
          <a:noFill/>
        </p:spPr>
        <p:txBody>
          <a:bodyPr wrap="square">
            <a:spAutoFit/>
          </a:bodyPr>
          <a:lstStyle/>
          <a:p>
            <a:pPr algn="l"/>
            <a:r>
              <a:rPr sz="1000" b="1" i="0">
                <a:solidFill>
                  <a:srgbClr val="1A5276"/>
                </a:solidFill>
              </a:rPr>
              <a:t>Short-term</a:t>
            </a:r>
          </a:p>
        </p:txBody>
      </p:sp>
      <p:sp>
        <p:nvSpPr>
          <p:cNvPr id="24" name="TextBox 23"/>
          <p:cNvSpPr txBox="1"/>
          <p:nvPr/>
        </p:nvSpPr>
        <p:spPr>
          <a:xfrm>
            <a:off x="4773168" y="1133856"/>
            <a:ext cx="4023360" cy="219456"/>
          </a:xfrm>
          <a:prstGeom prst="rect">
            <a:avLst/>
          </a:prstGeom>
          <a:noFill/>
        </p:spPr>
        <p:txBody>
          <a:bodyPr wrap="square">
            <a:spAutoFit/>
          </a:bodyPr>
          <a:lstStyle/>
          <a:p>
            <a:pPr algn="l"/>
            <a:r>
              <a:rPr sz="900" b="0" i="0">
                <a:solidFill>
                  <a:srgbClr val="2C3E50"/>
                </a:solidFill>
              </a:rPr>
              <a:t>▶  Map gene indices to HGNC names via TCGA gene manifest</a:t>
            </a:r>
          </a:p>
        </p:txBody>
      </p:sp>
      <p:sp>
        <p:nvSpPr>
          <p:cNvPr id="25" name="TextBox 24"/>
          <p:cNvSpPr txBox="1"/>
          <p:nvPr/>
        </p:nvSpPr>
        <p:spPr>
          <a:xfrm>
            <a:off x="4773168" y="1371600"/>
            <a:ext cx="4023360" cy="219456"/>
          </a:xfrm>
          <a:prstGeom prst="rect">
            <a:avLst/>
          </a:prstGeom>
          <a:noFill/>
        </p:spPr>
        <p:txBody>
          <a:bodyPr wrap="square">
            <a:spAutoFit/>
          </a:bodyPr>
          <a:lstStyle/>
          <a:p>
            <a:pPr algn="l"/>
            <a:r>
              <a:rPr sz="900" b="0" i="0">
                <a:solidFill>
                  <a:srgbClr val="2C3E50"/>
                </a:solidFill>
              </a:rPr>
              <a:t>▶  SHAP or Integrated Gradients for more reliable biomarker ranking</a:t>
            </a:r>
          </a:p>
        </p:txBody>
      </p:sp>
      <p:sp>
        <p:nvSpPr>
          <p:cNvPr id="26" name="TextBox 25"/>
          <p:cNvSpPr txBox="1"/>
          <p:nvPr/>
        </p:nvSpPr>
        <p:spPr>
          <a:xfrm>
            <a:off x="4773168" y="1609344"/>
            <a:ext cx="4023360" cy="219456"/>
          </a:xfrm>
          <a:prstGeom prst="rect">
            <a:avLst/>
          </a:prstGeom>
          <a:noFill/>
        </p:spPr>
        <p:txBody>
          <a:bodyPr wrap="square">
            <a:spAutoFit/>
          </a:bodyPr>
          <a:lstStyle/>
          <a:p>
            <a:pPr algn="l"/>
            <a:r>
              <a:rPr sz="900" b="0" i="0">
                <a:solidFill>
                  <a:srgbClr val="2C3E50"/>
                </a:solidFill>
              </a:rPr>
              <a:t>▶  K-fold cross-validation for more robust accuracy estimate</a:t>
            </a:r>
          </a:p>
        </p:txBody>
      </p:sp>
      <p:sp>
        <p:nvSpPr>
          <p:cNvPr id="27" name="TextBox 26"/>
          <p:cNvSpPr txBox="1"/>
          <p:nvPr/>
        </p:nvSpPr>
        <p:spPr>
          <a:xfrm>
            <a:off x="4663440" y="2011680"/>
            <a:ext cx="4206240" cy="237744"/>
          </a:xfrm>
          <a:prstGeom prst="rect">
            <a:avLst/>
          </a:prstGeom>
          <a:noFill/>
        </p:spPr>
        <p:txBody>
          <a:bodyPr wrap="square">
            <a:spAutoFit/>
          </a:bodyPr>
          <a:lstStyle/>
          <a:p>
            <a:pPr algn="l"/>
            <a:r>
              <a:rPr sz="1000" b="1" i="0">
                <a:solidFill>
                  <a:srgbClr val="1A5276"/>
                </a:solidFill>
              </a:rPr>
              <a:t>Medium-term</a:t>
            </a:r>
          </a:p>
        </p:txBody>
      </p:sp>
      <p:sp>
        <p:nvSpPr>
          <p:cNvPr id="28" name="TextBox 27"/>
          <p:cNvSpPr txBox="1"/>
          <p:nvPr/>
        </p:nvSpPr>
        <p:spPr>
          <a:xfrm>
            <a:off x="4773168" y="2267712"/>
            <a:ext cx="4023360" cy="219456"/>
          </a:xfrm>
          <a:prstGeom prst="rect">
            <a:avLst/>
          </a:prstGeom>
          <a:noFill/>
        </p:spPr>
        <p:txBody>
          <a:bodyPr wrap="square">
            <a:spAutoFit/>
          </a:bodyPr>
          <a:lstStyle/>
          <a:p>
            <a:pPr algn="l"/>
            <a:r>
              <a:rPr sz="900" b="0" i="0">
                <a:solidFill>
                  <a:srgbClr val="2C3E50"/>
                </a:solidFill>
              </a:rPr>
              <a:t>▶  Multi-omic integration: mutation + RNA-Seq + methylation</a:t>
            </a:r>
          </a:p>
        </p:txBody>
      </p:sp>
      <p:sp>
        <p:nvSpPr>
          <p:cNvPr id="29" name="TextBox 28"/>
          <p:cNvSpPr txBox="1"/>
          <p:nvPr/>
        </p:nvSpPr>
        <p:spPr>
          <a:xfrm>
            <a:off x="4773168" y="2505456"/>
            <a:ext cx="4023360" cy="219456"/>
          </a:xfrm>
          <a:prstGeom prst="rect">
            <a:avLst/>
          </a:prstGeom>
          <a:noFill/>
        </p:spPr>
        <p:txBody>
          <a:bodyPr wrap="square">
            <a:spAutoFit/>
          </a:bodyPr>
          <a:lstStyle/>
          <a:p>
            <a:pPr algn="l"/>
            <a:r>
              <a:rPr sz="900" b="0" i="0">
                <a:solidFill>
                  <a:srgbClr val="2C3E50"/>
                </a:solidFill>
              </a:rPr>
              <a:t>▶  Focal Loss for persistent rare-class underperformance</a:t>
            </a:r>
          </a:p>
        </p:txBody>
      </p:sp>
      <p:sp>
        <p:nvSpPr>
          <p:cNvPr id="30" name="TextBox 29"/>
          <p:cNvSpPr txBox="1"/>
          <p:nvPr/>
        </p:nvSpPr>
        <p:spPr>
          <a:xfrm>
            <a:off x="4773168" y="2743200"/>
            <a:ext cx="4023360" cy="219456"/>
          </a:xfrm>
          <a:prstGeom prst="rect">
            <a:avLst/>
          </a:prstGeom>
          <a:noFill/>
        </p:spPr>
        <p:txBody>
          <a:bodyPr wrap="square">
            <a:spAutoFit/>
          </a:bodyPr>
          <a:lstStyle/>
          <a:p>
            <a:pPr algn="l"/>
            <a:r>
              <a:rPr sz="900" b="0" i="0">
                <a:solidFill>
                  <a:srgbClr val="2C3E50"/>
                </a:solidFill>
              </a:rPr>
              <a:t>▶  Transfer learning to other genomics datasets</a:t>
            </a:r>
          </a:p>
        </p:txBody>
      </p:sp>
      <p:sp>
        <p:nvSpPr>
          <p:cNvPr id="31" name="TextBox 30"/>
          <p:cNvSpPr txBox="1"/>
          <p:nvPr/>
        </p:nvSpPr>
        <p:spPr>
          <a:xfrm>
            <a:off x="4663440" y="3145536"/>
            <a:ext cx="4206240" cy="237744"/>
          </a:xfrm>
          <a:prstGeom prst="rect">
            <a:avLst/>
          </a:prstGeom>
          <a:noFill/>
        </p:spPr>
        <p:txBody>
          <a:bodyPr wrap="square">
            <a:spAutoFit/>
          </a:bodyPr>
          <a:lstStyle/>
          <a:p>
            <a:pPr algn="l"/>
            <a:r>
              <a:rPr sz="1000" b="1" i="0">
                <a:solidFill>
                  <a:srgbClr val="1A5276"/>
                </a:solidFill>
              </a:rPr>
              <a:t>Long-term</a:t>
            </a:r>
          </a:p>
        </p:txBody>
      </p:sp>
      <p:sp>
        <p:nvSpPr>
          <p:cNvPr id="32" name="TextBox 31"/>
          <p:cNvSpPr txBox="1"/>
          <p:nvPr/>
        </p:nvSpPr>
        <p:spPr>
          <a:xfrm>
            <a:off x="4773168" y="3401568"/>
            <a:ext cx="4023360" cy="219456"/>
          </a:xfrm>
          <a:prstGeom prst="rect">
            <a:avLst/>
          </a:prstGeom>
          <a:noFill/>
        </p:spPr>
        <p:txBody>
          <a:bodyPr wrap="square">
            <a:spAutoFit/>
          </a:bodyPr>
          <a:lstStyle/>
          <a:p>
            <a:pPr algn="l"/>
            <a:r>
              <a:rPr sz="900" b="0" i="0">
                <a:solidFill>
                  <a:srgbClr val="2C3E50"/>
                </a:solidFill>
              </a:rPr>
              <a:t>▶  Clinical deployment with EHR integration</a:t>
            </a:r>
          </a:p>
        </p:txBody>
      </p:sp>
      <p:sp>
        <p:nvSpPr>
          <p:cNvPr id="33" name="TextBox 32"/>
          <p:cNvSpPr txBox="1"/>
          <p:nvPr/>
        </p:nvSpPr>
        <p:spPr>
          <a:xfrm>
            <a:off x="4773168" y="3639311"/>
            <a:ext cx="4023360" cy="219456"/>
          </a:xfrm>
          <a:prstGeom prst="rect">
            <a:avLst/>
          </a:prstGeom>
          <a:noFill/>
        </p:spPr>
        <p:txBody>
          <a:bodyPr wrap="square">
            <a:spAutoFit/>
          </a:bodyPr>
          <a:lstStyle/>
          <a:p>
            <a:pPr algn="l"/>
            <a:r>
              <a:rPr sz="900" b="0" i="0">
                <a:solidFill>
                  <a:srgbClr val="2C3E50"/>
                </a:solidFill>
              </a:rPr>
              <a:t>▶  Real-time pathology support tool for oncologists</a:t>
            </a:r>
          </a:p>
        </p:txBody>
      </p:sp>
      <p:sp>
        <p:nvSpPr>
          <p:cNvPr id="34" name="TextBox 33"/>
          <p:cNvSpPr txBox="1"/>
          <p:nvPr/>
        </p:nvSpPr>
        <p:spPr>
          <a:xfrm>
            <a:off x="4773168" y="3877055"/>
            <a:ext cx="4023360" cy="219456"/>
          </a:xfrm>
          <a:prstGeom prst="rect">
            <a:avLst/>
          </a:prstGeom>
          <a:noFill/>
        </p:spPr>
        <p:txBody>
          <a:bodyPr wrap="square">
            <a:spAutoFit/>
          </a:bodyPr>
          <a:lstStyle/>
          <a:p>
            <a:pPr algn="l"/>
            <a:r>
              <a:rPr sz="900" b="0" i="0">
                <a:solidFill>
                  <a:srgbClr val="2C3E50"/>
                </a:solidFill>
              </a:rPr>
              <a:t>▶  Extend to survival prediction and drug response modeling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CONCLUSION</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22</a:t>
            </a:r>
          </a:p>
        </p:txBody>
      </p:sp>
      <p:sp>
        <p:nvSpPr>
          <p:cNvPr id="7" name="TextBox 6"/>
          <p:cNvSpPr txBox="1"/>
          <p:nvPr/>
        </p:nvSpPr>
        <p:spPr>
          <a:xfrm>
            <a:off x="274320" y="548640"/>
            <a:ext cx="8595360" cy="256032"/>
          </a:xfrm>
          <a:prstGeom prst="rect">
            <a:avLst/>
          </a:prstGeom>
          <a:noFill/>
        </p:spPr>
        <p:txBody>
          <a:bodyPr wrap="square">
            <a:spAutoFit/>
          </a:bodyPr>
          <a:lstStyle/>
          <a:p>
            <a:pPr algn="ctr"/>
            <a:r>
              <a:rPr sz="1100" b="1" i="0">
                <a:solidFill>
                  <a:srgbClr val="1A5276"/>
                </a:solidFill>
              </a:rPr>
              <a:t>We set out to match Mostavi's cancer classification benchmark — and we solved a problem they could not.</a:t>
            </a:r>
          </a:p>
        </p:txBody>
      </p:sp>
      <p:sp>
        <p:nvSpPr>
          <p:cNvPr id="8" name="Rectangle 7"/>
          <p:cNvSpPr/>
          <p:nvPr/>
        </p:nvSpPr>
        <p:spPr>
          <a:xfrm>
            <a:off x="274320" y="896112"/>
            <a:ext cx="1572768" cy="82296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950976"/>
            <a:ext cx="1572768" cy="457200"/>
          </a:xfrm>
          <a:prstGeom prst="rect">
            <a:avLst/>
          </a:prstGeom>
          <a:noFill/>
        </p:spPr>
        <p:txBody>
          <a:bodyPr wrap="square">
            <a:spAutoFit/>
          </a:bodyPr>
          <a:lstStyle/>
          <a:p>
            <a:pPr algn="ctr"/>
            <a:r>
              <a:rPr sz="2200" b="1" i="0">
                <a:solidFill>
                  <a:srgbClr val="1A5276"/>
                </a:solidFill>
              </a:rPr>
              <a:t>94.33%</a:t>
            </a:r>
          </a:p>
        </p:txBody>
      </p:sp>
      <p:sp>
        <p:nvSpPr>
          <p:cNvPr id="10" name="TextBox 9"/>
          <p:cNvSpPr txBox="1"/>
          <p:nvPr/>
        </p:nvSpPr>
        <p:spPr>
          <a:xfrm>
            <a:off x="274320" y="1408176"/>
            <a:ext cx="1572768" cy="256032"/>
          </a:xfrm>
          <a:prstGeom prst="rect">
            <a:avLst/>
          </a:prstGeom>
          <a:noFill/>
        </p:spPr>
        <p:txBody>
          <a:bodyPr wrap="square">
            <a:spAutoFit/>
          </a:bodyPr>
          <a:lstStyle/>
          <a:p>
            <a:pPr algn="ctr"/>
            <a:r>
              <a:rPr sz="850" b="0" i="0">
                <a:solidFill>
                  <a:srgbClr val="566573"/>
                </a:solidFill>
              </a:rPr>
              <a:t>Test Accuracy</a:t>
            </a:r>
          </a:p>
        </p:txBody>
      </p:sp>
      <p:sp>
        <p:nvSpPr>
          <p:cNvPr id="11" name="Rectangle 10"/>
          <p:cNvSpPr/>
          <p:nvPr/>
        </p:nvSpPr>
        <p:spPr>
          <a:xfrm>
            <a:off x="2011679" y="896112"/>
            <a:ext cx="1572768" cy="82296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11679" y="950976"/>
            <a:ext cx="1572768" cy="457200"/>
          </a:xfrm>
          <a:prstGeom prst="rect">
            <a:avLst/>
          </a:prstGeom>
          <a:noFill/>
        </p:spPr>
        <p:txBody>
          <a:bodyPr wrap="square">
            <a:spAutoFit/>
          </a:bodyPr>
          <a:lstStyle/>
          <a:p>
            <a:pPr algn="ctr"/>
            <a:r>
              <a:rPr sz="2200" b="1" i="0">
                <a:solidFill>
                  <a:srgbClr val="1A5276"/>
                </a:solidFill>
              </a:rPr>
              <a:t>0.9250</a:t>
            </a:r>
          </a:p>
        </p:txBody>
      </p:sp>
      <p:sp>
        <p:nvSpPr>
          <p:cNvPr id="13" name="TextBox 12"/>
          <p:cNvSpPr txBox="1"/>
          <p:nvPr/>
        </p:nvSpPr>
        <p:spPr>
          <a:xfrm>
            <a:off x="2011679" y="1408176"/>
            <a:ext cx="1572768" cy="256032"/>
          </a:xfrm>
          <a:prstGeom prst="rect">
            <a:avLst/>
          </a:prstGeom>
          <a:noFill/>
        </p:spPr>
        <p:txBody>
          <a:bodyPr wrap="square">
            <a:spAutoFit/>
          </a:bodyPr>
          <a:lstStyle/>
          <a:p>
            <a:pPr algn="ctr"/>
            <a:r>
              <a:rPr sz="850" b="0" i="0">
                <a:solidFill>
                  <a:srgbClr val="566573"/>
                </a:solidFill>
              </a:rPr>
              <a:t>Macro F1</a:t>
            </a:r>
          </a:p>
        </p:txBody>
      </p:sp>
      <p:sp>
        <p:nvSpPr>
          <p:cNvPr id="14" name="Rectangle 13"/>
          <p:cNvSpPr/>
          <p:nvPr/>
        </p:nvSpPr>
        <p:spPr>
          <a:xfrm>
            <a:off x="3749039" y="896112"/>
            <a:ext cx="1572768" cy="82296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39" y="950976"/>
            <a:ext cx="1572768" cy="457200"/>
          </a:xfrm>
          <a:prstGeom prst="rect">
            <a:avLst/>
          </a:prstGeom>
          <a:noFill/>
        </p:spPr>
        <p:txBody>
          <a:bodyPr wrap="square">
            <a:spAutoFit/>
          </a:bodyPr>
          <a:lstStyle/>
          <a:p>
            <a:pPr algn="ctr"/>
            <a:r>
              <a:rPr sz="2200" b="1" i="0">
                <a:solidFill>
                  <a:srgbClr val="1A5276"/>
                </a:solidFill>
              </a:rPr>
              <a:t>0.9957</a:t>
            </a:r>
          </a:p>
        </p:txBody>
      </p:sp>
      <p:sp>
        <p:nvSpPr>
          <p:cNvPr id="16" name="TextBox 15"/>
          <p:cNvSpPr txBox="1"/>
          <p:nvPr/>
        </p:nvSpPr>
        <p:spPr>
          <a:xfrm>
            <a:off x="3749039" y="1408176"/>
            <a:ext cx="1572768" cy="256032"/>
          </a:xfrm>
          <a:prstGeom prst="rect">
            <a:avLst/>
          </a:prstGeom>
          <a:noFill/>
        </p:spPr>
        <p:txBody>
          <a:bodyPr wrap="square">
            <a:spAutoFit/>
          </a:bodyPr>
          <a:lstStyle/>
          <a:p>
            <a:pPr algn="ctr"/>
            <a:r>
              <a:rPr sz="850" b="0" i="0">
                <a:solidFill>
                  <a:srgbClr val="566573"/>
                </a:solidFill>
              </a:rPr>
              <a:t>Mean AUC</a:t>
            </a:r>
          </a:p>
        </p:txBody>
      </p:sp>
      <p:sp>
        <p:nvSpPr>
          <p:cNvPr id="17" name="Rectangle 16"/>
          <p:cNvSpPr/>
          <p:nvPr/>
        </p:nvSpPr>
        <p:spPr>
          <a:xfrm>
            <a:off x="5486399" y="896112"/>
            <a:ext cx="1572768" cy="82296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399" y="950976"/>
            <a:ext cx="1572768" cy="457200"/>
          </a:xfrm>
          <a:prstGeom prst="rect">
            <a:avLst/>
          </a:prstGeom>
          <a:noFill/>
        </p:spPr>
        <p:txBody>
          <a:bodyPr wrap="square">
            <a:spAutoFit/>
          </a:bodyPr>
          <a:lstStyle/>
          <a:p>
            <a:pPr algn="ctr"/>
            <a:r>
              <a:rPr sz="2200" b="1" i="0">
                <a:solidFill>
                  <a:srgbClr val="1A5276"/>
                </a:solidFill>
              </a:rPr>
              <a:t>32</a:t>
            </a:r>
          </a:p>
        </p:txBody>
      </p:sp>
      <p:sp>
        <p:nvSpPr>
          <p:cNvPr id="19" name="TextBox 18"/>
          <p:cNvSpPr txBox="1"/>
          <p:nvPr/>
        </p:nvSpPr>
        <p:spPr>
          <a:xfrm>
            <a:off x="5486399" y="1408176"/>
            <a:ext cx="1572768" cy="256032"/>
          </a:xfrm>
          <a:prstGeom prst="rect">
            <a:avLst/>
          </a:prstGeom>
          <a:noFill/>
        </p:spPr>
        <p:txBody>
          <a:bodyPr wrap="square">
            <a:spAutoFit/>
          </a:bodyPr>
          <a:lstStyle/>
          <a:p>
            <a:pPr algn="ctr"/>
            <a:r>
              <a:rPr sz="850" b="0" i="0">
                <a:solidFill>
                  <a:srgbClr val="566573"/>
                </a:solidFill>
              </a:rPr>
              <a:t>Cancer Types</a:t>
            </a:r>
          </a:p>
        </p:txBody>
      </p:sp>
      <p:sp>
        <p:nvSpPr>
          <p:cNvPr id="20" name="Rectangle 19"/>
          <p:cNvSpPr/>
          <p:nvPr/>
        </p:nvSpPr>
        <p:spPr>
          <a:xfrm>
            <a:off x="7223759" y="896112"/>
            <a:ext cx="1572768" cy="82296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23759" y="950976"/>
            <a:ext cx="1572768" cy="457200"/>
          </a:xfrm>
          <a:prstGeom prst="rect">
            <a:avLst/>
          </a:prstGeom>
          <a:noFill/>
        </p:spPr>
        <p:txBody>
          <a:bodyPr wrap="square">
            <a:spAutoFit/>
          </a:bodyPr>
          <a:lstStyle/>
          <a:p>
            <a:pPr algn="ctr"/>
            <a:r>
              <a:rPr sz="2200" b="1" i="0">
                <a:solidFill>
                  <a:srgbClr val="1A5276"/>
                </a:solidFill>
              </a:rPr>
              <a:t>67 min</a:t>
            </a:r>
          </a:p>
        </p:txBody>
      </p:sp>
      <p:sp>
        <p:nvSpPr>
          <p:cNvPr id="22" name="TextBox 21"/>
          <p:cNvSpPr txBox="1"/>
          <p:nvPr/>
        </p:nvSpPr>
        <p:spPr>
          <a:xfrm>
            <a:off x="7223759" y="1408176"/>
            <a:ext cx="1572768" cy="256032"/>
          </a:xfrm>
          <a:prstGeom prst="rect">
            <a:avLst/>
          </a:prstGeom>
          <a:noFill/>
        </p:spPr>
        <p:txBody>
          <a:bodyPr wrap="square">
            <a:spAutoFit/>
          </a:bodyPr>
          <a:lstStyle/>
          <a:p>
            <a:pPr algn="ctr"/>
            <a:r>
              <a:rPr sz="850" b="0" i="0">
                <a:solidFill>
                  <a:srgbClr val="566573"/>
                </a:solidFill>
              </a:rPr>
              <a:t>Total Train Time</a:t>
            </a:r>
          </a:p>
        </p:txBody>
      </p:sp>
      <p:sp>
        <p:nvSpPr>
          <p:cNvPr id="23" name="TextBox 22"/>
          <p:cNvSpPr txBox="1"/>
          <p:nvPr/>
        </p:nvSpPr>
        <p:spPr>
          <a:xfrm>
            <a:off x="274320" y="1883664"/>
            <a:ext cx="4114800" cy="256032"/>
          </a:xfrm>
          <a:prstGeom prst="rect">
            <a:avLst/>
          </a:prstGeom>
          <a:noFill/>
        </p:spPr>
        <p:txBody>
          <a:bodyPr wrap="square">
            <a:spAutoFit/>
          </a:bodyPr>
          <a:lstStyle/>
          <a:p>
            <a:pPr algn="l"/>
            <a:r>
              <a:rPr sz="1050" b="1" i="0">
                <a:solidFill>
                  <a:srgbClr val="1A5276"/>
                </a:solidFill>
              </a:rPr>
              <a:t>What We Built</a:t>
            </a:r>
          </a:p>
        </p:txBody>
      </p:sp>
      <p:sp>
        <p:nvSpPr>
          <p:cNvPr id="24" name="Rectangle 23"/>
          <p:cNvSpPr/>
          <p:nvPr/>
        </p:nvSpPr>
        <p:spPr>
          <a:xfrm>
            <a:off x="274320" y="2139696"/>
            <a:ext cx="411480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2194560"/>
            <a:ext cx="3931920" cy="219456"/>
          </a:xfrm>
          <a:prstGeom prst="rect">
            <a:avLst/>
          </a:prstGeom>
          <a:noFill/>
        </p:spPr>
        <p:txBody>
          <a:bodyPr wrap="square">
            <a:spAutoFit/>
          </a:bodyPr>
          <a:lstStyle/>
          <a:p>
            <a:pPr algn="l"/>
            <a:r>
              <a:rPr sz="900" b="0" i="0">
                <a:solidFill>
                  <a:srgbClr val="1E8449"/>
                </a:solidFill>
              </a:rPr>
              <a:t>✓  SE-attention 1D-CNN ensemble with TTA and temperature calibration</a:t>
            </a:r>
          </a:p>
        </p:txBody>
      </p:sp>
      <p:sp>
        <p:nvSpPr>
          <p:cNvPr id="26" name="TextBox 25"/>
          <p:cNvSpPr txBox="1"/>
          <p:nvPr/>
        </p:nvSpPr>
        <p:spPr>
          <a:xfrm>
            <a:off x="384048" y="2450591"/>
            <a:ext cx="3931920" cy="219456"/>
          </a:xfrm>
          <a:prstGeom prst="rect">
            <a:avLst/>
          </a:prstGeom>
          <a:noFill/>
        </p:spPr>
        <p:txBody>
          <a:bodyPr wrap="square">
            <a:spAutoFit/>
          </a:bodyPr>
          <a:lstStyle/>
          <a:p>
            <a:pPr algn="l"/>
            <a:r>
              <a:rPr sz="900" b="0" i="0">
                <a:solidFill>
                  <a:srgbClr val="1E8449"/>
                </a:solidFill>
              </a:rPr>
              <a:t>✓  Biologically grounded READ/COAD merge — CRC F1 = 0.9924</a:t>
            </a:r>
          </a:p>
        </p:txBody>
      </p:sp>
      <p:sp>
        <p:nvSpPr>
          <p:cNvPr id="27" name="TextBox 26"/>
          <p:cNvSpPr txBox="1"/>
          <p:nvPr/>
        </p:nvSpPr>
        <p:spPr>
          <a:xfrm>
            <a:off x="384048" y="2706624"/>
            <a:ext cx="3931920" cy="219456"/>
          </a:xfrm>
          <a:prstGeom prst="rect">
            <a:avLst/>
          </a:prstGeom>
          <a:noFill/>
        </p:spPr>
        <p:txBody>
          <a:bodyPr wrap="square">
            <a:spAutoFit/>
          </a:bodyPr>
          <a:lstStyle/>
          <a:p>
            <a:pPr algn="l"/>
            <a:r>
              <a:rPr sz="900" b="0" i="0">
                <a:solidFill>
                  <a:srgbClr val="1E8449"/>
                </a:solidFill>
              </a:rPr>
              <a:t>✓  Full reproducible pipeline: fixed seeds, documented hyperparameters</a:t>
            </a:r>
          </a:p>
        </p:txBody>
      </p:sp>
      <p:sp>
        <p:nvSpPr>
          <p:cNvPr id="28" name="TextBox 27"/>
          <p:cNvSpPr txBox="1"/>
          <p:nvPr/>
        </p:nvSpPr>
        <p:spPr>
          <a:xfrm>
            <a:off x="384048" y="2962656"/>
            <a:ext cx="3931920" cy="219456"/>
          </a:xfrm>
          <a:prstGeom prst="rect">
            <a:avLst/>
          </a:prstGeom>
          <a:noFill/>
        </p:spPr>
        <p:txBody>
          <a:bodyPr wrap="square">
            <a:spAutoFit/>
          </a:bodyPr>
          <a:lstStyle/>
          <a:p>
            <a:pPr algn="l"/>
            <a:r>
              <a:rPr sz="900" b="0" i="0">
                <a:solidFill>
                  <a:srgbClr val="1E8449"/>
                </a:solidFill>
              </a:rPr>
              <a:t>✓  Gradient-based gene importance for 32 cancer types</a:t>
            </a:r>
          </a:p>
        </p:txBody>
      </p:sp>
      <p:sp>
        <p:nvSpPr>
          <p:cNvPr id="29" name="TextBox 28"/>
          <p:cNvSpPr txBox="1"/>
          <p:nvPr/>
        </p:nvSpPr>
        <p:spPr>
          <a:xfrm>
            <a:off x="384048" y="3218688"/>
            <a:ext cx="3931920" cy="219456"/>
          </a:xfrm>
          <a:prstGeom prst="rect">
            <a:avLst/>
          </a:prstGeom>
          <a:noFill/>
        </p:spPr>
        <p:txBody>
          <a:bodyPr wrap="square">
            <a:spAutoFit/>
          </a:bodyPr>
          <a:lstStyle/>
          <a:p>
            <a:pPr algn="l"/>
            <a:r>
              <a:rPr sz="900" b="0" i="0">
                <a:solidFill>
                  <a:srgbClr val="1E8449"/>
                </a:solidFill>
              </a:rPr>
              <a:t>✓  Direct Mostavi comparison with identical evaluation protocol</a:t>
            </a:r>
          </a:p>
        </p:txBody>
      </p:sp>
      <p:sp>
        <p:nvSpPr>
          <p:cNvPr id="30" name="TextBox 29"/>
          <p:cNvSpPr txBox="1"/>
          <p:nvPr/>
        </p:nvSpPr>
        <p:spPr>
          <a:xfrm>
            <a:off x="4663440" y="1883664"/>
            <a:ext cx="4206240" cy="256032"/>
          </a:xfrm>
          <a:prstGeom prst="rect">
            <a:avLst/>
          </a:prstGeom>
          <a:noFill/>
        </p:spPr>
        <p:txBody>
          <a:bodyPr wrap="square">
            <a:spAutoFit/>
          </a:bodyPr>
          <a:lstStyle/>
          <a:p>
            <a:pPr algn="l"/>
            <a:r>
              <a:rPr sz="1050" b="1" i="0">
                <a:solidFill>
                  <a:srgbClr val="1A5276"/>
                </a:solidFill>
              </a:rPr>
              <a:t>Broader Impact</a:t>
            </a:r>
          </a:p>
        </p:txBody>
      </p:sp>
      <p:sp>
        <p:nvSpPr>
          <p:cNvPr id="31" name="Rectangle 30"/>
          <p:cNvSpPr/>
          <p:nvPr/>
        </p:nvSpPr>
        <p:spPr>
          <a:xfrm>
            <a:off x="4663440" y="2139696"/>
            <a:ext cx="4206240" cy="9144"/>
          </a:xfrm>
          <a:prstGeom prst="rect">
            <a:avLst/>
          </a:prstGeom>
          <a:solidFill>
            <a:srgbClr val="69B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73168" y="2194560"/>
            <a:ext cx="4023360" cy="274320"/>
          </a:xfrm>
          <a:prstGeom prst="rect">
            <a:avLst/>
          </a:prstGeom>
          <a:noFill/>
        </p:spPr>
        <p:txBody>
          <a:bodyPr wrap="square">
            <a:spAutoFit/>
          </a:bodyPr>
          <a:lstStyle/>
          <a:p>
            <a:pPr algn="l"/>
            <a:r>
              <a:rPr sz="900" b="0" i="0">
                <a:solidFill>
                  <a:srgbClr val="2C3E50"/>
                </a:solidFill>
              </a:rPr>
              <a:t>▶  Proof that interpretable deep learning matches black-box models on clinical data</a:t>
            </a:r>
          </a:p>
        </p:txBody>
      </p:sp>
      <p:sp>
        <p:nvSpPr>
          <p:cNvPr id="33" name="TextBox 32"/>
          <p:cNvSpPr txBox="1"/>
          <p:nvPr/>
        </p:nvSpPr>
        <p:spPr>
          <a:xfrm>
            <a:off x="4773168" y="2542032"/>
            <a:ext cx="4023360" cy="274320"/>
          </a:xfrm>
          <a:prstGeom prst="rect">
            <a:avLst/>
          </a:prstGeom>
          <a:noFill/>
        </p:spPr>
        <p:txBody>
          <a:bodyPr wrap="square">
            <a:spAutoFit/>
          </a:bodyPr>
          <a:lstStyle/>
          <a:p>
            <a:pPr algn="l"/>
            <a:r>
              <a:rPr sz="900" b="0" i="0">
                <a:solidFill>
                  <a:srgbClr val="2C3E50"/>
                </a:solidFill>
              </a:rPr>
              <a:t>▶  READ/COAD finding is a correctable error in the original TCGA class design</a:t>
            </a:r>
          </a:p>
        </p:txBody>
      </p:sp>
      <p:sp>
        <p:nvSpPr>
          <p:cNvPr id="34" name="TextBox 33"/>
          <p:cNvSpPr txBox="1"/>
          <p:nvPr/>
        </p:nvSpPr>
        <p:spPr>
          <a:xfrm>
            <a:off x="4773168" y="2889503"/>
            <a:ext cx="4023360" cy="274320"/>
          </a:xfrm>
          <a:prstGeom prst="rect">
            <a:avLst/>
          </a:prstGeom>
          <a:noFill/>
        </p:spPr>
        <p:txBody>
          <a:bodyPr wrap="square">
            <a:spAutoFit/>
          </a:bodyPr>
          <a:lstStyle/>
          <a:p>
            <a:pPr algn="l"/>
            <a:r>
              <a:rPr sz="900" b="0" i="0">
                <a:solidFill>
                  <a:srgbClr val="2C3E50"/>
                </a:solidFill>
              </a:rPr>
              <a:t>▶  Gene importance scores are a first step toward molecular biomarker discovery</a:t>
            </a:r>
          </a:p>
        </p:txBody>
      </p:sp>
      <p:sp>
        <p:nvSpPr>
          <p:cNvPr id="35" name="TextBox 34"/>
          <p:cNvSpPr txBox="1"/>
          <p:nvPr/>
        </p:nvSpPr>
        <p:spPr>
          <a:xfrm>
            <a:off x="4773168" y="3236975"/>
            <a:ext cx="4023360" cy="274320"/>
          </a:xfrm>
          <a:prstGeom prst="rect">
            <a:avLst/>
          </a:prstGeom>
          <a:noFill/>
        </p:spPr>
        <p:txBody>
          <a:bodyPr wrap="square">
            <a:spAutoFit/>
          </a:bodyPr>
          <a:lstStyle/>
          <a:p>
            <a:pPr algn="l"/>
            <a:r>
              <a:rPr sz="900" b="0" i="0">
                <a:solidFill>
                  <a:srgbClr val="2C3E50"/>
                </a:solidFill>
              </a:rPr>
              <a:t>▶  Full code release means any lab can reproduce and extend this work</a:t>
            </a:r>
          </a:p>
        </p:txBody>
      </p:sp>
      <p:sp>
        <p:nvSpPr>
          <p:cNvPr id="36" name="Rectangle 35"/>
          <p:cNvSpPr/>
          <p:nvPr/>
        </p:nvSpPr>
        <p:spPr>
          <a:xfrm>
            <a:off x="274320" y="4370832"/>
            <a:ext cx="8595360" cy="384048"/>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5760" y="4407408"/>
            <a:ext cx="8412480" cy="292608"/>
          </a:xfrm>
          <a:prstGeom prst="rect">
            <a:avLst/>
          </a:prstGeom>
          <a:noFill/>
        </p:spPr>
        <p:txBody>
          <a:bodyPr wrap="square">
            <a:spAutoFit/>
          </a:bodyPr>
          <a:lstStyle/>
          <a:p>
            <a:pPr algn="ctr"/>
            <a:r>
              <a:rPr sz="1000" b="1" i="0">
                <a:solidFill>
                  <a:srgbClr val="1A5276"/>
                </a:solidFill>
              </a:rPr>
              <a:t>This is not just a classification model — it is a reproducible, interpretable pipeline for precision oncology research.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57200"/>
          </a:xfrm>
          <a:prstGeom prst="rect">
            <a:avLst/>
          </a:prstGeom>
          <a:solidFill>
            <a:srgbClr val="69B3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36576"/>
            <a:ext cx="8046720" cy="420624"/>
          </a:xfrm>
          <a:prstGeom prst="rect">
            <a:avLst/>
          </a:prstGeom>
          <a:noFill/>
        </p:spPr>
        <p:txBody>
          <a:bodyPr wrap="square">
            <a:spAutoFit/>
          </a:bodyPr>
          <a:lstStyle/>
          <a:p>
            <a:pPr algn="l"/>
            <a:r>
              <a:rPr sz="1400" b="1" i="0">
                <a:solidFill>
                  <a:srgbClr val="FFFFFF"/>
                </a:solidFill>
              </a:rPr>
              <a:t>REFERENCES</a:t>
            </a:r>
          </a:p>
        </p:txBody>
      </p:sp>
      <p:sp>
        <p:nvSpPr>
          <p:cNvPr id="4" name="TextBox 3"/>
          <p:cNvSpPr txBox="1"/>
          <p:nvPr/>
        </p:nvSpPr>
        <p:spPr>
          <a:xfrm>
            <a:off x="8321040" y="36576"/>
            <a:ext cx="731520" cy="420624"/>
          </a:xfrm>
          <a:prstGeom prst="rect">
            <a:avLst/>
          </a:prstGeom>
          <a:noFill/>
        </p:spPr>
        <p:txBody>
          <a:bodyPr wrap="square">
            <a:spAutoFit/>
          </a:bodyPr>
          <a:lstStyle/>
          <a:p>
            <a:pPr algn="ctr"/>
            <a:r>
              <a:rPr sz="1600" b="1" i="0">
                <a:solidFill>
                  <a:srgbClr val="FFC72C"/>
                </a:solidFill>
              </a:rPr>
              <a:t>LIU</a:t>
            </a:r>
          </a:p>
        </p:txBody>
      </p:sp>
      <p:sp>
        <p:nvSpPr>
          <p:cNvPr id="5" name="Rectangle 4"/>
          <p:cNvSpPr/>
          <p:nvPr/>
        </p:nvSpPr>
        <p:spPr>
          <a:xfrm>
            <a:off x="0" y="4873752"/>
            <a:ext cx="9144000" cy="274320"/>
          </a:xfrm>
          <a:prstGeom prst="rect">
            <a:avLst/>
          </a:prstGeom>
          <a:solidFill>
            <a:srgbClr val="FFC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0" y="4882896"/>
            <a:ext cx="365760" cy="219456"/>
          </a:xfrm>
          <a:prstGeom prst="rect">
            <a:avLst/>
          </a:prstGeom>
          <a:noFill/>
        </p:spPr>
        <p:txBody>
          <a:bodyPr wrap="square">
            <a:spAutoFit/>
          </a:bodyPr>
          <a:lstStyle/>
          <a:p>
            <a:pPr algn="r"/>
            <a:r>
              <a:rPr sz="900" b="0" i="0">
                <a:solidFill>
                  <a:srgbClr val="1A5276"/>
                </a:solidFill>
              </a:rPr>
              <a:t>23</a:t>
            </a:r>
          </a:p>
        </p:txBody>
      </p:sp>
      <p:sp>
        <p:nvSpPr>
          <p:cNvPr id="7" name="TextBox 6"/>
          <p:cNvSpPr txBox="1"/>
          <p:nvPr/>
        </p:nvSpPr>
        <p:spPr>
          <a:xfrm>
            <a:off x="274320" y="548640"/>
            <a:ext cx="8595360" cy="237744"/>
          </a:xfrm>
          <a:prstGeom prst="rect">
            <a:avLst/>
          </a:prstGeom>
          <a:noFill/>
        </p:spPr>
        <p:txBody>
          <a:bodyPr wrap="square">
            <a:spAutoFit/>
          </a:bodyPr>
          <a:lstStyle/>
          <a:p>
            <a:pPr algn="l"/>
            <a:r>
              <a:rPr sz="850" b="0" i="1">
                <a:solidFill>
                  <a:srgbClr val="566573"/>
                </a:solidFill>
              </a:rPr>
              <a:t>Technical Stack: Python 3.10 | PyTorch 2.11 + CUDA | scikit-learn | NumPy | pandas | matplotlib | h5py</a:t>
            </a:r>
          </a:p>
        </p:txBody>
      </p:sp>
      <p:sp>
        <p:nvSpPr>
          <p:cNvPr id="8" name="TextBox 7"/>
          <p:cNvSpPr txBox="1"/>
          <p:nvPr/>
        </p:nvSpPr>
        <p:spPr>
          <a:xfrm>
            <a:off x="274320" y="859536"/>
            <a:ext cx="8595360" cy="384048"/>
          </a:xfrm>
          <a:prstGeom prst="rect">
            <a:avLst/>
          </a:prstGeom>
          <a:noFill/>
        </p:spPr>
        <p:txBody>
          <a:bodyPr wrap="square">
            <a:spAutoFit/>
          </a:bodyPr>
          <a:lstStyle/>
          <a:p>
            <a:r>
              <a:rPr sz="900" b="0" i="0">
                <a:solidFill>
                  <a:srgbClr val="2C3E50"/>
                </a:solidFill>
              </a:rPr>
              <a:t>[1]  Mostavi, M., Chung, Y., Khalili, M., et al. (2020). Ensembles of Deep LSTM and Convolutional Neural Networks for classifying TCGA cancer types. Computational Biology &amp; Chemistry, Elsevier.</a:t>
            </a:r>
          </a:p>
        </p:txBody>
      </p:sp>
      <p:sp>
        <p:nvSpPr>
          <p:cNvPr id="9" name="TextBox 8"/>
          <p:cNvSpPr txBox="1"/>
          <p:nvPr/>
        </p:nvSpPr>
        <p:spPr>
          <a:xfrm>
            <a:off x="274320" y="1335024"/>
            <a:ext cx="8595360" cy="384048"/>
          </a:xfrm>
          <a:prstGeom prst="rect">
            <a:avLst/>
          </a:prstGeom>
          <a:noFill/>
        </p:spPr>
        <p:txBody>
          <a:bodyPr wrap="square">
            <a:spAutoFit/>
          </a:bodyPr>
          <a:lstStyle/>
          <a:p>
            <a:r>
              <a:rPr sz="900" b="0" i="0">
                <a:solidFill>
                  <a:srgbClr val="2C3E50"/>
                </a:solidFill>
              </a:rPr>
              <a:t>[2]  Ramirez, R., et al. (2020). Classification of Cancer Types Using Graph Convolutional Networks. BMC Bioinformatics.</a:t>
            </a:r>
          </a:p>
        </p:txBody>
      </p:sp>
      <p:sp>
        <p:nvSpPr>
          <p:cNvPr id="10" name="TextBox 9"/>
          <p:cNvSpPr txBox="1"/>
          <p:nvPr/>
        </p:nvSpPr>
        <p:spPr>
          <a:xfrm>
            <a:off x="274320" y="1810512"/>
            <a:ext cx="8595360" cy="384048"/>
          </a:xfrm>
          <a:prstGeom prst="rect">
            <a:avLst/>
          </a:prstGeom>
          <a:noFill/>
        </p:spPr>
        <p:txBody>
          <a:bodyPr wrap="square">
            <a:spAutoFit/>
          </a:bodyPr>
          <a:lstStyle/>
          <a:p>
            <a:r>
              <a:rPr sz="900" b="0" i="0">
                <a:solidFill>
                  <a:srgbClr val="2C3E50"/>
                </a:solidFill>
              </a:rPr>
              <a:t>[3]  The Cancer Genome Atlas Research Network. (2013). The Cancer Genome Atlas Pan-Cancer Analysis Project. Nature Genetics, 45, 1113-1120.</a:t>
            </a:r>
          </a:p>
        </p:txBody>
      </p:sp>
      <p:sp>
        <p:nvSpPr>
          <p:cNvPr id="11" name="TextBox 10"/>
          <p:cNvSpPr txBox="1"/>
          <p:nvPr/>
        </p:nvSpPr>
        <p:spPr>
          <a:xfrm>
            <a:off x="274320" y="2286000"/>
            <a:ext cx="8595360" cy="384048"/>
          </a:xfrm>
          <a:prstGeom prst="rect">
            <a:avLst/>
          </a:prstGeom>
          <a:noFill/>
        </p:spPr>
        <p:txBody>
          <a:bodyPr wrap="square">
            <a:spAutoFit/>
          </a:bodyPr>
          <a:lstStyle/>
          <a:p>
            <a:r>
              <a:rPr sz="900" b="0" i="0">
                <a:solidFill>
                  <a:srgbClr val="2C3E50"/>
                </a:solidFill>
              </a:rPr>
              <a:t>[4]  Hoadley, K.A., et al. (2018). Cell-of-Origin Patterns Dominate the Molecular Classification of 10,000 Tumors from 33 Types of Cancer. Cell, 173(2), 291-304.</a:t>
            </a:r>
          </a:p>
        </p:txBody>
      </p:sp>
      <p:sp>
        <p:nvSpPr>
          <p:cNvPr id="12" name="TextBox 11"/>
          <p:cNvSpPr txBox="1"/>
          <p:nvPr/>
        </p:nvSpPr>
        <p:spPr>
          <a:xfrm>
            <a:off x="274320" y="2761488"/>
            <a:ext cx="8595360" cy="384048"/>
          </a:xfrm>
          <a:prstGeom prst="rect">
            <a:avLst/>
          </a:prstGeom>
          <a:noFill/>
        </p:spPr>
        <p:txBody>
          <a:bodyPr wrap="square">
            <a:spAutoFit/>
          </a:bodyPr>
          <a:lstStyle/>
          <a:p>
            <a:r>
              <a:rPr sz="900" b="0" i="0">
                <a:solidFill>
                  <a:srgbClr val="2C3E50"/>
                </a:solidFill>
              </a:rPr>
              <a:t>[5]  Hu, J., Shen, L., &amp; Sun, G. (2018). Squeeze-and-Excitation Networks. CVPR 2018.</a:t>
            </a:r>
          </a:p>
        </p:txBody>
      </p:sp>
      <p:sp>
        <p:nvSpPr>
          <p:cNvPr id="13" name="TextBox 12"/>
          <p:cNvSpPr txBox="1"/>
          <p:nvPr/>
        </p:nvSpPr>
        <p:spPr>
          <a:xfrm>
            <a:off x="274320" y="3236976"/>
            <a:ext cx="8595360" cy="384048"/>
          </a:xfrm>
          <a:prstGeom prst="rect">
            <a:avLst/>
          </a:prstGeom>
          <a:noFill/>
        </p:spPr>
        <p:txBody>
          <a:bodyPr wrap="square">
            <a:spAutoFit/>
          </a:bodyPr>
          <a:lstStyle/>
          <a:p>
            <a:r>
              <a:rPr sz="900" b="0" i="0">
                <a:solidFill>
                  <a:srgbClr val="2C3E50"/>
                </a:solidFill>
              </a:rPr>
              <a:t>[6]  Zhang, H., et al. (2018). mixup: Beyond Empirical Risk Minimization. ICLR 2018.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C22BE8-CBFC-5277-C05D-5D34EA799EE9}"/>
              </a:ext>
            </a:extLst>
          </p:cNvPr>
          <p:cNvPicPr>
            <a:picLocks noChangeAspect="1"/>
          </p:cNvPicPr>
          <p:nvPr/>
        </p:nvPicPr>
        <p:blipFill>
          <a:blip r:embed="rId2"/>
          <a:stretch>
            <a:fillRect/>
          </a:stretch>
        </p:blipFill>
        <p:spPr>
          <a:xfrm>
            <a:off x="0" y="-1"/>
            <a:ext cx="9144000" cy="514350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TotalTime>
  <Words>3592</Words>
  <Application>Microsoft Office PowerPoint</Application>
  <PresentationFormat>On-screen Show (16:9)</PresentationFormat>
  <Paragraphs>566</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 Expression-Based Cancer Type Classification</dc:title>
  <dc:subject>PptxGenJS Presentation</dc:subject>
  <dc:creator>PptxGenJS</dc:creator>
  <cp:lastModifiedBy>Kalisetti Nihanth Naidu</cp:lastModifiedBy>
  <cp:revision>10</cp:revision>
  <dcterms:created xsi:type="dcterms:W3CDTF">2026-04-03T21:29:33Z</dcterms:created>
  <dcterms:modified xsi:type="dcterms:W3CDTF">2026-04-27T18:26:18Z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5890BC1AD21C1891E7D0CF69348666F2_42</vt:lpwstr>
  </property>
  <property fmtid="{D5CDD505-2E9C-101B-9397-08002B2CF9AE}" pid="3" name="KSOProductBuildVer">
    <vt:lpwstr>1033-12.1.25852.25852</vt:lpwstr>
  </property>
</Properties>
</file>